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46"/>
  </p:sldMasterIdLst>
  <p:notesMasterIdLst>
    <p:notesMasterId r:id="rId70"/>
  </p:notesMasterIdLst>
  <p:handoutMasterIdLst>
    <p:handoutMasterId r:id="rId71"/>
  </p:handoutMasterIdLst>
  <p:sldIdLst>
    <p:sldId id="256" r:id="rId84"/>
    <p:sldId id="257" r:id="rId85"/>
    <p:sldId id="258" r:id="rId86"/>
    <p:sldId id="259" r:id="rId87"/>
    <p:sldId id="260" r:id="rId88"/>
    <p:sldId id="261" r:id="rId89"/>
    <p:sldId id="262" r:id="rId90"/>
    <p:sldId id="263" r:id="rId91"/>
    <p:sldId id="264" r:id="rId92"/>
    <p:sldId id="265" r:id="rId93"/>
    <p:sldId id="266" r:id="rId94"/>
    <p:sldId id="267" r:id="rId95"/>
    <p:sldId id="268" r:id="rId96"/>
    <p:sldId id="269" r:id="rId97"/>
    <p:sldId id="270" r:id="rId98"/>
    <p:sldId id="271" r:id="rId99"/>
    <p:sldId id="272" r:id="rId100"/>
  </p:sldIdLst>
  <p:sldSz cx="12195175" cy="6858000"/>
  <p:notesSz cx="6858000" cy="9144000"/>
  <p:embeddedFontLst>
    <p:embeddedFont>
      <p:font typeface="72 Brand" panose="020B0504030603020204" pitchFamily="34" charset="0"/>
      <p:regular r:id="rId72"/>
      <p:bold r:id="rId73"/>
      <p:italic r:id="rId74"/>
      <p:boldItalic r:id="rId75"/>
    </p:embeddedFont>
    <p:embeddedFont>
      <p:font typeface="72 Brand Medium" panose="020B0504030603020204" pitchFamily="34" charset="0"/>
      <p:regular r:id="rId76"/>
      <p:italic r:id="rId77"/>
    </p:embeddedFont>
  </p:embeddedFontLst>
  <p:custDataLst>
    <p:tags r:id="rId78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72DF73-10A6-5E44-B531-6387EBBDEEC2}" v="15" dt="2026-10-04T13:14:36.351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7"/>
  </p:normalViewPr>
  <p:slideViewPr>
    <p:cSldViewPr snapToGrid="0">
      <p:cViewPr varScale="1">
        <p:scale>
          <a:sx n="115" d="100"/>
          <a:sy n="115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slideMaster" Target="slideMasters/slideMaster1.xml"/><Relationship Id="rId47" Type="http://schemas.openxmlformats.org/officeDocument/2006/relationships/slide" Target="slides/slide1.xml"/><Relationship Id="rId48" Type="http://schemas.openxmlformats.org/officeDocument/2006/relationships/slide" Target="slides/slide2.xml"/><Relationship Id="rId49" Type="http://schemas.openxmlformats.org/officeDocument/2006/relationships/slide" Target="slides/slide3.xml"/><Relationship Id="rId50" Type="http://schemas.openxmlformats.org/officeDocument/2006/relationships/slide" Target="slides/slide4.xml"/><Relationship Id="rId51" Type="http://schemas.openxmlformats.org/officeDocument/2006/relationships/slide" Target="slides/slide5.xml"/><Relationship Id="rId52" Type="http://schemas.openxmlformats.org/officeDocument/2006/relationships/slide" Target="slides/slide6.xml"/><Relationship Id="rId53" Type="http://schemas.openxmlformats.org/officeDocument/2006/relationships/slide" Target="slides/slide7.xml"/><Relationship Id="rId54" Type="http://schemas.openxmlformats.org/officeDocument/2006/relationships/slide" Target="slides/slide8.xml"/><Relationship Id="rId55" Type="http://schemas.openxmlformats.org/officeDocument/2006/relationships/slide" Target="slides/slide9.xml"/><Relationship Id="rId56" Type="http://schemas.openxmlformats.org/officeDocument/2006/relationships/slide" Target="slides/slide10.xml"/><Relationship Id="rId57" Type="http://schemas.openxmlformats.org/officeDocument/2006/relationships/slide" Target="slides/slide11.xml"/><Relationship Id="rId58" Type="http://schemas.openxmlformats.org/officeDocument/2006/relationships/slide" Target="slides/slide12.xml"/><Relationship Id="rId59" Type="http://schemas.openxmlformats.org/officeDocument/2006/relationships/slide" Target="slides/slide13.xml"/><Relationship Id="rId60" Type="http://schemas.openxmlformats.org/officeDocument/2006/relationships/slide" Target="slides/slide14.xml"/><Relationship Id="rId61" Type="http://schemas.openxmlformats.org/officeDocument/2006/relationships/slide" Target="slides/slide15.xml"/><Relationship Id="rId62" Type="http://schemas.openxmlformats.org/officeDocument/2006/relationships/slide" Target="slides/slide16.xml"/><Relationship Id="rId63" Type="http://schemas.openxmlformats.org/officeDocument/2006/relationships/slide" Target="slides/slide17.xml"/><Relationship Id="rId64" Type="http://schemas.openxmlformats.org/officeDocument/2006/relationships/slide" Target="slides/slide18.xml"/><Relationship Id="rId65" Type="http://schemas.openxmlformats.org/officeDocument/2006/relationships/slide" Target="slides/slide19.xml"/><Relationship Id="rId66" Type="http://schemas.openxmlformats.org/officeDocument/2006/relationships/slide" Target="slides/slide20.xml"/><Relationship Id="rId67" Type="http://schemas.openxmlformats.org/officeDocument/2006/relationships/slide" Target="slides/slide21.xml"/><Relationship Id="rId68" Type="http://schemas.openxmlformats.org/officeDocument/2006/relationships/slide" Target="slides/slide22.xml"/><Relationship Id="rId69" Type="http://schemas.openxmlformats.org/officeDocument/2006/relationships/slide" Target="slides/slide23.xml"/><Relationship Id="rId70" Type="http://schemas.openxmlformats.org/officeDocument/2006/relationships/notesMaster" Target="notesMasters/notesMaster1.xml"/><Relationship Id="rId71" Type="http://schemas.openxmlformats.org/officeDocument/2006/relationships/handoutMaster" Target="handoutMasters/handoutMaster1.xml"/><Relationship Id="rId72" Type="http://schemas.openxmlformats.org/officeDocument/2006/relationships/font" Target="fonts/font1.fntdata"/><Relationship Id="rId73" Type="http://schemas.openxmlformats.org/officeDocument/2006/relationships/font" Target="fonts/font2.fntdata"/><Relationship Id="rId74" Type="http://schemas.openxmlformats.org/officeDocument/2006/relationships/font" Target="fonts/font3.fntdata"/><Relationship Id="rId75" Type="http://schemas.openxmlformats.org/officeDocument/2006/relationships/font" Target="fonts/font4.fntdata"/><Relationship Id="rId76" Type="http://schemas.openxmlformats.org/officeDocument/2006/relationships/font" Target="fonts/font5.fntdata"/><Relationship Id="rId77" Type="http://schemas.openxmlformats.org/officeDocument/2006/relationships/font" Target="fonts/font6.fntdata"/><Relationship Id="rId78" Type="http://schemas.openxmlformats.org/officeDocument/2006/relationships/tags" Target="tags/tag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Relationship Id="rId83" Type="http://schemas.microsoft.com/office/2015/10/relationships/revisionInfo" Target="revisionInfo.xml"/><Relationship Id="rId84" Type="http://schemas.openxmlformats.org/officeDocument/2006/relationships/slide" Target="slides/slide1.xml"/><Relationship Id="rId85" Type="http://schemas.openxmlformats.org/officeDocument/2006/relationships/slide" Target="slides/slide2.xml"/><Relationship Id="rId86" Type="http://schemas.openxmlformats.org/officeDocument/2006/relationships/slide" Target="slides/slide3.xml"/><Relationship Id="rId87" Type="http://schemas.openxmlformats.org/officeDocument/2006/relationships/slide" Target="slides/slide4.xml"/><Relationship Id="rId88" Type="http://schemas.openxmlformats.org/officeDocument/2006/relationships/slide" Target="slides/slide5.xml"/><Relationship Id="rId89" Type="http://schemas.openxmlformats.org/officeDocument/2006/relationships/slide" Target="slides/slide6.xml"/><Relationship Id="rId90" Type="http://schemas.openxmlformats.org/officeDocument/2006/relationships/slide" Target="slides/slide7.xml"/><Relationship Id="rId91" Type="http://schemas.openxmlformats.org/officeDocument/2006/relationships/slide" Target="slides/slide8.xml"/><Relationship Id="rId92" Type="http://schemas.openxmlformats.org/officeDocument/2006/relationships/slide" Target="slides/slide9.xml"/><Relationship Id="rId93" Type="http://schemas.openxmlformats.org/officeDocument/2006/relationships/slide" Target="slides/slide10.xml"/><Relationship Id="rId94" Type="http://schemas.openxmlformats.org/officeDocument/2006/relationships/slide" Target="slides/slide11.xml"/><Relationship Id="rId95" Type="http://schemas.openxmlformats.org/officeDocument/2006/relationships/slide" Target="slides/slide12.xml"/><Relationship Id="rId96" Type="http://schemas.openxmlformats.org/officeDocument/2006/relationships/slide" Target="slides/slide13.xml"/><Relationship Id="rId97" Type="http://schemas.openxmlformats.org/officeDocument/2006/relationships/slide" Target="slides/slide14.xml"/><Relationship Id="rId98" Type="http://schemas.openxmlformats.org/officeDocument/2006/relationships/slide" Target="slides/slide15.xml"/><Relationship Id="rId99" Type="http://schemas.openxmlformats.org/officeDocument/2006/relationships/slide" Target="slides/slide16.xml"/><Relationship Id="rId100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DE" sz="1400" b="0" i="0" kern="1200">
                <a:solidFill>
                  <a:schemeClr val="tx1"/>
                </a:solidFill>
                <a:effectLst/>
                <a:latin typeface="72 Brand" panose="020B0504030603020204" pitchFamily="34" charset="0"/>
                <a:ea typeface="+mn-ea"/>
                <a:cs typeface="+mn-cs"/>
              </a:rPr>
              <a:t>Introductions / Getting to know each other</a:t>
            </a:r>
          </a:p>
          <a:p>
            <a:pPr lvl="0" rtl="0"/>
            <a:r>
              <a:rPr lang="en-DE" sz="1400" b="0" i="0" kern="1200">
                <a:solidFill>
                  <a:schemeClr val="tx1"/>
                </a:solidFill>
                <a:effectLst/>
                <a:latin typeface="72 Brand" panose="020B0504030603020204" pitchFamily="34" charset="0"/>
                <a:ea typeface="+mn-ea"/>
                <a:cs typeface="+mn-cs"/>
              </a:rPr>
              <a:t>Review and discussion of the Scope of Work </a:t>
            </a:r>
          </a:p>
          <a:p>
            <a:pPr lvl="0" rtl="0"/>
            <a:r>
              <a:rPr lang="en-DE" sz="1400" b="0" i="0" kern="1200">
                <a:solidFill>
                  <a:schemeClr val="tx1"/>
                </a:solidFill>
                <a:effectLst/>
                <a:latin typeface="72 Brand" panose="020B0504030603020204" pitchFamily="34" charset="0"/>
                <a:ea typeface="+mn-ea"/>
                <a:cs typeface="+mn-cs"/>
              </a:rPr>
              <a:t>Logistics and planning</a:t>
            </a:r>
          </a:p>
          <a:p>
            <a:pPr lvl="0" rtl="0"/>
            <a:r>
              <a:rPr lang="en-DE" sz="1400" b="0" i="0" kern="1200">
                <a:solidFill>
                  <a:schemeClr val="tx1"/>
                </a:solidFill>
                <a:effectLst/>
                <a:latin typeface="72 Brand" panose="020B0504030603020204" pitchFamily="34" charset="0"/>
                <a:ea typeface="+mn-ea"/>
                <a:cs typeface="+mn-cs"/>
              </a:rPr>
              <a:t>Next steps</a:t>
            </a:r>
          </a:p>
          <a:p>
            <a:br>
              <a:rPr lang="en-DE"/>
            </a:br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033845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svg"/><Relationship Id="rId3" Type="http://schemas.openxmlformats.org/officeDocument/2006/relationships/image" Target="../media/image25.svg"/><Relationship Id="rId4" Type="http://schemas.openxmlformats.org/officeDocument/2006/relationships/image" Target="../media/image26.svg"/><Relationship Id="rId5" Type="http://schemas.openxmlformats.org/officeDocument/2006/relationships/image" Target="../media/image27.svg"/><Relationship Id="rId6" Type="http://schemas.openxmlformats.org/officeDocument/2006/relationships/hyperlink" Target="https://brand.sap.com/media-library/index.html#/" TargetMode="External"/><Relationship Id="rId7" Type="http://schemas.openxmlformats.org/officeDocument/2006/relationships/hyperlink" Target="https://brand.sap.com/" TargetMode="External"/><Relationship Id="rId8" Type="http://schemas.openxmlformats.org/officeDocument/2006/relationships/hyperlink" Target="https://brand.sap.com/naming-center#/dashboard" TargetMode="External"/><Relationship Id="rId9" Type="http://schemas.openxmlformats.org/officeDocument/2006/relationships/hyperlink" Target="https://brand.sap.com/writing-assistant" TargetMode="Externa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D082C4-D369-C832-8727-3F10CCB4E3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2" name="Picture 1" descr="ziyoforum">
            <a:extLst>
              <a:ext uri="{FF2B5EF4-FFF2-40B4-BE49-F238E27FC236}">
                <a16:creationId xmlns:a16="http://schemas.microsoft.com/office/drawing/2014/main" id="{F96087CC-6165-5A8B-3AD7-989574FB50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8453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F203A-3E52-AEE2-3650-0317AFA511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8CD67E7D-28D2-0618-82CF-77F2AA17AE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8453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550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ADF32-517C-502F-710E-54260D18F4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6" name="Picture 5" descr="ziyoforum">
            <a:extLst>
              <a:ext uri="{FF2B5EF4-FFF2-40B4-BE49-F238E27FC236}">
                <a16:creationId xmlns:a16="http://schemas.microsoft.com/office/drawing/2014/main" id="{5AE4A155-21C5-C2E1-D672-3FE4D44820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141E9B-5AC5-4628-FAEC-F55693A99B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4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12195175" cy="6858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760B56-4ABA-4EF8-0616-87F27ED015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12" name="Picture 11" descr="ziyoforum">
            <a:extLst>
              <a:ext uri="{FF2B5EF4-FFF2-40B4-BE49-F238E27FC236}">
                <a16:creationId xmlns:a16="http://schemas.microsoft.com/office/drawing/2014/main" id="{D847A302-3C1C-032A-8232-F47C8304EA4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723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F9FE415-941E-2F0A-5140-2D2A984367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12195175" cy="6858001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594F9C-C938-4812-3FA3-813238A776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10" name="Picture 9" descr="ziyoforum">
            <a:extLst>
              <a:ext uri="{FF2B5EF4-FFF2-40B4-BE49-F238E27FC236}">
                <a16:creationId xmlns:a16="http://schemas.microsoft.com/office/drawing/2014/main" id="{7DB9A72F-5AEB-10C7-EB73-75DBFFF72B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751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1C979D-2A98-9CD7-0788-8F58036690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5175" cy="6858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6B85A6-4ED5-6A62-AAD8-3B3B3127B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4632B337-AE4D-9055-432E-E8A2F6F9CB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584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71164333" name="LogoWhite-Dynamic" descr="{&quot;templafy&quot;:{&quot;id&quot;:&quot;6d5d147f-96be-424e-b54a-e907ed10c5df&quot;}}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F9A224-4BD0-163D-FB77-65F0958E49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6" name="Picture 5" descr="ziyoforum">
            <a:extLst>
              <a:ext uri="{FF2B5EF4-FFF2-40B4-BE49-F238E27FC236}">
                <a16:creationId xmlns:a16="http://schemas.microsoft.com/office/drawing/2014/main" id="{DAE9DE36-886D-1A94-5F68-35143AFF0F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8453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414D2-AE7C-E2B1-32CC-9E8BE2CAF6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997723"/>
            <a:ext cx="727954" cy="360443"/>
          </a:xfrm>
          <a:prstGeom prst="rect">
            <a:avLst/>
          </a:prstGeom>
        </p:spPr>
      </p:pic>
      <p:pic>
        <p:nvPicPr>
          <p:cNvPr id="6" name="Picture 5" descr="ziyoforum">
            <a:extLst>
              <a:ext uri="{FF2B5EF4-FFF2-40B4-BE49-F238E27FC236}">
                <a16:creationId xmlns:a16="http://schemas.microsoft.com/office/drawing/2014/main" id="{80B05E25-BF95-1BE5-48D3-7CADC9EFD6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5923649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56078001" name="LogoWhite-Dynamic" descr="{&quot;templafy&quot;:{&quot;id&quot;:&quot;ac503453-961c-454e-a265-acc820b54c40&quot;}}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11186477" cy="4804619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E39415-3339-CFF1-5DF1-D9EC171475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4" name="Picture 3" descr="ziyoforum">
            <a:extLst>
              <a:ext uri="{FF2B5EF4-FFF2-40B4-BE49-F238E27FC236}">
                <a16:creationId xmlns:a16="http://schemas.microsoft.com/office/drawing/2014/main" id="{FA243758-E62C-9E81-0B39-698D14BE12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1" y="1548000"/>
            <a:ext cx="7373174" cy="480517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831E49-735A-253A-C972-BEC506D9F8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6" name="Picture 5" descr="ziyoforum">
            <a:extLst>
              <a:ext uri="{FF2B5EF4-FFF2-40B4-BE49-F238E27FC236}">
                <a16:creationId xmlns:a16="http://schemas.microsoft.com/office/drawing/2014/main" id="{B89F35CE-DF76-51FC-E8B4-786A69DB0A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  <p:sp>
        <p:nvSpPr>
          <p:cNvPr id="9" name="Title">
            <a:extLst>
              <a:ext uri="{FF2B5EF4-FFF2-40B4-BE49-F238E27FC236}">
                <a16:creationId xmlns:a16="http://schemas.microsoft.com/office/drawing/2014/main" id="{F0971226-D850-14F2-0E75-A819890926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737317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01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wrap="square" anchor="t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23A066-213B-4442-1F39-FDD8517D7A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4" name="Picture 3" descr="ziyoforum">
            <a:extLst>
              <a:ext uri="{FF2B5EF4-FFF2-40B4-BE49-F238E27FC236}">
                <a16:creationId xmlns:a16="http://schemas.microsoft.com/office/drawing/2014/main" id="{863EE237-2906-7415-FA1D-DF11528D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7B035-24D7-FFC3-E7F2-E2B0DAADA9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6" name="Picture 5" descr="ziyoforum">
            <a:extLst>
              <a:ext uri="{FF2B5EF4-FFF2-40B4-BE49-F238E27FC236}">
                <a16:creationId xmlns:a16="http://schemas.microsoft.com/office/drawing/2014/main" id="{5D5E4DDD-B444-394B-A74A-A08F0141CB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BFD28A2-2633-D308-E34C-354055061003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Insert page title (sentence case)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3D10B8-77EE-05E1-9280-22C287D1D8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92323C84-FD9E-66DE-BE93-7F82941104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164A4DC-2F3D-FDA4-B8E8-CD1E9FBA50F0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Insert page title (sentence case)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69A8B-36D8-4B93-0559-16B3868AF7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8" name="Picture 7" descr="ziyoforum">
            <a:extLst>
              <a:ext uri="{FF2B5EF4-FFF2-40B4-BE49-F238E27FC236}">
                <a16:creationId xmlns:a16="http://schemas.microsoft.com/office/drawing/2014/main" id="{9310D1C4-4F84-C7EE-E3B4-22BA5987FB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BBBDAF0-B0D5-62CC-CBB5-F1C5792DA9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338AB5-31CD-34E1-2D74-D7834586BD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202665D9-E71A-679F-BABE-634DD063F6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6BACE361-5ABD-0FC1-4A5C-F2B37D797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E1ED9D-2413-39A0-A4DF-E1788AC005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27E8A635-DFDF-787E-E977-FB128F44AF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46468C9B-5961-1EB1-A260-388A84B2021A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Insert page title (sentence case)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0C4327-E4E0-9870-CDC5-568C5C4AD7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EA908214-AD9E-0DB5-3FEB-C9D2B65F0B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8" y="1548000"/>
            <a:ext cx="7371589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9A5571-A37D-2CF5-35A8-7F25A8C266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4" name="Picture 3" descr="ziyoforum">
            <a:extLst>
              <a:ext uri="{FF2B5EF4-FFF2-40B4-BE49-F238E27FC236}">
                <a16:creationId xmlns:a16="http://schemas.microsoft.com/office/drawing/2014/main" id="{3D150E75-8CAC-5826-081F-CDB112956D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7289" y="429926"/>
            <a:ext cx="568298" cy="508590"/>
          </a:xfrm>
          <a:prstGeom prst="rect">
            <a:avLst/>
          </a:prstGeom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BF55C88D-C24F-2DFA-AA47-09D34B3F3DCF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7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21413" y="1557338"/>
            <a:ext cx="5469064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E02A718-B617-AA22-0A33-625E5CE83C06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i="0" kern="1200" baseline="0">
                <a:solidFill>
                  <a:schemeClr val="tx1"/>
                </a:solidFill>
                <a:latin typeface="72 Brand Medium" panose="020B0504030603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Insert page title (sentence case)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2A6E1A-2993-9BEB-E774-DE014D8C51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92F0A703-CCE4-8126-419F-2F0815767E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805175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0B8E9A-599B-4B1A-F3C6-8A42C8FC42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238" y="504000"/>
            <a:ext cx="727954" cy="360443"/>
          </a:xfrm>
          <a:prstGeom prst="rect">
            <a:avLst/>
          </a:prstGeom>
        </p:spPr>
      </p:pic>
      <p:pic>
        <p:nvPicPr>
          <p:cNvPr id="4" name="Picture 3" descr="ziyoforum">
            <a:extLst>
              <a:ext uri="{FF2B5EF4-FFF2-40B4-BE49-F238E27FC236}">
                <a16:creationId xmlns:a16="http://schemas.microsoft.com/office/drawing/2014/main" id="{CB336445-4483-8BA6-08FB-31493F3121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62058" y="429926"/>
            <a:ext cx="568298" cy="50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2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“Add Quote”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/>
              <a:t>Speaker,</a:t>
            </a:r>
          </a:p>
          <a:p>
            <a:pPr lvl="0"/>
            <a:r>
              <a:rPr lang="en-GB"/>
              <a:t>Company, Role</a:t>
            </a:r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43050"/>
            <a:ext cx="5465762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sp>
        <p:nvSpPr>
          <p:cNvPr id="2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565E87ED-3DFA-D2CD-24E2-199538EC4F11}"/>
              </a:ext>
            </a:extLst>
          </p:cNvPr>
          <p:cNvSpPr txBox="1">
            <a:spLocks/>
          </p:cNvSpPr>
          <p:nvPr userDrawn="1"/>
        </p:nvSpPr>
        <p:spPr>
          <a:xfrm>
            <a:off x="504000" y="6145872"/>
            <a:ext cx="6704011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>
                <a:latin typeface="72 Brand" panose="020B0504030603020204" pitchFamily="34" charset="0"/>
                <a:cs typeface="Arial" panose="020B0604020202020204" pitchFamily="34" charset="0"/>
              </a:rPr>
              <a:t>© 2026</a:t>
            </a:r>
            <a:r>
              <a:rPr lang="en-GB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3058E2-0FD2-4A94-AB6C-E3A96C762F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4034375"/>
            <a:ext cx="1250054" cy="618958"/>
          </a:xfrm>
          <a:prstGeom prst="rect">
            <a:avLst/>
          </a:prstGeom>
        </p:spPr>
      </p:pic>
      <p:pic>
        <p:nvPicPr>
          <p:cNvPr id="7" name="Picture 6" descr="ziyoforum">
            <a:extLst>
              <a:ext uri="{FF2B5EF4-FFF2-40B4-BE49-F238E27FC236}">
                <a16:creationId xmlns:a16="http://schemas.microsoft.com/office/drawing/2014/main" id="{4C51BDD9-F201-9E76-ED52-7814B6F39A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93110" y="3907174"/>
            <a:ext cx="975890" cy="87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364293" y="4024430"/>
            <a:ext cx="5466588" cy="998420"/>
          </a:xfrm>
        </p:spPr>
        <p:txBody>
          <a:bodyPr vert="horz" wrap="square" lIns="0" tIns="0" rIns="0" bIns="0" rtlCol="0">
            <a:noAutofit/>
          </a:bodyPr>
          <a:lstStyle>
            <a:lvl1pPr algn="ctr"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5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C0F15E99-C02F-C566-8827-500E6A9C1D4E}"/>
              </a:ext>
            </a:extLst>
          </p:cNvPr>
          <p:cNvSpPr txBox="1">
            <a:spLocks/>
          </p:cNvSpPr>
          <p:nvPr userDrawn="1"/>
        </p:nvSpPr>
        <p:spPr>
          <a:xfrm>
            <a:off x="504000" y="6145872"/>
            <a:ext cx="6704011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>
                <a:latin typeface="72 Brand" panose="020B0504030603020204" pitchFamily="34" charset="0"/>
                <a:cs typeface="Arial" panose="020B0604020202020204" pitchFamily="34" charset="0"/>
              </a:rPr>
              <a:t>© 2026</a:t>
            </a:r>
            <a:r>
              <a:rPr lang="en-GB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FE7165-FCB5-6732-0ADE-F65470B362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4034375"/>
            <a:ext cx="1250054" cy="618958"/>
          </a:xfrm>
          <a:prstGeom prst="rect">
            <a:avLst/>
          </a:prstGeom>
        </p:spPr>
      </p:pic>
      <p:pic>
        <p:nvPicPr>
          <p:cNvPr id="9" name="Picture 8" descr="ziyoforum">
            <a:extLst>
              <a:ext uri="{FF2B5EF4-FFF2-40B4-BE49-F238E27FC236}">
                <a16:creationId xmlns:a16="http://schemas.microsoft.com/office/drawing/2014/main" id="{09862283-903E-AB3B-91D7-7AE2150E0B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715285" y="3907174"/>
            <a:ext cx="975890" cy="87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7173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8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8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5422515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4611087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6"/>
              </a:rPr>
              <a:t>Media Library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4600214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7"/>
              </a:rPr>
              <a:t>Brand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4591589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8"/>
              </a:rPr>
              <a:t>Naming Center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458678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9"/>
              </a:rPr>
              <a:t>Writing </a:t>
            </a:r>
            <a:r>
              <a:rPr lang="en-US" sz="1400" err="1">
                <a:latin typeface="72 Brand" panose="020B0504030603020204" pitchFamily="34" charset="0"/>
                <a:hlinkClick r:id="rId9"/>
              </a:rPr>
              <a:t>Assitant</a:t>
            </a:r>
            <a:endParaRPr lang="en-US" sz="14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Blue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Teal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Green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Mango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Red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Raspberry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Pink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</a:t>
            </a:r>
            <a:r>
              <a:rPr lang="en-GB" sz="2400" err="1">
                <a:latin typeface="72 Brand Medium" panose="020B0604030603020204" pitchFamily="34" charset="0"/>
              </a:rPr>
              <a:t>color</a:t>
            </a:r>
            <a:r>
              <a:rPr lang="en-GB" sz="240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Relationship Id="rId36" Type="http://schemas.openxmlformats.org/officeDocument/2006/relationships/tags" Target="../tags/tag2.xml"/><Relationship Id="rId37" Type="http://schemas.openxmlformats.org/officeDocument/2006/relationships/tags" Target="../tags/tag3.xml"/><Relationship Id="rId38" Type="http://schemas.openxmlformats.org/officeDocument/2006/relationships/tags" Target="../tags/tag4.xml"/><Relationship Id="rId39" Type="http://schemas.openxmlformats.org/officeDocument/2006/relationships/tags" Target="../tags/tag5.xml"/><Relationship Id="rId40" Type="http://schemas.openxmlformats.org/officeDocument/2006/relationships/tags" Target="../tags/tag6.xml"/><Relationship Id="rId41" Type="http://schemas.openxmlformats.org/officeDocument/2006/relationships/tags" Target="../tags/tag7.xml"/><Relationship Id="rId42" Type="http://schemas.openxmlformats.org/officeDocument/2006/relationships/tags" Target="../tags/tag8.xml"/><Relationship Id="rId43" Type="http://schemas.openxmlformats.org/officeDocument/2006/relationships/tags" Target="../tags/tag9.xml"/><Relationship Id="rId44" Type="http://schemas.openxmlformats.org/officeDocument/2006/relationships/tags" Target="../tags/tag10.xml"/><Relationship Id="rId45" Type="http://schemas.openxmlformats.org/officeDocument/2006/relationships/tags" Target="../tags/tag11.xml"/><Relationship Id="rId46" Type="http://schemas.openxmlformats.org/officeDocument/2006/relationships/tags" Target="../tags/tag12.xml"/><Relationship Id="rId47" Type="http://schemas.openxmlformats.org/officeDocument/2006/relationships/tags" Target="../tags/tag13.xml"/><Relationship Id="rId48" Type="http://schemas.openxmlformats.org/officeDocument/2006/relationships/tags" Target="../tags/tag14.xml"/><Relationship Id="rId49" Type="http://schemas.openxmlformats.org/officeDocument/2006/relationships/tags" Target="../tags/tag15.xml"/><Relationship Id="rId50" Type="http://schemas.openxmlformats.org/officeDocument/2006/relationships/tags" Target="../tags/tag16.xml"/><Relationship Id="rId51" Type="http://schemas.openxmlformats.org/officeDocument/2006/relationships/tags" Target="../tags/tag17.xml"/><Relationship Id="rId52" Type="http://schemas.openxmlformats.org/officeDocument/2006/relationships/tags" Target="../tags/tag18.xml"/><Relationship Id="rId53" Type="http://schemas.openxmlformats.org/officeDocument/2006/relationships/tags" Target="../tags/tag19.xml"/><Relationship Id="rId54" Type="http://schemas.openxmlformats.org/officeDocument/2006/relationships/tags" Target="../tags/tag20.xml"/><Relationship Id="rId55" Type="http://schemas.openxmlformats.org/officeDocument/2006/relationships/tags" Target="../tags/tag21.xml"/><Relationship Id="rId56" Type="http://schemas.openxmlformats.org/officeDocument/2006/relationships/tags" Target="../tags/tag22.xml"/><Relationship Id="rId57" Type="http://schemas.openxmlformats.org/officeDocument/2006/relationships/tags" Target="../tags/tag23.xml"/><Relationship Id="rId58" Type="http://schemas.openxmlformats.org/officeDocument/2006/relationships/tags" Target="../tags/tag24.xml"/><Relationship Id="rId59" Type="http://schemas.openxmlformats.org/officeDocument/2006/relationships/tags" Target="../tags/tag25.xml"/><Relationship Id="rId60" Type="http://schemas.openxmlformats.org/officeDocument/2006/relationships/tags" Target="../tags/tag26.xml"/><Relationship Id="rId61" Type="http://schemas.openxmlformats.org/officeDocument/2006/relationships/tags" Target="../tags/tag27.xml"/><Relationship Id="rId62" Type="http://schemas.openxmlformats.org/officeDocument/2006/relationships/tags" Target="../tags/tag28.xml"/><Relationship Id="rId63" Type="http://schemas.openxmlformats.org/officeDocument/2006/relationships/tags" Target="../tags/tag29.xml"/><Relationship Id="rId64" Type="http://schemas.openxmlformats.org/officeDocument/2006/relationships/tags" Target="../tags/tag30.xml"/><Relationship Id="rId65" Type="http://schemas.openxmlformats.org/officeDocument/2006/relationships/tags" Target="../tags/tag31.xml"/><Relationship Id="rId66" Type="http://schemas.openxmlformats.org/officeDocument/2006/relationships/tags" Target="../tags/tag32.xml"/><Relationship Id="rId67" Type="http://schemas.openxmlformats.org/officeDocument/2006/relationships/tags" Target="../tags/tag33.xml"/><Relationship Id="rId68" Type="http://schemas.openxmlformats.org/officeDocument/2006/relationships/tags" Target="../tags/tag34.xml"/><Relationship Id="rId69" Type="http://schemas.openxmlformats.org/officeDocument/2006/relationships/tags" Target="../tags/tag35.xml"/><Relationship Id="rId70" Type="http://schemas.openxmlformats.org/officeDocument/2006/relationships/tags" Target="../tags/tag36.xml"/><Relationship Id="rId71" Type="http://schemas.openxmlformats.org/officeDocument/2006/relationships/tags" Target="../tags/tag37.xml"/><Relationship Id="rId72" Type="http://schemas.openxmlformats.org/officeDocument/2006/relationships/tags" Target="../tags/tag38.xml"/><Relationship Id="rId73" Type="http://schemas.openxmlformats.org/officeDocument/2006/relationships/tags" Target="../tags/tag39.xml"/><Relationship Id="rId74" Type="http://schemas.openxmlformats.org/officeDocument/2006/relationships/tags" Target="../tags/tag40.xml"/><Relationship Id="rId75" Type="http://schemas.openxmlformats.org/officeDocument/2006/relationships/tags" Target="../tags/tag41.xml"/><Relationship Id="rId76" Type="http://schemas.openxmlformats.org/officeDocument/2006/relationships/tags" Target="../tags/tag42.xml"/><Relationship Id="rId77" Type="http://schemas.openxmlformats.org/officeDocument/2006/relationships/tags" Target="../tags/tag43.xml"/><Relationship Id="rId78" Type="http://schemas.openxmlformats.org/officeDocument/2006/relationships/tags" Target="../tags/tag44.xml"/><Relationship Id="rId79" Type="http://schemas.openxmlformats.org/officeDocument/2006/relationships/tags" Target="../tags/tag45.xml"/><Relationship Id="rId80" Type="http://schemas.openxmlformats.org/officeDocument/2006/relationships/tags" Target="../tags/tag46.xml"/><Relationship Id="rId81" Type="http://schemas.openxmlformats.org/officeDocument/2006/relationships/tags" Target="../tags/tag47.xml"/><Relationship Id="rId82" Type="http://schemas.openxmlformats.org/officeDocument/2006/relationships/tags" Target="../tags/tag48.xml"/><Relationship Id="rId83" Type="http://schemas.openxmlformats.org/officeDocument/2006/relationships/tags" Target="../tags/tag49.xml"/><Relationship Id="rId84" Type="http://schemas.openxmlformats.org/officeDocument/2006/relationships/tags" Target="../tags/tag50.xml"/><Relationship Id="rId85" Type="http://schemas.openxmlformats.org/officeDocument/2006/relationships/tags" Target="../tags/tag51.xml"/><Relationship Id="rId86" Type="http://schemas.openxmlformats.org/officeDocument/2006/relationships/tags" Target="../tags/tag52.xml"/><Relationship Id="rId87" Type="http://schemas.openxmlformats.org/officeDocument/2006/relationships/tags" Target="../tags/tag53.xml"/><Relationship Id="rId88" Type="http://schemas.openxmlformats.org/officeDocument/2006/relationships/tags" Target="../tags/tag54.xml"/><Relationship Id="rId89" Type="http://schemas.openxmlformats.org/officeDocument/2006/relationships/tags" Target="../tags/tag55.xml"/><Relationship Id="rId90" Type="http://schemas.openxmlformats.org/officeDocument/2006/relationships/tags" Target="../tags/tag56.xml"/><Relationship Id="rId91" Type="http://schemas.openxmlformats.org/officeDocument/2006/relationships/tags" Target="../tags/tag57.xml"/><Relationship Id="rId92" Type="http://schemas.openxmlformats.org/officeDocument/2006/relationships/tags" Target="../tags/tag58.xml"/><Relationship Id="rId93" Type="http://schemas.openxmlformats.org/officeDocument/2006/relationships/tags" Target="../tags/tag59.xml"/><Relationship Id="rId94" Type="http://schemas.openxmlformats.org/officeDocument/2006/relationships/tags" Target="../tags/tag60.xml"/><Relationship Id="rId95" Type="http://schemas.openxmlformats.org/officeDocument/2006/relationships/tags" Target="../tags/tag61.xml"/><Relationship Id="rId96" Type="http://schemas.openxmlformats.org/officeDocument/2006/relationships/tags" Target="../tags/tag62.xml"/><Relationship Id="rId97" Type="http://schemas.openxmlformats.org/officeDocument/2006/relationships/tags" Target="../tags/tag63.xml"/><Relationship Id="rId98" Type="http://schemas.openxmlformats.org/officeDocument/2006/relationships/tags" Target="../tags/tag64.xml"/><Relationship Id="rId99" Type="http://schemas.openxmlformats.org/officeDocument/2006/relationships/tags" Target="../tags/tag65.xml"/><Relationship Id="rId100" Type="http://schemas.openxmlformats.org/officeDocument/2006/relationships/tags" Target="../tags/tag66.xml"/><Relationship Id="rId101" Type="http://schemas.openxmlformats.org/officeDocument/2006/relationships/tags" Target="../tags/tag67.xml"/><Relationship Id="rId102" Type="http://schemas.openxmlformats.org/officeDocument/2006/relationships/tags" Target="../tags/tag68.xml"/><Relationship Id="rId103" Type="http://schemas.openxmlformats.org/officeDocument/2006/relationships/tags" Target="../tags/tag69.xml"/><Relationship Id="rId104" Type="http://schemas.openxmlformats.org/officeDocument/2006/relationships/tags" Target="../tags/tag70.xml"/><Relationship Id="rId105" Type="http://schemas.openxmlformats.org/officeDocument/2006/relationships/tags" Target="../tags/tag71.xml"/><Relationship Id="rId106" Type="http://schemas.openxmlformats.org/officeDocument/2006/relationships/tags" Target="../tags/tag72.xml"/><Relationship Id="rId107" Type="http://schemas.openxmlformats.org/officeDocument/2006/relationships/tags" Target="../tags/tag73.xml"/><Relationship Id="rId108" Type="http://schemas.openxmlformats.org/officeDocument/2006/relationships/tags" Target="../tags/tag74.xml"/><Relationship Id="rId109" Type="http://schemas.openxmlformats.org/officeDocument/2006/relationships/tags" Target="../tags/tag75.xml"/><Relationship Id="rId110" Type="http://schemas.openxmlformats.org/officeDocument/2006/relationships/tags" Target="../tags/tag76.xml"/><Relationship Id="rId111" Type="http://schemas.openxmlformats.org/officeDocument/2006/relationships/tags" Target="../tags/tag77.xml"/><Relationship Id="rId112" Type="http://schemas.openxmlformats.org/officeDocument/2006/relationships/tags" Target="../tags/tag78.xml"/><Relationship Id="rId113" Type="http://schemas.openxmlformats.org/officeDocument/2006/relationships/tags" Target="../tags/tag79.xml"/><Relationship Id="rId114" Type="http://schemas.openxmlformats.org/officeDocument/2006/relationships/tags" Target="../tags/tag80.xml"/><Relationship Id="rId115" Type="http://schemas.openxmlformats.org/officeDocument/2006/relationships/tags" Target="../tags/tag81.xml"/><Relationship Id="rId116" Type="http://schemas.openxmlformats.org/officeDocument/2006/relationships/tags" Target="../tags/tag82.xml"/><Relationship Id="rId117" Type="http://schemas.openxmlformats.org/officeDocument/2006/relationships/tags" Target="../tags/tag83.xml"/><Relationship Id="rId118" Type="http://schemas.openxmlformats.org/officeDocument/2006/relationships/tags" Target="../tags/tag84.xml"/><Relationship Id="rId119" Type="http://schemas.openxmlformats.org/officeDocument/2006/relationships/tags" Target="../tags/tag85.xml"/><Relationship Id="rId120" Type="http://schemas.openxmlformats.org/officeDocument/2006/relationships/tags" Target="../tags/tag86.xml"/><Relationship Id="rId121" Type="http://schemas.openxmlformats.org/officeDocument/2006/relationships/tags" Target="../tags/tag87.xml"/><Relationship Id="rId122" Type="http://schemas.openxmlformats.org/officeDocument/2006/relationships/tags" Target="../tags/tag88.xml"/><Relationship Id="rId123" Type="http://schemas.openxmlformats.org/officeDocument/2006/relationships/tags" Target="../tags/tag89.xml"/><Relationship Id="rId124" Type="http://schemas.openxmlformats.org/officeDocument/2006/relationships/tags" Target="../tags/tag90.xml"/><Relationship Id="rId125" Type="http://schemas.openxmlformats.org/officeDocument/2006/relationships/tags" Target="../tags/tag91.xml"/><Relationship Id="rId126" Type="http://schemas.openxmlformats.org/officeDocument/2006/relationships/tags" Target="../tags/tag92.xml"/><Relationship Id="rId127" Type="http://schemas.openxmlformats.org/officeDocument/2006/relationships/tags" Target="../tags/tag93.xml"/><Relationship Id="rId128" Type="http://schemas.openxmlformats.org/officeDocument/2006/relationships/tags" Target="../tags/tag94.xml"/><Relationship Id="rId129" Type="http://schemas.openxmlformats.org/officeDocument/2006/relationships/tags" Target="../tags/tag95.xml"/><Relationship Id="rId130" Type="http://schemas.openxmlformats.org/officeDocument/2006/relationships/tags" Target="../tags/tag96.xml"/><Relationship Id="rId131" Type="http://schemas.openxmlformats.org/officeDocument/2006/relationships/tags" Target="../tags/tag97.xml"/><Relationship Id="rId132" Type="http://schemas.openxmlformats.org/officeDocument/2006/relationships/tags" Target="../tags/tag98.xml"/><Relationship Id="rId133" Type="http://schemas.openxmlformats.org/officeDocument/2006/relationships/tags" Target="../tags/tag99.xml"/><Relationship Id="rId134" Type="http://schemas.openxmlformats.org/officeDocument/2006/relationships/tags" Target="../tags/tag100.xml"/><Relationship Id="rId135" Type="http://schemas.openxmlformats.org/officeDocument/2006/relationships/tags" Target="../tags/tag101.xml"/><Relationship Id="rId136" Type="http://schemas.openxmlformats.org/officeDocument/2006/relationships/tags" Target="../tags/tag102.xml"/><Relationship Id="rId137" Type="http://schemas.openxmlformats.org/officeDocument/2006/relationships/tags" Target="../tags/tag103.xml"/><Relationship Id="rId138" Type="http://schemas.openxmlformats.org/officeDocument/2006/relationships/tags" Target="../tags/tag104.xml"/><Relationship Id="rId139" Type="http://schemas.openxmlformats.org/officeDocument/2006/relationships/tags" Target="../tags/tag105.xml"/><Relationship Id="rId140" Type="http://schemas.openxmlformats.org/officeDocument/2006/relationships/tags" Target="../tags/tag106.xml"/><Relationship Id="rId141" Type="http://schemas.openxmlformats.org/officeDocument/2006/relationships/tags" Target="../tags/tag107.xml"/><Relationship Id="rId142" Type="http://schemas.openxmlformats.org/officeDocument/2006/relationships/tags" Target="../tags/tag108.xml"/><Relationship Id="rId143" Type="http://schemas.openxmlformats.org/officeDocument/2006/relationships/tags" Target="../tags/tag109.xml"/><Relationship Id="rId144" Type="http://schemas.openxmlformats.org/officeDocument/2006/relationships/tags" Target="../tags/tag110.xml"/><Relationship Id="rId145" Type="http://schemas.openxmlformats.org/officeDocument/2006/relationships/tags" Target="../tags/tag111.xml"/><Relationship Id="rId146" Type="http://schemas.openxmlformats.org/officeDocument/2006/relationships/tags" Target="../tags/tag112.xml"/><Relationship Id="rId147" Type="http://schemas.openxmlformats.org/officeDocument/2006/relationships/tags" Target="../tags/tag113.xml"/><Relationship Id="rId148" Type="http://schemas.openxmlformats.org/officeDocument/2006/relationships/tags" Target="../tags/tag114.xml"/><Relationship Id="rId149" Type="http://schemas.openxmlformats.org/officeDocument/2006/relationships/tags" Target="../tags/tag115.xml"/><Relationship Id="rId150" Type="http://schemas.openxmlformats.org/officeDocument/2006/relationships/tags" Target="../tags/tag116.xml"/><Relationship Id="rId151" Type="http://schemas.openxmlformats.org/officeDocument/2006/relationships/tags" Target="../tags/tag117.xml"/><Relationship Id="rId152" Type="http://schemas.openxmlformats.org/officeDocument/2006/relationships/tags" Target="../tags/tag118.xml"/><Relationship Id="rId153" Type="http://schemas.openxmlformats.org/officeDocument/2006/relationships/tags" Target="../tags/tag119.xml"/><Relationship Id="rId154" Type="http://schemas.openxmlformats.org/officeDocument/2006/relationships/tags" Target="../tags/tag120.xml"/><Relationship Id="rId155" Type="http://schemas.openxmlformats.org/officeDocument/2006/relationships/tags" Target="../tags/tag121.xml"/><Relationship Id="rId156" Type="http://schemas.openxmlformats.org/officeDocument/2006/relationships/tags" Target="../tags/tag122.xml"/><Relationship Id="rId157" Type="http://schemas.openxmlformats.org/officeDocument/2006/relationships/tags" Target="../tags/tag123.xml"/><Relationship Id="rId158" Type="http://schemas.openxmlformats.org/officeDocument/2006/relationships/tags" Target="../tags/tag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663657"/>
            <a:ext cx="11186476" cy="46895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Start typing to add text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  <a:p>
            <a:pPr lvl="0"/>
            <a:endParaRPr lang="en-US" noProof="0"/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6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7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5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8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9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804D4-CFCB-3760-6825-6437954DC9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203200" y="6563360"/>
            <a:ext cx="2144713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E" sz="600">
                <a:solidFill>
                  <a:srgbClr val="000000">
                    <a:alpha val="50000"/>
                  </a:srgbClr>
                </a:solidFill>
                <a:latin typeface="72 Brand" panose="020B0504030603020204" pitchFamily="34" charset="0"/>
              </a:rPr>
              <a:t>                 INTERNAL ‒ SAP and External Parties under NDA Only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30" r:id="rId2"/>
    <p:sldLayoutId id="2147483780" r:id="rId3"/>
    <p:sldLayoutId id="2147483832" r:id="rId4"/>
    <p:sldLayoutId id="2147483833" r:id="rId5"/>
    <p:sldLayoutId id="2147483835" r:id="rId6"/>
    <p:sldLayoutId id="2147483805" r:id="rId7"/>
    <p:sldLayoutId id="2147483818" r:id="rId8"/>
    <p:sldLayoutId id="2147483788" r:id="rId9"/>
    <p:sldLayoutId id="2147483823" r:id="rId10"/>
    <p:sldLayoutId id="2147483741" r:id="rId11"/>
    <p:sldLayoutId id="2147483813" r:id="rId12"/>
    <p:sldLayoutId id="2147483765" r:id="rId13"/>
    <p:sldLayoutId id="2147483811" r:id="rId14"/>
    <p:sldLayoutId id="2147483767" r:id="rId15"/>
    <p:sldLayoutId id="2147483815" r:id="rId16"/>
    <p:sldLayoutId id="2147483812" r:id="rId17"/>
    <p:sldLayoutId id="2147483774" r:id="rId18"/>
    <p:sldLayoutId id="2147483745" r:id="rId19"/>
    <p:sldLayoutId id="2147483760" r:id="rId20"/>
    <p:sldLayoutId id="2147483768" r:id="rId21"/>
    <p:sldLayoutId id="2147483769" r:id="rId22"/>
    <p:sldLayoutId id="2147483770" r:id="rId23"/>
    <p:sldLayoutId id="2147483757" r:id="rId24"/>
    <p:sldLayoutId id="2147483771" r:id="rId25"/>
    <p:sldLayoutId id="2147483763" r:id="rId26"/>
    <p:sldLayoutId id="2147483751" r:id="rId27"/>
    <p:sldLayoutId id="2147483825" r:id="rId28"/>
    <p:sldLayoutId id="2147483826" r:id="rId29"/>
    <p:sldLayoutId id="2147483740" r:id="rId30"/>
    <p:sldLayoutId id="2147483810" r:id="rId31"/>
    <p:sldLayoutId id="2147483824" r:id="rId32"/>
    <p:sldLayoutId id="2147483829" r:id="rId33"/>
    <p:sldLayoutId id="2147483828" r:id="rId34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3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34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35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Complete</a:t>
            </a:r>
          </a:p>
          <a:p>
            <a:r>
              <a:rPr sz="2600"/>
              <a:t>What We Found &amp; The Plan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70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Stefanie, Anja, Pankaj  ·  SAP Social Sabbatical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445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10 October 2026  ·  Tashkent, Uzbekistan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834" y="1466697"/>
            <a:ext cx="11183112" cy="3200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3834" y="1567281"/>
            <a:ext cx="493776" cy="61264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834" y="1695297"/>
            <a:ext cx="493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194" y="1649577"/>
            <a:ext cx="10543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Week 1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194" y="1905609"/>
            <a:ext cx="10543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What we did, who we spoke to, and what we found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834" y="2463393"/>
            <a:ext cx="493776" cy="61264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3834" y="2591409"/>
            <a:ext cx="493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194" y="2545689"/>
            <a:ext cx="10543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Top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194" y="2801721"/>
            <a:ext cx="10543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Key insights from 6 discovery interviews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834" y="3359505"/>
            <a:ext cx="493776" cy="61264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3834" y="3487521"/>
            <a:ext cx="493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8194" y="3441801"/>
            <a:ext cx="10543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Quick Wins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8194" y="3697833"/>
            <a:ext cx="10543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Urgent actions already identified and assigned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834" y="4255617"/>
            <a:ext cx="493776" cy="61264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834" y="4383633"/>
            <a:ext cx="493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194" y="4337913"/>
            <a:ext cx="10543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The Plan Forward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194" y="4593945"/>
            <a:ext cx="10543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Weeks 2–4: 6 pillars, deliverables, session schedule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834" y="5151729"/>
            <a:ext cx="493776" cy="61264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3834" y="5279745"/>
            <a:ext cx="4937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194" y="5234025"/>
            <a:ext cx="10543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What We Need From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8194" y="5490057"/>
            <a:ext cx="10543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Commitments that make the next 3 weeks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1  ·  Discovery Complete</a:t>
            </a:r>
          </a:p>
          <a:p>
            <a:r>
              <a:rPr sz="1600"/>
              <a:t>6 interviews done  ·  6 summaries delivered  ·  Quick wins assigned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Did in Week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834" y="1466697"/>
            <a:ext cx="11183112" cy="3200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834" y="1512417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6–10 October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834" y="1914753"/>
            <a:ext cx="54864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2706" y="1841601"/>
            <a:ext cx="1104595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6 Discovery Interviews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706" y="2088489"/>
            <a:ext cx="11045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Bobur (CEO)  ·  Sirojiddin (Events)  ·  Azam (IT)  ·  Alim (PR)  ·  Akobir (Media &amp; App)  ·  Aksana (UX Designer)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834" y="2472537"/>
            <a:ext cx="54864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706" y="2399385"/>
            <a:ext cx="1104595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6 Meeting Summaries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" y="2646273"/>
            <a:ext cx="11045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Full branded Word document for every interview — shared with each stakeholder this week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834" y="3030321"/>
            <a:ext cx="54864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706" y="2957169"/>
            <a:ext cx="1104595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Student Survey Drafted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" y="3204057"/>
            <a:ext cx="11045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Uzbek-language 8-question Telegram poll ready for Sirojiddin / Akobir to distribute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834" y="3588105"/>
            <a:ext cx="54864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" y="3514953"/>
            <a:ext cx="1104595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Quick Wins Identified &amp; Assigned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" y="3761841"/>
            <a:ext cx="11045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4 urgent actions: data privacy notice, IP ownership confirmation, design file transfer, survey launch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834" y="4145889"/>
            <a:ext cx="54864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706" y="4072737"/>
            <a:ext cx="1104595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ZEO Cup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" y="4319625"/>
            <a:ext cx="11045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SAP team attended ZEO Cup — observed real student users, validated platform energy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834" y="4703673"/>
            <a:ext cx="54864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" y="4630521"/>
            <a:ext cx="1104595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Delivery Plan Shared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" y="4877409"/>
            <a:ext cx="110459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</a:rPr>
              <a:t>Initial SOW sent to Akobir on Friday 9 Oct as committed at start of engagement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We Spoke 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834" y="1466697"/>
            <a:ext cx="11183112" cy="3200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834" y="1512417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6 stakeholders across all departments  ·  Discovery interviews totalling 3–8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834" y="1841601"/>
            <a:ext cx="1645920" cy="6949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698" y="1878177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Stakeholder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9754" y="1841601"/>
            <a:ext cx="2286000" cy="6949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4618" y="1878177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5754" y="1841601"/>
            <a:ext cx="7251192" cy="6949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878177"/>
            <a:ext cx="7141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Finding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834" y="2536545"/>
            <a:ext cx="16459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698" y="2573121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Bobur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9754" y="2536545"/>
            <a:ext cx="2286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04618" y="2573121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Founder &amp; CEO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5754" y="2536545"/>
            <a:ext cx="725119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0618" y="2573121"/>
            <a:ext cx="7141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App stuck in demo state; no single agreed vision; team stretched; no dedicated product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834" y="3231489"/>
            <a:ext cx="1645920" cy="6949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8698" y="3268065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Sirojiddin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9754" y="3231489"/>
            <a:ext cx="2286000" cy="6949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04618" y="3268065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Head of Events / Youth Centre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5754" y="3231489"/>
            <a:ext cx="7251192" cy="6949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0618" y="3268065"/>
            <a:ext cx="7141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8 staff, 1,000+ volunteers; events not connected to app; QR check-in not used; no shared workflow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834" y="3926433"/>
            <a:ext cx="16459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698" y="3963009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Azam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9754" y="3926433"/>
            <a:ext cx="2286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04618" y="3963009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Head of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5754" y="3926433"/>
            <a:ext cx="725119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0618" y="3963009"/>
            <a:ext cx="7141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Data loss incident; no SLA with outsource dev; IP ownership unconfirmed; no documentation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3834" y="4621377"/>
            <a:ext cx="1645920" cy="6949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" y="4657953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Alim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9754" y="4621377"/>
            <a:ext cx="2286000" cy="6949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04618" y="4657953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Head of PR &amp; Partnerships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5754" y="4621377"/>
            <a:ext cx="7251192" cy="6949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0618" y="4657953"/>
            <a:ext cx="7141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University relationships exist but no model; clear path to subscription and employer revenue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3834" y="5316321"/>
            <a:ext cx="164592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8698" y="5352897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Akobir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9754" y="5316321"/>
            <a:ext cx="2286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04618" y="5352897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Head of Media &amp; App Lead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35754" y="5316321"/>
            <a:ext cx="725119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90618" y="5352897"/>
            <a:ext cx="7141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App is events + media; no data privacy notice; no analytics; events / media teams siloed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3834" y="6011265"/>
            <a:ext cx="1645920" cy="6949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8698" y="6047841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Aksana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49754" y="6011265"/>
            <a:ext cx="2286000" cy="6949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04618" y="6047841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UX Designer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5754" y="6011265"/>
            <a:ext cx="7251192" cy="6949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90618" y="6047841"/>
            <a:ext cx="7141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Never designed app UI — only banners; all UI source files locked with Azam; 1 year since last UI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Found — Top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834" y="1466697"/>
            <a:ext cx="11183112" cy="3200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834" y="1512417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Synthesised across all 6 interviews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834" y="1896465"/>
            <a:ext cx="54864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1850" y="1841601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No data privacy / consent notice in the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1850" y="2070201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Users register without informed consent. Legal risk that must be fixed immediately.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834" y="2499969"/>
            <a:ext cx="54864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" y="2445105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No SLA with outsource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" y="2673705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Any bug or feature could take any amount of time. No QA. IP ownership unconfirmed.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834" y="3103473"/>
            <a:ext cx="54864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" y="3048609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No agreed product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" y="3277209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Bobur, Azam, Akobir, and Aksana describe different apps. No written vision statement.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834" y="3706977"/>
            <a:ext cx="54864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" y="3652113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Events and media teams are siloed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" y="3880713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Content is not coordinated. Users see stale or incomplete event information.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7122" y="1896465"/>
            <a:ext cx="54864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5138" y="1841601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No dedicated product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5138" y="2070201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Akobir runs media AND product. No single person accountable for the app as a product.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7122" y="2499969"/>
            <a:ext cx="54864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5138" y="2445105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UX designer never designed the app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5138" y="2673705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Aksana designed banners only. App UI was outsourced. All source files are locked with Azam.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7122" y="3103473"/>
            <a:ext cx="54864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5138" y="3048609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Strong raw potential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5138" y="3277209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7,000+ registered users, 1,000+ volunteers, genuine energy around ZEO Cup.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7122" y="3706977"/>
            <a:ext cx="54864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5138" y="3652113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</a:rPr>
              <a:t>Untapped partnership 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5138" y="3880713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Alim has university relationships with no monetisation model. Clear near-term opportunity.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1402" y="1841601"/>
            <a:ext cx="18288" cy="4846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Wins — Urgent Actions Already Assigned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834" y="1466697"/>
            <a:ext cx="11183112" cy="3200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834" y="1512417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All identified in Week 1 — cannot wait for the main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834" y="1841601"/>
            <a:ext cx="5120640" cy="6309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698" y="1878177"/>
            <a:ext cx="5010912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24474" y="1841601"/>
            <a:ext cx="1965960" cy="6309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79338" y="1878177"/>
            <a:ext cx="1856231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590434" y="1841601"/>
            <a:ext cx="1508760" cy="6309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45298" y="1878177"/>
            <a:ext cx="1399031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Deadline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9194" y="1841601"/>
            <a:ext cx="2587752" cy="63093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4058" y="1878177"/>
            <a:ext cx="2478024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" y="2472537"/>
            <a:ext cx="512064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698" y="2509113"/>
            <a:ext cx="5010912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Add data privacy / consent notice to app registration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4474" y="2472537"/>
            <a:ext cx="196596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79338" y="2509113"/>
            <a:ext cx="1856231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Akobir + Azam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90434" y="2472537"/>
            <a:ext cx="150876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45298" y="2509113"/>
            <a:ext cx="1399031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This week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9194" y="2472537"/>
            <a:ext cx="2587752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4058" y="2509113"/>
            <a:ext cx="2478024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In progress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834" y="3103473"/>
            <a:ext cx="5120640" cy="6309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8698" y="3140049"/>
            <a:ext cx="5010912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Confirm IP / source code ownership with tech partner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4474" y="3103473"/>
            <a:ext cx="1965960" cy="6309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79338" y="3140049"/>
            <a:ext cx="1856231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Akobir + Azam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90434" y="3103473"/>
            <a:ext cx="1508760" cy="6309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45298" y="3140049"/>
            <a:ext cx="1399031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This week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9194" y="3103473"/>
            <a:ext cx="2587752" cy="6309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4058" y="3140049"/>
            <a:ext cx="2478024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In progress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3834" y="3734409"/>
            <a:ext cx="512064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" y="3770985"/>
            <a:ext cx="5010912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Transfer ZEO app UI source files from Azam to Aksana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4474" y="3734409"/>
            <a:ext cx="196596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79338" y="3770985"/>
            <a:ext cx="1856231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Azam + Aksana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90434" y="3734409"/>
            <a:ext cx="150876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45298" y="3770985"/>
            <a:ext cx="1399031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This week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9194" y="3734409"/>
            <a:ext cx="2587752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54058" y="3770985"/>
            <a:ext cx="2478024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In progress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3834" y="4365345"/>
            <a:ext cx="5120640" cy="6309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8698" y="4401921"/>
            <a:ext cx="5010912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Launch student survey via Telegram channel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4474" y="4365345"/>
            <a:ext cx="1965960" cy="6309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79338" y="4401921"/>
            <a:ext cx="1856231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Sirojiddin / Akobir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90434" y="4365345"/>
            <a:ext cx="1508760" cy="6309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45298" y="4401921"/>
            <a:ext cx="1399031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This week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9194" y="4365345"/>
            <a:ext cx="2587752" cy="6309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4058" y="4401921"/>
            <a:ext cx="2478024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In progress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3834" y="4996281"/>
            <a:ext cx="512064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8698" y="5032857"/>
            <a:ext cx="5010912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Designate dedicated Product Owner (interim: Akobir)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24474" y="4996281"/>
            <a:ext cx="196596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79338" y="5032857"/>
            <a:ext cx="1856231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Bobur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90434" y="4996281"/>
            <a:ext cx="150876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45298" y="5032857"/>
            <a:ext cx="1399031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9194" y="4996281"/>
            <a:ext cx="2587752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54058" y="5032857"/>
            <a:ext cx="2478024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To confirm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3834" y="5627217"/>
            <a:ext cx="5120640" cy="6309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8698" y="5663793"/>
            <a:ext cx="5010912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Events calendar to media team 2 weeks in advance (ongoing)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24474" y="5627217"/>
            <a:ext cx="1965960" cy="6309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79338" y="5663793"/>
            <a:ext cx="1856231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Sirojiddin + Akobir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90434" y="5627217"/>
            <a:ext cx="1508760" cy="6309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45298" y="5663793"/>
            <a:ext cx="1399031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Ongoing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99194" y="5627217"/>
            <a:ext cx="2587752" cy="6309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54058" y="5663793"/>
            <a:ext cx="2478024" cy="57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To start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in Pictures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834" y="1466697"/>
            <a:ext cx="11183112" cy="3200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3834" y="1567281"/>
            <a:ext cx="5394960" cy="24048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3834" y="3661257"/>
            <a:ext cx="539496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5274" y="369783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</a:rPr>
              <a:t>Working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2842" y="1567281"/>
            <a:ext cx="5394960" cy="24048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2842" y="3661257"/>
            <a:ext cx="539496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4282" y="369783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</a:rPr>
              <a:t>Whiteboard / Miro 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3834" y="4081881"/>
            <a:ext cx="5394960" cy="24048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3834" y="6175857"/>
            <a:ext cx="539496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5274" y="621243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</a:rPr>
              <a:t>Team Moments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2842" y="4081881"/>
            <a:ext cx="5394960" cy="24048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2842" y="6175857"/>
            <a:ext cx="5394960" cy="31089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4282" y="621243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</a:rPr>
              <a:t>ZEO Cup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" y="6642201"/>
            <a:ext cx="11183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Add photos before sharing — drag and drop your own images into the grey boxes above.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Plan Forward</a:t>
            </a:r>
          </a:p>
          <a:p>
            <a:r>
              <a:rPr sz="1800"/>
              <a:t>Weeks 2–4  ·  13–31 October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Ziyo Forum's 6 Expectations — Our Organising Principle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834" y="1466697"/>
            <a:ext cx="11183112" cy="3200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834" y="1512417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Every deliverable, session, and recommendation maps to one of these 6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834" y="1905609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B00"/>
                </a:solidFill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194" y="187817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Growth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194" y="2152497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Attract, activate, and retain young users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1960473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Week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834" y="2554833"/>
            <a:ext cx="1118311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834" y="2664561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B00"/>
                </a:solidFill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194" y="263712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Product &amp; 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194" y="2911449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Identify and rank the most important product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271942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Week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834" y="3313785"/>
            <a:ext cx="1118311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" y="3423513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B00"/>
                </a:solidFill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8194" y="339608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Partner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194" y="3670401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Scalable approach to universities, employers, and NGOs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3478377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Week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" y="4072737"/>
            <a:ext cx="1118311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" y="4182465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B00"/>
                </a:solidFill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8194" y="4155033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Analytics &amp; KPIs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194" y="4429353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The 8 metrics that tell Ziyo Forum if it is growing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423732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Week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3834" y="4831689"/>
            <a:ext cx="1118311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3834" y="4941417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B00"/>
                </a:solidFill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8194" y="4913985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Operating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8194" y="5188305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How the team runs the app after SAP leaves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499628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Week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3834" y="5590641"/>
            <a:ext cx="1118311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3834" y="5700369"/>
            <a:ext cx="493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B00"/>
                </a:solidFill>
              </a:rPr>
              <a:t>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8194" y="567293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</a:rPr>
              <a:t>3-Year Roadmap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8194" y="5947257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NOW / NEXT / LATER milestones with ownership and dependencies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5755233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Week 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3834" y="6349593"/>
            <a:ext cx="11183112" cy="91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  ·  13–17 October  ·  Growth Strategy + Product &amp; UX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834" y="1466697"/>
            <a:ext cx="11183112" cy="3200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834" y="1512417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From listening to making — workshops and working sessions with tech and design leads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834" y="1841601"/>
            <a:ext cx="54543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</a:rPr>
              <a:t>① Growth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834" y="2097633"/>
            <a:ext cx="5454396" cy="2743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32550" y="1841601"/>
            <a:ext cx="54543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</a:rPr>
              <a:t>② Product &amp; UX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2550" y="2097633"/>
            <a:ext cx="5454396" cy="2743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3834" y="2179929"/>
            <a:ext cx="54543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Analyse student survey results — motivation gaps, channel preferences, barriers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</a:rPr>
              <a:t>• Map registration → event → return visit funnel; identify largest drop-off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</a:rPr>
              <a:t>• Assess Zeocoin gamification — meaningful reward? Right cadence?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</a:rPr>
              <a:t>• Identify 2 highest-ROI acquisition channels given team capacity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</a:rPr>
              <a:t>• Map Ministry of Education merger opportunity (1M+ school-age students)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</a:rPr>
              <a:t>• Working session with Alim — draft university subscription value proposition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2550" y="2179929"/>
            <a:ext cx="54543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Session with Aksana — homepage redesign, referencing OneFit + SAP examples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</a:rPr>
              <a:t>• Map registration &amp; onboarding flow; identify highest-friction moment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</a:rPr>
              <a:t>• Redesign event discovery &amp; RSVP — most-cited user complaint (Sirojiddin)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</a:rPr>
              <a:t>• Define content feed minimum — what appears, in what order, how fresh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</a:rPr>
              <a:t>• Review Zeocoin UX — is earning visible and motivating?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</a:rPr>
              <a:t>• Feature priority matrix: 2×2 impact vs. effort — top-right = roadmap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834" y="5687568"/>
            <a:ext cx="11183112" cy="9326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562" y="5733288"/>
            <a:ext cx="10963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</a:rPr>
              <a:t>Week 2 Mandatory Sessions: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562" y="5980176"/>
            <a:ext cx="10963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SAP Masterclass (all staff · 1.5–2 hrs)   ·   Vision Workshop (CEO + all dept heads · 2 hrs)   ·   Growth Strategy Working Session   ·   Product &amp; UX Session with Aksana   ·   Informal team gathering (Friday evening)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390" y="1841601"/>
            <a:ext cx="18288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  ·  20–24 October  ·  Partner Strategy + Analytics + Operating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834" y="1466697"/>
            <a:ext cx="11183112" cy="3200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834" y="1512417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Building the infrastructure Ziyo Forum needs to grow sustainably after this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834" y="1841601"/>
            <a:ext cx="3605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③ Partner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834" y="2088489"/>
            <a:ext cx="3605479" cy="2743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3834" y="2170785"/>
            <a:ext cx="36054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Partner type matrix: universities, employers, NGOs, cultural institutions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</a:rPr>
              <a:t>• University subscription model with sample pricing tiers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</a:rPr>
              <a:t>• Employer partnership template — job listings + Zeocoin sponsorship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</a:rPr>
              <a:t>• NGO content partnership — listings in exchange for supply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000000"/>
                </a:solidFill>
              </a:rPr>
              <a:t/>
            </a:r>
          </a:p>
          <a:p>
            <a:pPr algn="l"/>
            <a:r>
              <a:rPr sz="950" b="1">
                <a:solidFill>
                  <a:srgbClr val="555555"/>
                </a:solidFill>
              </a:rPr>
              <a:t>Deliverable: partner framework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193" y="1841601"/>
            <a:ext cx="3605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④ Analytics &amp; KPIs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193" y="2088489"/>
            <a:ext cx="3605479" cy="2743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2193" y="2170785"/>
            <a:ext cx="36054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Define the 8 metrics Ziyo Forum needs to track growth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</a:rPr>
              <a:t>• Map data source for each (app, app store, Trello, manual count)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</a:rPr>
              <a:t>• Build Excel dashboard pre-filled with current knowns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</a:rPr>
              <a:t>• Workshop: agree definitions, targets, and review cadence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000000"/>
                </a:solidFill>
              </a:rPr>
              <a:t/>
            </a:r>
          </a:p>
          <a:p>
            <a:pPr algn="l"/>
            <a:r>
              <a:rPr sz="950" b="1">
                <a:solidFill>
                  <a:srgbClr val="555555"/>
                </a:solidFill>
              </a:rPr>
              <a:t>Deliverable: KPI framework + Excel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0552" y="1841601"/>
            <a:ext cx="3605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⑤ Operating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0552" y="2088489"/>
            <a:ext cx="3605479" cy="2743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0552" y="2170785"/>
            <a:ext cx="36054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Core team org chart: Product Owner, Designer, Tech Liaison, Content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</a:rPr>
              <a:t>• Weekly rhythm: Mon–Fri 15-min meeting cadence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</a:rPr>
              <a:t>• Feature request + bug fix: 7-step process from Trello to release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1A1A1A"/>
                </a:solidFill>
              </a:rPr>
              <a:t>• Tech partner SLA: P1=48hr · P2=1wk · P3=next sprint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000000"/>
                </a:solidFill>
              </a:rPr>
              <a:t/>
            </a:r>
          </a:p>
          <a:p>
            <a:pPr algn="l"/>
            <a:r>
              <a:rPr sz="950" b="1">
                <a:solidFill>
                  <a:srgbClr val="555555"/>
                </a:solidFill>
              </a:rPr>
              <a:t>Deliverable: process playbook (Word, printable)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6473" y="1841601"/>
            <a:ext cx="18288" cy="4663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4832" y="1841601"/>
            <a:ext cx="18288" cy="4663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 ·  27–31 October  ·  3-Year Roadmap + Final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834" y="1466697"/>
            <a:ext cx="11183112" cy="3200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834" y="1512417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Translating everything into one coherent plan — presented to the full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834" y="1841601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</a:rPr>
              <a:t>⑥ 3-Year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834" y="2097633"/>
            <a:ext cx="5486400" cy="2743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0546" y="1841601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</a:rPr>
              <a:t>Final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546" y="2097633"/>
            <a:ext cx="5486400" cy="2743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3834" y="2170785"/>
            <a:ext cx="1097280" cy="868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698" y="2207361"/>
            <a:ext cx="9875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1114" y="2170785"/>
            <a:ext cx="1645920" cy="868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55978" y="2207361"/>
            <a:ext cx="153619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Period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7034" y="2170785"/>
            <a:ext cx="2743200" cy="868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01898" y="2207361"/>
            <a:ext cx="263347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Theme &amp; Key Milestones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834" y="3039465"/>
            <a:ext cx="10972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698" y="3076041"/>
            <a:ext cx="9875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NOW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1114" y="3039465"/>
            <a:ext cx="16459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55978" y="3076041"/>
            <a:ext cx="153619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Oct–Dec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7034" y="3039465"/>
            <a:ext cx="27432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01898" y="3076041"/>
            <a:ext cx="263347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Stabilise the foundation
Data privacy live  ·  IP confirmed  ·  Op model running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834" y="3908145"/>
            <a:ext cx="109728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8698" y="3944721"/>
            <a:ext cx="9875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NEXT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1114" y="3908145"/>
            <a:ext cx="164592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55978" y="3944721"/>
            <a:ext cx="153619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Q1–Q2 2027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7034" y="3908145"/>
            <a:ext cx="2743200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01898" y="3944721"/>
            <a:ext cx="263347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Build the product that retains users
Homepage redesigned  ·  Event RSVP flow live  ·  3 university partners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3834" y="4776825"/>
            <a:ext cx="10972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698" y="4813401"/>
            <a:ext cx="98755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LATER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01114" y="4776825"/>
            <a:ext cx="16459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55978" y="4813401"/>
            <a:ext cx="153619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H2 2027–2028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7034" y="4776825"/>
            <a:ext cx="27432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01898" y="4813401"/>
            <a:ext cx="2633472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Scale with data and partnerships
5+ universities  ·  Employer pipeline  ·  Revenue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0546" y="2170785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Format: 2 hours — Bobur + full Ziyo Forum team, Thursday or Friday Week 4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1A1A1A"/>
                </a:solidFill>
              </a:rPr>
              <a:t>• Structure: Findings (30 min) → Growth (15) → Product (15) → Partners (15) → Analytics (10) → Op Model (10) → Roadmap (10) → Q&amp;A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1A1A1A"/>
                </a:solidFill>
              </a:rPr>
              <a:t>• Leave-behind: printed summary card + USB with all 14 deliverable documents</a:t>
            </a:r>
          </a:p>
          <a:p>
            <a:pPr algn="l">
              <a:spcAft>
                <a:spcPts val="700"/>
              </a:spcAft>
            </a:pPr>
            <a:r>
              <a:rPr sz="1050" b="0">
                <a:solidFill>
                  <a:srgbClr val="1A1A1A"/>
                </a:solidFill>
              </a:rPr>
              <a:t>• First sprint can start 27 Oct if Operating Model is agreed in Week 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0818" y="1841601"/>
            <a:ext cx="18288" cy="4663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Will Receive — 14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834" y="1466697"/>
            <a:ext cx="11183112" cy="3200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834" y="1512417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All documents and sessions mapped to Ziyo Forum's 6 expectations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834" y="1841601"/>
            <a:ext cx="347472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698" y="1878177"/>
            <a:ext cx="3364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Deliverable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8554" y="1841601"/>
            <a:ext cx="82296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3418" y="1878177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Pillar(s)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1514" y="1841601"/>
            <a:ext cx="128016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56378" y="1878177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834" y="2225649"/>
            <a:ext cx="3474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698" y="2262225"/>
            <a:ext cx="3364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6 × Discovery Interview Summaries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8554" y="2225649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3418" y="2262225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1514" y="2225649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56378" y="2262225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1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834" y="2609697"/>
            <a:ext cx="34747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8698" y="2646273"/>
            <a:ext cx="3364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Student Survey (Uzbek · Telegram)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8554" y="2609697"/>
            <a:ext cx="8229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33418" y="2646273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① 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1514" y="2609697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6378" y="2646273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1 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834" y="2993745"/>
            <a:ext cx="3474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698" y="3030321"/>
            <a:ext cx="3364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This SOW Document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8554" y="2993745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33418" y="3030321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1514" y="2993745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56378" y="3030321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1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3834" y="3377793"/>
            <a:ext cx="34747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" y="3414369"/>
            <a:ext cx="3364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SAP Masterclass Deck + Session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8554" y="3377793"/>
            <a:ext cx="8229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3418" y="3414369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1514" y="3377793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56378" y="3414369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3834" y="3761841"/>
            <a:ext cx="3474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8698" y="3798417"/>
            <a:ext cx="3364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Vision Workshop Output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8554" y="3761841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33418" y="3798417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① 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1514" y="3761841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56378" y="3798417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3834" y="4145889"/>
            <a:ext cx="34747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8698" y="4182465"/>
            <a:ext cx="3364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Growth Strategy Document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78554" y="4145889"/>
            <a:ext cx="8229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33418" y="4182465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01514" y="4145889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56378" y="4182465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3834" y="4529937"/>
            <a:ext cx="3474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8698" y="4566513"/>
            <a:ext cx="336499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Product &amp; UX Backlog + Wireframe Sketches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8554" y="4529937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33418" y="4566513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1514" y="4529937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56378" y="4566513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00546" y="1841601"/>
            <a:ext cx="338328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55410" y="1878177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Deliverable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83826" y="1841601"/>
            <a:ext cx="82296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38690" y="1878177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Pillar(s)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06786" y="1841601"/>
            <a:ext cx="128016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61650" y="1878177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Week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00546" y="2225649"/>
            <a:ext cx="3383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55410" y="2262225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Partner Framework Document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83826" y="2225649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38690" y="2262225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③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406786" y="2225649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461650" y="2262225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00546" y="2609697"/>
            <a:ext cx="338328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55410" y="2646273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KPI Framework + Excel Dashboard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83826" y="2609697"/>
            <a:ext cx="8229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38690" y="2646273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④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406786" y="2609697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61650" y="2646273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00546" y="2993745"/>
            <a:ext cx="3383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5410" y="3030321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Process Playbook (Operating Model)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83826" y="2993745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38690" y="3030321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⑤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406786" y="2993745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461650" y="3030321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00546" y="3377793"/>
            <a:ext cx="338328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55410" y="3414369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3-Year Roadmap Document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583826" y="3377793"/>
            <a:ext cx="8229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38690" y="3414369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⑥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406786" y="3377793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461650" y="3414369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00546" y="3761841"/>
            <a:ext cx="3383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55410" y="3798417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Final Presentation Deck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583826" y="3761841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38690" y="3798417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All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406786" y="3761841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461650" y="3798417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00546" y="4145889"/>
            <a:ext cx="338328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55410" y="4182465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Printed One-Page Summary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583826" y="4145889"/>
            <a:ext cx="8229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38690" y="4182465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All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406786" y="4145889"/>
            <a:ext cx="128016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461650" y="4182465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4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00546" y="4529937"/>
            <a:ext cx="3383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55410" y="4566513"/>
            <a:ext cx="3273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Leave-Behind USB / Shared Drive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583826" y="4529937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38690" y="4566513"/>
            <a:ext cx="7132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All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406786" y="4529937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461650" y="4566513"/>
            <a:ext cx="117043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127394" y="1841601"/>
            <a:ext cx="18288" cy="307238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Mutual Expectations — What Makes This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834" y="1466697"/>
            <a:ext cx="11183112" cy="3200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834" y="1512417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This engagement succeeds when both sides commit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834" y="1841601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SAP Team Commits To Ziyo Forum: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834" y="2106777"/>
            <a:ext cx="5394960" cy="2743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3834" y="2189073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Deliver all 14 documents and sessions within the 4-week schedule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A1A1A"/>
                </a:solidFill>
              </a:rPr>
              <a:t>• Be present and on time for every agreed session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A1A1A"/>
                </a:solidFill>
              </a:rPr>
              <a:t>• Raise blockers early — if we need something, we say so within 24 hours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A1A1A"/>
                </a:solidFill>
              </a:rPr>
              <a:t>• Recommendations will be realistic for your team size and resources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A1A1A"/>
                </a:solidFill>
              </a:rPr>
              <a:t>• Share all work in editable formats (Word, Excel, PowerPoint)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A1A1A"/>
                </a:solidFill>
              </a:rPr>
              <a:t>• Maintain confidentiality of everything shared during the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986" y="1841601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</a:rPr>
              <a:t>Ziyo Forum Commits To SAP Team: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1986" y="2106777"/>
            <a:ext cx="5394960" cy="2743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986" y="2189073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Fix the two urgent Week 1 items this week: data privacy + IP confirmation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A1A1A"/>
                </a:solidFill>
              </a:rPr>
              <a:t>• Confirm a dedicated Product Owner by Week 2 (interim: Akobir)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A1A1A"/>
                </a:solidFill>
              </a:rPr>
              <a:t>• All 6 department heads attend the Vision Workshop — no proxies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A1A1A"/>
                </a:solidFill>
              </a:rPr>
              <a:t>• Give honest, direct feedback — recommendations improve with pushback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A1A1A"/>
                </a:solidFill>
              </a:rPr>
              <a:t>• Distribute the student survey via Telegram this week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1A1A1A"/>
                </a:solidFill>
              </a:rPr>
              <a:t>• Share events calendar with media team 2 weeks in advance from now 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1674" y="1841601"/>
            <a:ext cx="18288" cy="4754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Key Dates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3834" y="1466697"/>
            <a:ext cx="11183112" cy="3200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834" y="1512417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What happens after this meeting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834" y="1841601"/>
            <a:ext cx="1920240" cy="4937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698" y="1878177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When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4074" y="1841601"/>
            <a:ext cx="3383280" cy="4937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78938" y="1878177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7354" y="1841601"/>
            <a:ext cx="3794760" cy="4937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62218" y="1878177"/>
            <a:ext cx="3685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Who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2114" y="1841601"/>
            <a:ext cx="2084831" cy="4937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6978" y="1878177"/>
            <a:ext cx="197510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Format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" y="2335377"/>
            <a:ext cx="19202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698" y="2371953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Mon 13 Oct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4074" y="2335377"/>
            <a:ext cx="3383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78938" y="2371953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SAP Masterclass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7354" y="2335377"/>
            <a:ext cx="37947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62218" y="2371953"/>
            <a:ext cx="3685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All Ziyo Forum staff (mandatory)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2114" y="2335377"/>
            <a:ext cx="2084831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6978" y="2371953"/>
            <a:ext cx="197510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1.5–2 hrs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3834" y="2829153"/>
            <a:ext cx="192024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8698" y="2865729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Mon–Tue 13–14 Oct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4074" y="2829153"/>
            <a:ext cx="338328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78938" y="2865729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Vision Workshop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7354" y="2829153"/>
            <a:ext cx="379476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62218" y="2865729"/>
            <a:ext cx="3685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CEO + all 6 dept heads (mandatory)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2114" y="2829153"/>
            <a:ext cx="2084831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56978" y="2865729"/>
            <a:ext cx="197510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2 hrs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3834" y="3322929"/>
            <a:ext cx="19202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" y="3359505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Tue–Thu 13–16 Oct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24074" y="3322929"/>
            <a:ext cx="3383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78938" y="3359505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Growth Strategy Sessions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7354" y="3322929"/>
            <a:ext cx="37947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62218" y="3359505"/>
            <a:ext cx="3685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SAP + Alim + Akobir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2114" y="3322929"/>
            <a:ext cx="2084831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56978" y="3359505"/>
            <a:ext cx="197510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Working sessions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3834" y="3816705"/>
            <a:ext cx="192024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8698" y="3853281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Wed–Thu 14–16 Oct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24074" y="3816705"/>
            <a:ext cx="338328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78938" y="3853281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Product &amp; UX Sessions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7354" y="3816705"/>
            <a:ext cx="379476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62218" y="3853281"/>
            <a:ext cx="3685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SAP + Aksana + Azam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2114" y="3816705"/>
            <a:ext cx="2084831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56978" y="3853281"/>
            <a:ext cx="197510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Working sessions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3834" y="4310481"/>
            <a:ext cx="19202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8698" y="4347057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Fri 17 Oct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24074" y="4310481"/>
            <a:ext cx="3383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78938" y="4347057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Informal Team Gathering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7354" y="4310481"/>
            <a:ext cx="37947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62218" y="4347057"/>
            <a:ext cx="3685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SAP + Ziyo Forum team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2114" y="4310481"/>
            <a:ext cx="2084831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56978" y="4347057"/>
            <a:ext cx="197510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Evening social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3834" y="4804257"/>
            <a:ext cx="192024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8698" y="4840833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of 20 Oct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24074" y="4804257"/>
            <a:ext cx="338328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78938" y="4840833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Partner, Analytics &amp; Op Model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07354" y="4804257"/>
            <a:ext cx="379476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62218" y="4840833"/>
            <a:ext cx="3685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SAP + relevant dept leads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02114" y="4804257"/>
            <a:ext cx="2084831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56978" y="4840833"/>
            <a:ext cx="197510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Working sessions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3834" y="5298033"/>
            <a:ext cx="19202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8698" y="5334609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Week of 27 Oct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24074" y="5298033"/>
            <a:ext cx="33832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78938" y="5334609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3-Year Roadmap + Final Prep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07354" y="5298033"/>
            <a:ext cx="37947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62218" y="5334609"/>
            <a:ext cx="3685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SAP + Bobur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02114" y="5298033"/>
            <a:ext cx="2084831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56978" y="5334609"/>
            <a:ext cx="197510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Workshop + rehearsal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3834" y="5791809"/>
            <a:ext cx="192024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8698" y="5828385"/>
            <a:ext cx="18105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Thu–Fri 30–31 Oct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24074" y="5791809"/>
            <a:ext cx="338328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78938" y="5828385"/>
            <a:ext cx="3273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Final Presentation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07354" y="5791809"/>
            <a:ext cx="3794760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62218" y="5828385"/>
            <a:ext cx="36850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Bobur + full Ziyo Forum team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02114" y="5791809"/>
            <a:ext cx="2084831" cy="49377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56978" y="5828385"/>
            <a:ext cx="197510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2 hours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6" sz="quarter"/>
          </p:nvPr>
        </p:nvSpPr>
        <p:spPr/>
      </p:sp>
      <p:sp>
        <p:nvSpPr>
          <p:cNvPr id="4" name="TextBox 3"/>
          <p:cNvSpPr txBox="1"/>
          <p:nvPr/>
        </p:nvSpPr>
        <p:spPr>
          <a:xfrm>
            <a:off x="2743200" y="51663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Stefanie, Anja, Pankaj  ·  SAP Social Sabbatical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42239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October 2026  ·  Tashkent, Uzbekistan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6C91A-E448-BFEC-0C07-DE80A63F7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CF32D8-3410-5363-B9E7-FFB68A987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2" name="Spaker name - Dynamic" descr="{&quot;templafy&quot;:{&quot;id&quot;:&quot;13eca31f-2a44-4c6a-9a55-c2072cea1787&quot;}}">
            <a:extLst>
              <a:ext uri="{FF2B5EF4-FFF2-40B4-BE49-F238E27FC236}">
                <a16:creationId xmlns:a16="http://schemas.microsoft.com/office/drawing/2014/main" id="{02F7BECA-717A-BE64-37F9-CCBEEE581F3B}"/>
              </a:ext>
            </a:extLst>
          </p:cNvPr>
          <p:cNvSpPr txBox="1">
            <a:spLocks/>
          </p:cNvSpPr>
          <p:nvPr/>
        </p:nvSpPr>
        <p:spPr>
          <a:xfrm>
            <a:off x="503238" y="42732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Name, SAP</a:t>
            </a:r>
          </a:p>
        </p:txBody>
      </p:sp>
      <p:sp>
        <p:nvSpPr>
          <p:cNvPr id="4" name="Date - Dynamic" descr="{&quot;templafy&quot;:{&quot;id&quot;:&quot;7ab1e498-28f2-40e5-ad60-841aaaef527a&quot;}}">
            <a:extLst>
              <a:ext uri="{FF2B5EF4-FFF2-40B4-BE49-F238E27FC236}">
                <a16:creationId xmlns:a16="http://schemas.microsoft.com/office/drawing/2014/main" id="{FE482BC8-D0CB-50BE-B558-24C44E764FEF}"/>
              </a:ext>
            </a:extLst>
          </p:cNvPr>
          <p:cNvSpPr txBox="1">
            <a:spLocks/>
          </p:cNvSpPr>
          <p:nvPr/>
        </p:nvSpPr>
        <p:spPr>
          <a:xfrm>
            <a:off x="503238" y="453960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defPPr>
              <a:defRPr lang="de-DE"/>
            </a:defPPr>
            <a:lvl1pPr marL="0" algn="l" defTabSz="1088776" rtl="0" eaLnBrk="1" latinLnBrk="0" hangingPunct="1"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44388" algn="l" defTabSz="1088776" rtl="0" eaLnBrk="1" latinLnBrk="0" hangingPunct="1">
              <a:buClr>
                <a:srgbClr val="FDB913"/>
              </a:buClr>
              <a:buSzPct val="100000"/>
              <a:buFont typeface="wingdings"/>
              <a:buChar char=""/>
              <a:defRPr lang="de-DE"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088776" algn="l" defTabSz="1088776" rtl="0" eaLnBrk="1" latinLnBrk="0" hangingPunct="1">
              <a:buClr>
                <a:srgbClr val="666666"/>
              </a:buClr>
              <a:buSzPct val="80000"/>
              <a:buFont typeface="Wingdings"/>
              <a:buChar char="n"/>
              <a:defRPr lang="de-DE" sz="17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33164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177552" algn="l" defTabSz="1088776" rtl="0" eaLnBrk="1" latinLnBrk="0" hangingPunct="1">
              <a:buClr>
                <a:srgbClr val="666666"/>
              </a:buClr>
              <a:buSzPct val="80000"/>
              <a:buFont typeface="Arial"/>
              <a:buChar char=""/>
              <a:defRPr lang="de-DE"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noProof="0">
                <a:latin typeface="72 Brand" panose="020B0504030603020204" pitchFamily="34" charset="0"/>
                <a:cs typeface="72" panose="020B0503030000000003" pitchFamily="34" charset="0"/>
              </a:rPr>
              <a:t>Month Date, Year</a:t>
            </a:r>
          </a:p>
        </p:txBody>
      </p:sp>
    </p:spTree>
    <p:extLst>
      <p:ext uri="{BB962C8B-B14F-4D97-AF65-F5344CB8AC3E}">
        <p14:creationId xmlns:p14="http://schemas.microsoft.com/office/powerpoint/2010/main" val="1327535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AEC5C-5D12-0612-7672-99F99F51C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F1C15FB3-011C-8880-7FAD-0F6665830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4024430"/>
            <a:ext cx="11187112" cy="997196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B4DD00-A17A-77B1-104B-E1FC00AF04F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-1"/>
            <a:ext cx="12195155" cy="3430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3328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DDFC9B1-63CC-335C-AC05-59E42C46B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93" y="4024430"/>
            <a:ext cx="5466588" cy="998420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01F08-3C16-C965-4C53-88C6BF7A8E2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20" y="-1"/>
            <a:ext cx="12195155" cy="3430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78074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BF653-B832-9B56-85B0-48A794AF2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3DF5F38-9DE6-131E-9874-6B5CA8A4B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93" y="4024430"/>
            <a:ext cx="5466588" cy="998420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F3B8980-732D-2384-E576-09FC58BDF2B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black"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85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1930A8-9A7F-025F-C16E-DCB63B2F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>
                <a:solidFill>
                  <a:schemeClr val="tx1"/>
                </a:solidFill>
              </a:rPr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43552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68C8-E5E4-63EA-2092-1C90DD066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>
                <a:solidFill>
                  <a:schemeClr val="tx1"/>
                </a:solidFill>
              </a:rPr>
              <a:t>Headline</a:t>
            </a:r>
            <a:br>
              <a:rPr lang="en-DE">
                <a:solidFill>
                  <a:schemeClr val="tx1"/>
                </a:solidFill>
              </a:rPr>
            </a:br>
            <a:r>
              <a:rPr lang="en-DE">
                <a:solidFill>
                  <a:schemeClr val="tx1"/>
                </a:solidFill>
                <a:latin typeface="72 Brand" panose="020B0504030603020204" pitchFamily="34" charset="0"/>
              </a:rPr>
              <a:t>Sub-Headline</a:t>
            </a:r>
          </a:p>
        </p:txBody>
      </p:sp>
    </p:spTree>
    <p:extLst>
      <p:ext uri="{BB962C8B-B14F-4D97-AF65-F5344CB8AC3E}">
        <p14:creationId xmlns:p14="http://schemas.microsoft.com/office/powerpoint/2010/main" val="11222163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 Corp.pptx" id="{587A00B1-B031-4433-B0F7-B777BBFCD3C9}" vid="{939EAAA2-FFD9-487D-9C18-F9CDCFEEE91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item1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2.xml><?xml version="1.0" encoding="utf-8"?>
<TemplafySlideTemplateConfiguration><![CDATA[{"slideVersion":3,"isValidatorEnabled":false,"isLocked":false,"elementsMetadata":[],"slideId":"1328131217384275977","enableDocumentContentUpdater":false,"version":"2.0"}]]></TemplafySlideTemplateConfiguration>
</file>

<file path=customXml/item3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4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71","enableDocumentContentUpdater":false,"version":"2.0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11.xml><?xml version="1.0" encoding="utf-8"?>
<TemplafySlideTemplateConfiguration><![CDATA[{"slideVersion":3,"isValidatorEnabled":false,"isLocked":false,"elementsMetadata":[{"type":"shape","elementConfiguration":{"binding":"{{Form.SpeakerName}}","visibility":"","type":"text","disableUpdates":false,"renderAsMarkdown":false}},{"type":"shape","elementConfiguration":{"binding":"{{Form.Position}}\n{{Form.Address}}\n{{Form.City}} \n{{Form.Email}}","visibility":"","type":"text","disableUpdates":false,"renderAsMarkdown":false}}],"slideId":"1328131217384275984","enableDocumentContentUpdater":false,"version":"2.0"}]]></TemplafySlideTemplate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TemplateConfiguration><![CDATA[{"slideVersion":3,"isValidatorEnabled":false,"isLocked":false,"elementsMetadata":[],"slideId":"1328131217384275986","enableDocumentContentUpdater":false,"version":"2.0"}]]></TemplafySlideTemplateConfiguration>
</file>

<file path=customXml/item15.xml><?xml version="1.0" encoding="utf-8"?>
<TemplafySlideTemplateConfiguration><![CDATA[{"slideVersion":3,"isValidatorEnabled":false,"isLocked":false,"elementsMetadata":[],"slideId":"1328131217384275982","enableDocumentContentUpdater":false,"version":"2.0"}]]></TemplafySlideTemplate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FormConfiguration><![CDATA[{"formFields":[],"formDataEntries":[]}]]></TemplafySlideFormConfiguration>
</file>

<file path=customXml/item18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9.xml><?xml version="1.0" encoding="utf-8"?>
<TemplafySlideTemplateConfiguration><![CDATA[{"slideVersion":3,"isValidatorEnabled":false,"isLocked":false,"elementsMetadata":[],"slideId":"1328131217384275973","enableDocumentContentUpdater":false,"version":"2.0"}]]></TemplafySlideTemplateConfiguration>
</file>

<file path=customXml/item20.xml><?xml version="1.0" encoding="utf-8"?>
<TemplafySlideTemplateConfiguration><![CDATA[{"slideVersion":3,"isValidatorEnabled":false,"isLocked":false,"elementsMetadata":[],"slideId":"1328131217384275978","enableDocumentContentUpdater":false,"version":"2.0"}]]></TemplafySlideTemplate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TemplateConfiguration><![CDATA[{"slideVersion":3,"isValidatorEnabled":false,"isLocked":false,"elementsMetadata":[],"slideId":"1328131217384275980","enableDocumentContentUpdater":false,"version":"2.0"}]]></TemplafySlideTemplateConfiguration>
</file>

<file path=customXml/item23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24.xml><?xml version="1.0" encoding="utf-8"?>
<TemplafySlideTemplateConfiguration><![CDATA[{"slideVersion":3,"isValidatorEnabled":false,"isLocked":false,"elementsMetadata":[],"slideId":"1328131217384275975","enableDocumentContentUpdater":false,"version":"2.0"}]]></TemplafySlideTemplateConfiguration>
</file>

<file path=customXml/item25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White}}","visibility":"","type":"image","disableUpdates":false}}],"slideId":"1328131217384275970","enableDocumentContentUpdater":false,"version":"2.0"}]]></TemplafySlideTemplateConfiguration>
</file>

<file path=customXml/item26.xml><?xml version="1.0" encoding="utf-8"?>
<TemplafySlideFormConfiguration><![CDATA[{"formFields":[],"formDataEntries":[]}]]></TemplafySlideFormConfiguration>
</file>

<file path=customXml/item27.xml><?xml version="1.0" encoding="utf-8"?>
<TemplafySlideFormConfiguration><![CDATA[{"formFields":[],"formDataEntries":[]}]]></TemplafySlideFormConfiguration>
</file>

<file path=customXml/item28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4034B036C92A4A897F8A958DF51533" ma:contentTypeVersion="19" ma:contentTypeDescription="Create a new document." ma:contentTypeScope="" ma:versionID="501d55e664131ef2dd5afebc2e671bb4">
  <xsd:schema xmlns:xsd="http://www.w3.org/2001/XMLSchema" xmlns:xs="http://www.w3.org/2001/XMLSchema" xmlns:p="http://schemas.microsoft.com/office/2006/metadata/properties" xmlns:ns2="779f7773-5b16-460b-be9a-e10be11b395c" xmlns:ns3="0e00d59e-b0d2-4e67-be34-67e465b0fbed" targetNamespace="http://schemas.microsoft.com/office/2006/metadata/properties" ma:root="true" ma:fieldsID="ae974cdccaeeef86084a7690bd7a6e3b" ns2:_="" ns3:_="">
    <xsd:import namespace="779f7773-5b16-460b-be9a-e10be11b395c"/>
    <xsd:import namespace="0e00d59e-b0d2-4e67-be34-67e465b0fb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9f7773-5b16-460b-be9a-e10be11b39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7b3fb9d-ee0a-40a8-bd42-4026b75186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0d59e-b0d2-4e67-be34-67e465b0fbe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f1e2fc8-60f5-4b88-a701-67d77da430d9}" ma:internalName="TaxCatchAll" ma:showField="CatchAllData" ma:web="0e00d59e-b0d2-4e67-be34-67e465b0fb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9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79f7773-5b16-460b-be9a-e10be11b395c">
      <Terms xmlns="http://schemas.microsoft.com/office/infopath/2007/PartnerControls"/>
    </lcf76f155ced4ddcb4097134ff3c332f>
    <TaxCatchAll xmlns="0e00d59e-b0d2-4e67-be34-67e465b0fbed" xsi:nil="true"/>
  </documentManagement>
</p:properties>
</file>

<file path=customXml/item30.xml><?xml version="1.0" encoding="utf-8"?>
<TemplafySlideTemplateConfiguration><![CDATA[{"slideVersion":3,"isValidatorEnabled":false,"isLocked":false,"elementsMetadata":[],"slideId":"1328131217384275983","enableDocumentContentUpdater":false,"version":"2.0"}]]></TemplafySlideTemplateConfiguration>
</file>

<file path=customXml/item31.xml><?xml version="1.0" encoding="utf-8"?>
<TemplafySlideFormConfiguration><![CDATA[{"formFields":[],"formDataEntries":[]}]]></TemplafySlideFormConfiguration>
</file>

<file path=customXml/item32.xml><?xml version="1.0" encoding="utf-8"?>
<TemplafySlideFormConfiguration><![CDATA[{"formFields":[],"formDataEntries":[]}]]></TemplafySlideFormConfiguration>
</file>

<file path=customXml/item33.xml><?xml version="1.0" encoding="utf-8"?>
<TemplafySlideTemplateConfiguration><![CDATA[{"slideVersion":3,"isValidatorEnabled":false,"isLocked":false,"elementsMetadata":[],"slideId":"1328131217384275979","enableDocumentContentUpdater":false,"version":"2.0"}]]></TemplafySlideTemplateConfiguration>
</file>

<file path=customXml/item34.xml><?xml version="1.0" encoding="utf-8"?>
<TemplafySlideTemplateConfiguration><![CDATA[{"slideVersion":3,"isValidatorEnabled":false,"isLocked":false,"elementsMetadata":[],"slideId":"1328131217384275985","enableDocumentContentUpdater":false,"version":"2.0"}]]></TemplafySlideTemplateConfiguration>
</file>

<file path=customXml/item35.xml><?xml version="1.0" encoding="utf-8"?>
<TemplafySlideTemplateConfiguration><![CDATA[{"slideVersion":3,"isValidatorEnabled":false,"isLocked":false,"elementsMetadata":[],"slideId":"1328131217384275987","enableDocumentContentUpdater":false,"version":"2.0"}]]></TemplafySlideTemplateConfiguration>
</file>

<file path=customXml/item36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]}]]></TemplafySlideFormConfiguration>
</file>

<file path=customXml/item37.xml><?xml version="1.0" encoding="utf-8"?>
<TemplafySlideTemplateConfiguration><![CDATA[{"slideVersion":3,"isValidatorEnabled":false,"isLocked":false,"elementsMetadata":[],"slideId":"1328131217384275976","enableDocumentContentUpdater":false,"version":"2.0"}]]></TemplafySlideTemplateConfiguration>
</file>

<file path=customXml/item38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39.xml><?xml version="1.0" encoding="utf-8"?>
<TemplafySlideTemplateConfiguration><![CDATA[{"slideVersion":3,"isValidatorEnabled":false,"isLocked":false,"elementsMetadata":[],"slideId":"1328131217384275981","enableDocumentContentUpdater":false,"version":"2.0"}]]></TemplafySlideTemplateConfiguration>
</file>

<file path=customXml/item40.xml><?xml version="1.0" encoding="utf-8"?>
<TemplafySlideFormConfiguration><![CDATA[{"formFields":[],"formDataEntries":[]}]]></TemplafySlideFormConfiguration>
</file>

<file path=customXml/item41.xml><?xml version="1.0" encoding="utf-8"?>
<TemplafySlideFormConfiguration><![CDATA[{"formFields":[],"formDataEntries":[]}]]></TemplafySlideFormConfiguration>
</file>

<file path=customXml/item42.xml><?xml version="1.0" encoding="utf-8"?>
<TemplafySlideTemplateConfiguration><![CDATA[{"slideVersion":3,"isValidatorEnabled":false,"isLocked":false,"elementsMetadata":[],"slideId":"1328131217384275973","enableDocumentContentUpdater":false,"version":"2.0"}]]></TemplafySlideTemplateConfiguration>
</file>

<file path=customXml/item43.xml><?xml version="1.0" encoding="utf-8"?>
<TemplafySlideTemplateConfiguration><![CDATA[{"slideVersion":3,"isValidatorEnabled":false,"isLocked":false,"elementsMetadata":[],"slideId":"1328131217384275973","enableDocumentContentUpdater":false,"version":"2.0"}]]></TemplafySlideTemplateConfiguration>
</file>

<file path=customXml/item44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69","enableDocumentContentUpdater":false,"version":"2.0"}]]></TemplafySlideTemplateConfiguration>
</file>

<file path=customXml/item4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79008009-A77E-4DE3-9C15-4B84BFC772CD}">
  <ds:schemaRefs/>
</ds:datastoreItem>
</file>

<file path=customXml/itemProps2.xml><?xml version="1.0" encoding="utf-8"?>
<ds:datastoreItem xmlns:ds="http://schemas.openxmlformats.org/officeDocument/2006/customXml" ds:itemID="{CE396CF5-D378-4212-9654-B79AC7E3DDF2}">
  <ds:schemaRefs/>
</ds:datastoreItem>
</file>

<file path=customXml/itemProps3.xml><?xml version="1.0" encoding="utf-8"?>
<ds:datastoreItem xmlns:ds="http://schemas.openxmlformats.org/officeDocument/2006/customXml" ds:itemID="{7CE852FA-A08C-42DD-AE0D-B4ACD5BB86CC}">
  <ds:schemaRefs/>
</ds:datastoreItem>
</file>

<file path=customXml/itemProps4.xml><?xml version="1.0" encoding="utf-8"?>
<ds:datastoreItem xmlns:ds="http://schemas.openxmlformats.org/officeDocument/2006/customXml" ds:itemID="{3A81E9BA-12B9-46B7-AEAA-BB534997284F}">
  <ds:schemaRefs/>
</ds:datastoreItem>
</file>

<file path=customXml/itemProps5.xml><?xml version="1.0" encoding="utf-8"?>
<ds:datastoreItem xmlns:ds="http://schemas.openxmlformats.org/officeDocument/2006/customXml" ds:itemID="{1949C97A-F2E4-44DC-BFCA-6630B6534B78}">
  <ds:schemaRefs/>
</ds:datastoreItem>
</file>

<file path=customXml/itemProps6.xml><?xml version="1.0" encoding="utf-8"?>
<ds:datastoreItem xmlns:ds="http://schemas.openxmlformats.org/officeDocument/2006/customXml" ds:itemID="{0AA29E1A-4DC8-446C-8155-596424E2EB1E}">
  <ds:schemaRefs/>
</ds:datastoreItem>
</file>

<file path=customXml/itemProps7.xml><?xml version="1.0" encoding="utf-8"?>
<ds:datastoreItem xmlns:ds="http://schemas.openxmlformats.org/officeDocument/2006/customXml" ds:itemID="{9B5A6145-50FD-46B5-882B-DCFCB8024129}">
  <ds:schemaRefs/>
</ds:datastoreItem>
</file>

<file path=customXml/itemProps8.xml><?xml version="1.0" encoding="utf-8"?>
<ds:datastoreItem xmlns:ds="http://schemas.openxmlformats.org/officeDocument/2006/customXml" ds:itemID="{4938B8D1-5EB7-4009-8CFB-FCE4DBF00B70}">
  <ds:schemaRefs/>
</ds:datastoreItem>
</file>

<file path=customXml/itemProps9.xml><?xml version="1.0" encoding="utf-8"?>
<ds:datastoreItem xmlns:ds="http://schemas.openxmlformats.org/officeDocument/2006/customXml" ds:itemID="{A63CC505-4A0C-3B49-84A8-E22CF847A350}">
  <ds:schemaRefs/>
</ds:datastoreItem>
</file>

<file path=customXml/itemProps10.xml><?xml version="1.0" encoding="utf-8"?>
<ds:datastoreItem xmlns:ds="http://schemas.openxmlformats.org/officeDocument/2006/customXml" ds:itemID="{626BBCBB-1894-4E66-BA48-9E91CE3ACBA0}">
  <ds:schemaRefs/>
</ds:datastoreItem>
</file>

<file path=customXml/itemProps11.xml><?xml version="1.0" encoding="utf-8"?>
<ds:datastoreItem xmlns:ds="http://schemas.openxmlformats.org/officeDocument/2006/customXml" ds:itemID="{8DB0A96E-6777-4404-88E8-A679525071C5}">
  <ds:schemaRefs/>
</ds:datastoreItem>
</file>

<file path=customXml/itemProps12.xml><?xml version="1.0" encoding="utf-8"?>
<ds:datastoreItem xmlns:ds="http://schemas.openxmlformats.org/officeDocument/2006/customXml" ds:itemID="{7D282FA9-D486-4277-833F-E9AC54F00B25}">
  <ds:schemaRefs/>
</ds:datastoreItem>
</file>

<file path=customXml/itemProps13.xml><?xml version="1.0" encoding="utf-8"?>
<ds:datastoreItem xmlns:ds="http://schemas.openxmlformats.org/officeDocument/2006/customXml" ds:itemID="{02A76EF8-E055-4175-8D2D-5B9E60211AF6}">
  <ds:schemaRefs/>
</ds:datastoreItem>
</file>

<file path=customXml/itemProps14.xml><?xml version="1.0" encoding="utf-8"?>
<ds:datastoreItem xmlns:ds="http://schemas.openxmlformats.org/officeDocument/2006/customXml" ds:itemID="{2E9C140C-7F7C-4BAD-BCD9-F2636157DE78}">
  <ds:schemaRefs/>
</ds:datastoreItem>
</file>

<file path=customXml/itemProps15.xml><?xml version="1.0" encoding="utf-8"?>
<ds:datastoreItem xmlns:ds="http://schemas.openxmlformats.org/officeDocument/2006/customXml" ds:itemID="{7A3DE86C-37E5-43A2-A674-30AE8DECAC0E}">
  <ds:schemaRefs/>
</ds:datastoreItem>
</file>

<file path=customXml/itemProps16.xml><?xml version="1.0" encoding="utf-8"?>
<ds:datastoreItem xmlns:ds="http://schemas.openxmlformats.org/officeDocument/2006/customXml" ds:itemID="{7191A31C-0001-4F47-9681-3BF2CDE82779}">
  <ds:schemaRefs/>
</ds:datastoreItem>
</file>

<file path=customXml/itemProps17.xml><?xml version="1.0" encoding="utf-8"?>
<ds:datastoreItem xmlns:ds="http://schemas.openxmlformats.org/officeDocument/2006/customXml" ds:itemID="{2619A3F2-6BB2-4CAE-88B7-CFA577527EBA}">
  <ds:schemaRefs/>
</ds:datastoreItem>
</file>

<file path=customXml/itemProps18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19.xml><?xml version="1.0" encoding="utf-8"?>
<ds:datastoreItem xmlns:ds="http://schemas.openxmlformats.org/officeDocument/2006/customXml" ds:itemID="{30F4058E-AE30-6947-9040-F28DBCFB067B}">
  <ds:schemaRefs/>
</ds:datastoreItem>
</file>

<file path=customXml/itemProps20.xml><?xml version="1.0" encoding="utf-8"?>
<ds:datastoreItem xmlns:ds="http://schemas.openxmlformats.org/officeDocument/2006/customXml" ds:itemID="{5E11CF51-A506-4F35-8D30-27CC6B312382}">
  <ds:schemaRefs/>
</ds:datastoreItem>
</file>

<file path=customXml/itemProps21.xml><?xml version="1.0" encoding="utf-8"?>
<ds:datastoreItem xmlns:ds="http://schemas.openxmlformats.org/officeDocument/2006/customXml" ds:itemID="{72F8570F-162E-4E77-8F0F-6DD87409B9AF}">
  <ds:schemaRefs/>
</ds:datastoreItem>
</file>

<file path=customXml/itemProps22.xml><?xml version="1.0" encoding="utf-8"?>
<ds:datastoreItem xmlns:ds="http://schemas.openxmlformats.org/officeDocument/2006/customXml" ds:itemID="{4B1D4426-9BD0-4BD3-8094-CA9B884388C6}">
  <ds:schemaRefs/>
</ds:datastoreItem>
</file>

<file path=customXml/itemProps23.xml><?xml version="1.0" encoding="utf-8"?>
<ds:datastoreItem xmlns:ds="http://schemas.openxmlformats.org/officeDocument/2006/customXml" ds:itemID="{CC49FFC8-2FF3-4057-96F0-3BCD1A4F0351}">
  <ds:schemaRefs/>
</ds:datastoreItem>
</file>

<file path=customXml/itemProps24.xml><?xml version="1.0" encoding="utf-8"?>
<ds:datastoreItem xmlns:ds="http://schemas.openxmlformats.org/officeDocument/2006/customXml" ds:itemID="{F0F8AAF3-4544-44DE-8D65-07578647B51F}">
  <ds:schemaRefs/>
</ds:datastoreItem>
</file>

<file path=customXml/itemProps25.xml><?xml version="1.0" encoding="utf-8"?>
<ds:datastoreItem xmlns:ds="http://schemas.openxmlformats.org/officeDocument/2006/customXml" ds:itemID="{59E029D4-81CC-4017-8B00-9264DBE7ED46}">
  <ds:schemaRefs/>
</ds:datastoreItem>
</file>

<file path=customXml/itemProps26.xml><?xml version="1.0" encoding="utf-8"?>
<ds:datastoreItem xmlns:ds="http://schemas.openxmlformats.org/officeDocument/2006/customXml" ds:itemID="{8F54209D-E2B9-45C1-850A-8060F1CC8CCA}">
  <ds:schemaRefs/>
</ds:datastoreItem>
</file>

<file path=customXml/itemProps27.xml><?xml version="1.0" encoding="utf-8"?>
<ds:datastoreItem xmlns:ds="http://schemas.openxmlformats.org/officeDocument/2006/customXml" ds:itemID="{54FE47D6-A0B5-433B-A8EF-42136D6623C1}">
  <ds:schemaRefs/>
</ds:datastoreItem>
</file>

<file path=customXml/itemProps28.xml><?xml version="1.0" encoding="utf-8"?>
<ds:datastoreItem xmlns:ds="http://schemas.openxmlformats.org/officeDocument/2006/customXml" ds:itemID="{F429925B-5DC5-4AFE-B99F-916D9AAE4BDD}">
  <ds:schemaRefs>
    <ds:schemaRef ds:uri="0e00d59e-b0d2-4e67-be34-67e465b0fbed"/>
    <ds:schemaRef ds:uri="779f7773-5b16-460b-be9a-e10be11b395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9.xml><?xml version="1.0" encoding="utf-8"?>
<ds:datastoreItem xmlns:ds="http://schemas.openxmlformats.org/officeDocument/2006/customXml" ds:itemID="{C1422F45-04DB-421D-8796-270006657806}">
  <ds:schemaRefs>
    <ds:schemaRef ds:uri="779f7773-5b16-460b-be9a-e10be11b395c"/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0e00d59e-b0d2-4e67-be34-67e465b0fbed"/>
  </ds:schemaRefs>
</ds:datastoreItem>
</file>

<file path=customXml/itemProps30.xml><?xml version="1.0" encoding="utf-8"?>
<ds:datastoreItem xmlns:ds="http://schemas.openxmlformats.org/officeDocument/2006/customXml" ds:itemID="{E54232B7-ECAB-41A6-AF8E-F8AA8F67AA91}">
  <ds:schemaRefs/>
</ds:datastoreItem>
</file>

<file path=customXml/itemProps31.xml><?xml version="1.0" encoding="utf-8"?>
<ds:datastoreItem xmlns:ds="http://schemas.openxmlformats.org/officeDocument/2006/customXml" ds:itemID="{262F285F-827C-4183-96DE-8531462DE52A}">
  <ds:schemaRefs/>
</ds:datastoreItem>
</file>

<file path=customXml/itemProps32.xml><?xml version="1.0" encoding="utf-8"?>
<ds:datastoreItem xmlns:ds="http://schemas.openxmlformats.org/officeDocument/2006/customXml" ds:itemID="{A7B291CB-4C44-41B3-9B37-CCBAC5621AB0}">
  <ds:schemaRefs/>
</ds:datastoreItem>
</file>

<file path=customXml/itemProps33.xml><?xml version="1.0" encoding="utf-8"?>
<ds:datastoreItem xmlns:ds="http://schemas.openxmlformats.org/officeDocument/2006/customXml" ds:itemID="{69B73946-F389-40E3-A533-45A6D07B0A63}">
  <ds:schemaRefs/>
</ds:datastoreItem>
</file>

<file path=customXml/itemProps34.xml><?xml version="1.0" encoding="utf-8"?>
<ds:datastoreItem xmlns:ds="http://schemas.openxmlformats.org/officeDocument/2006/customXml" ds:itemID="{340F98CC-F8FA-4257-87D3-FCE825196D17}">
  <ds:schemaRefs/>
</ds:datastoreItem>
</file>

<file path=customXml/itemProps35.xml><?xml version="1.0" encoding="utf-8"?>
<ds:datastoreItem xmlns:ds="http://schemas.openxmlformats.org/officeDocument/2006/customXml" ds:itemID="{969E2946-A68D-494C-938D-9F4AFD67C432}">
  <ds:schemaRefs/>
</ds:datastoreItem>
</file>

<file path=customXml/itemProps36.xml><?xml version="1.0" encoding="utf-8"?>
<ds:datastoreItem xmlns:ds="http://schemas.openxmlformats.org/officeDocument/2006/customXml" ds:itemID="{9F687104-044A-49FD-BBC2-8EEC24DE651C}">
  <ds:schemaRefs/>
</ds:datastoreItem>
</file>

<file path=customXml/itemProps37.xml><?xml version="1.0" encoding="utf-8"?>
<ds:datastoreItem xmlns:ds="http://schemas.openxmlformats.org/officeDocument/2006/customXml" ds:itemID="{0C2F541D-F419-4D97-8F50-8CFBB40B0EC7}">
  <ds:schemaRefs/>
</ds:datastoreItem>
</file>

<file path=customXml/itemProps38.xml><?xml version="1.0" encoding="utf-8"?>
<ds:datastoreItem xmlns:ds="http://schemas.openxmlformats.org/officeDocument/2006/customXml" ds:itemID="{A701461A-A2EC-4086-A128-227E1E7767C4}">
  <ds:schemaRefs/>
</ds:datastoreItem>
</file>

<file path=customXml/itemProps39.xml><?xml version="1.0" encoding="utf-8"?>
<ds:datastoreItem xmlns:ds="http://schemas.openxmlformats.org/officeDocument/2006/customXml" ds:itemID="{13FD8C04-EC58-4965-B798-8E6CBDD39C2A}">
  <ds:schemaRefs/>
</ds:datastoreItem>
</file>

<file path=customXml/itemProps40.xml><?xml version="1.0" encoding="utf-8"?>
<ds:datastoreItem xmlns:ds="http://schemas.openxmlformats.org/officeDocument/2006/customXml" ds:itemID="{313EF5B0-5BFC-4E19-9E61-13C85B6C6127}">
  <ds:schemaRefs/>
</ds:datastoreItem>
</file>

<file path=customXml/itemProps41.xml><?xml version="1.0" encoding="utf-8"?>
<ds:datastoreItem xmlns:ds="http://schemas.openxmlformats.org/officeDocument/2006/customXml" ds:itemID="{4776B2CF-5C01-8A41-A126-F5D79F5C9C67}">
  <ds:schemaRefs/>
</ds:datastoreItem>
</file>

<file path=customXml/itemProps42.xml><?xml version="1.0" encoding="utf-8"?>
<ds:datastoreItem xmlns:ds="http://schemas.openxmlformats.org/officeDocument/2006/customXml" ds:itemID="{F5A83F85-7F87-E446-ADF5-A617C068E0BA}">
  <ds:schemaRefs/>
</ds:datastoreItem>
</file>

<file path=customXml/itemProps43.xml><?xml version="1.0" encoding="utf-8"?>
<ds:datastoreItem xmlns:ds="http://schemas.openxmlformats.org/officeDocument/2006/customXml" ds:itemID="{2EBA1259-1672-4DD3-BA35-A6EAF5A9B084}">
  <ds:schemaRefs/>
</ds:datastoreItem>
</file>

<file path=customXml/itemProps44.xml><?xml version="1.0" encoding="utf-8"?>
<ds:datastoreItem xmlns:ds="http://schemas.openxmlformats.org/officeDocument/2006/customXml" ds:itemID="{D0AC3308-50B2-461B-AD01-41C9501C41AA}">
  <ds:schemaRefs/>
</ds:datastoreItem>
</file>

<file path=customXml/itemProps45.xml><?xml version="1.0" encoding="utf-8"?>
<ds:datastoreItem xmlns:ds="http://schemas.openxmlformats.org/officeDocument/2006/customXml" ds:itemID="{E9FE88B9-0BAC-45E1-B2FC-EC88A09A227D}">
  <ds:schemaRefs/>
</ds:datastoreItem>
</file>

<file path=docMetadata/LabelInfo.xml><?xml version="1.0" encoding="utf-8"?>
<clbl:labelList xmlns:clbl="http://schemas.microsoft.com/office/2020/mipLabelMetadata">
  <clbl:label id="{0d3b1b9e-ad63-40af-8c4f-1c93d6bb86a8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</Template>
  <TotalTime>1</TotalTime>
  <Words>655</Words>
  <Application>Microsoft Macintosh PowerPoint</Application>
  <PresentationFormat>Custom</PresentationFormat>
  <Paragraphs>141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Symbol</vt:lpstr>
      <vt:lpstr>72 Brand</vt:lpstr>
      <vt:lpstr>Wingdings</vt:lpstr>
      <vt:lpstr>72 Brand Medium</vt:lpstr>
      <vt:lpstr>Wingdings</vt:lpstr>
      <vt:lpstr>SAP Template</vt:lpstr>
      <vt:lpstr>Ziyo Forum &amp; SAP Intro Call</vt:lpstr>
      <vt:lpstr>Agenda</vt:lpstr>
      <vt:lpstr>Introductions / Getting to know each other </vt:lpstr>
      <vt:lpstr>PowerPoint Presentation</vt:lpstr>
      <vt:lpstr>Review and discussion of the Scope of Work </vt:lpstr>
      <vt:lpstr>Initial Questions</vt:lpstr>
      <vt:lpstr>Logistics and Planning</vt:lpstr>
      <vt:lpstr>Additional Questions</vt:lpstr>
      <vt:lpstr>Next Steps</vt:lpstr>
      <vt:lpstr>PowerPoint Presentation</vt:lpstr>
      <vt:lpstr>Thank you &amp; see you soon!</vt:lpstr>
      <vt:lpstr>Parking Lot</vt:lpstr>
      <vt:lpstr>Thank you!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Headline</vt:lpstr>
      <vt:lpstr>Headline Sub-Headline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Fehlau, Anja</dc:creator>
  <dc:description/>
  <cp:lastModifiedBy>Bisht, Pankaj</cp:lastModifiedBy>
  <cp:revision>2</cp:revision>
  <dcterms:created xsi:type="dcterms:W3CDTF">2026-09-25T13:39:56Z</dcterms:created>
  <dcterms:modified xsi:type="dcterms:W3CDTF">2026-10-08T08:06:20Z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0x010100AC4034B036C92A4A897F8A958DF51533</vt:lpwstr>
  </property>
  <property fmtid="{D5CDD505-2E9C-101B-9397-08002B2CF9AE}" pid="4" name="Created by">
    <vt:lpwstr>omnidocs.com</vt:lpwstr>
  </property>
  <property fmtid="{D5CDD505-2E9C-101B-9397-08002B2CF9AE}" pid="5" name="ClassificationContentMarkingFooterLocations">
    <vt:lpwstr>SAP Template:12</vt:lpwstr>
  </property>
  <property fmtid="{D5CDD505-2E9C-101B-9397-08002B2CF9AE}" pid="6" name="ClassificationContentMarkingFooterText">
    <vt:lpwstr>                 INTERNAL ‒ SAP and External Parties under NDA Only</vt:lpwstr>
  </property>
  <property fmtid="{D5CDD505-2E9C-101B-9397-08002B2CF9AE}" pid="7" name="TemplafyTimeStamp">
    <vt:lpwstr>2025-12-14T08:56:23</vt:lpwstr>
  </property>
  <property fmtid="{D5CDD505-2E9C-101B-9397-08002B2CF9AE}" pid="8" name="TemplafyTenantId">
    <vt:lpwstr>sap</vt:lpwstr>
  </property>
  <property fmtid="{D5CDD505-2E9C-101B-9397-08002B2CF9AE}" pid="9" name="TemplafyTemplateId">
    <vt:lpwstr>1328131190817294516</vt:lpwstr>
  </property>
  <property fmtid="{D5CDD505-2E9C-101B-9397-08002B2CF9AE}" pid="10" name="TemplafyUserProfileId">
    <vt:lpwstr>637710449012726268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