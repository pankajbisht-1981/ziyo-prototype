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8288000" cy="10287000"/>
  <p:notesSz cx="6858000" cy="9144000"/>
  <p:embeddedFontLst>
    <p:embeddedFont>
      <p:font typeface="TT Chocolates" panose="020B0604020202020204" charset="0"/>
      <p:regular r:id="rId14"/>
    </p:embeddedFont>
    <p:embeddedFont>
      <p:font typeface="TT Chocolate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551" y="-66551"/>
            <a:ext cx="11562036" cy="10420093"/>
          </a:xfrm>
          <a:custGeom>
            <a:avLst/>
            <a:gdLst/>
            <a:ahLst/>
            <a:cxnLst/>
            <a:rect l="l" t="t" r="r" b="b"/>
            <a:pathLst>
              <a:path w="11562036" h="10420093">
                <a:moveTo>
                  <a:pt x="0" y="0"/>
                </a:moveTo>
                <a:lnTo>
                  <a:pt x="11562035" y="0"/>
                </a:lnTo>
                <a:lnTo>
                  <a:pt x="11562035" y="10420093"/>
                </a:lnTo>
                <a:lnTo>
                  <a:pt x="0" y="10420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43935" y="313249"/>
            <a:ext cx="1999212" cy="2006079"/>
            <a:chOff x="0" y="0"/>
            <a:chExt cx="2665616" cy="26747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65603" cy="2674747"/>
            </a:xfrm>
            <a:custGeom>
              <a:avLst/>
              <a:gdLst/>
              <a:ahLst/>
              <a:cxnLst/>
              <a:rect l="l" t="t" r="r" b="b"/>
              <a:pathLst>
                <a:path w="2665603" h="2674747">
                  <a:moveTo>
                    <a:pt x="0" y="0"/>
                  </a:moveTo>
                  <a:lnTo>
                    <a:pt x="2665603" y="0"/>
                  </a:lnTo>
                  <a:lnTo>
                    <a:pt x="2665603" y="2674747"/>
                  </a:lnTo>
                  <a:lnTo>
                    <a:pt x="0" y="26747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961455" y="3080795"/>
            <a:ext cx="8326545" cy="5976604"/>
            <a:chOff x="0" y="0"/>
            <a:chExt cx="11102061" cy="79688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102086" cy="7968869"/>
            </a:xfrm>
            <a:custGeom>
              <a:avLst/>
              <a:gdLst/>
              <a:ahLst/>
              <a:cxnLst/>
              <a:rect l="l" t="t" r="r" b="b"/>
              <a:pathLst>
                <a:path w="11102086" h="7968869">
                  <a:moveTo>
                    <a:pt x="0" y="0"/>
                  </a:moveTo>
                  <a:lnTo>
                    <a:pt x="11102086" y="0"/>
                  </a:lnTo>
                  <a:lnTo>
                    <a:pt x="11102086" y="7968869"/>
                  </a:lnTo>
                  <a:lnTo>
                    <a:pt x="0" y="7968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-63503" y="-63503"/>
            <a:ext cx="11563340" cy="10413997"/>
            <a:chOff x="0" y="0"/>
            <a:chExt cx="11563337" cy="10414000"/>
          </a:xfrm>
        </p:grpSpPr>
        <p:sp>
          <p:nvSpPr>
            <p:cNvPr id="8" name="Freeform 8"/>
            <p:cNvSpPr/>
            <p:nvPr/>
          </p:nvSpPr>
          <p:spPr>
            <a:xfrm>
              <a:off x="63500" y="63500"/>
              <a:ext cx="11436350" cy="2827655"/>
            </a:xfrm>
            <a:custGeom>
              <a:avLst/>
              <a:gdLst/>
              <a:ahLst/>
              <a:cxnLst/>
              <a:rect l="l" t="t" r="r" b="b"/>
              <a:pathLst>
                <a:path w="11436350" h="2827655">
                  <a:moveTo>
                    <a:pt x="0" y="0"/>
                  </a:moveTo>
                  <a:lnTo>
                    <a:pt x="0" y="2827655"/>
                  </a:lnTo>
                  <a:lnTo>
                    <a:pt x="11436350" y="2827655"/>
                  </a:lnTo>
                  <a:lnTo>
                    <a:pt x="1143635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1092200" y="2735580"/>
              <a:ext cx="47625" cy="3802634"/>
            </a:xfrm>
            <a:custGeom>
              <a:avLst/>
              <a:gdLst/>
              <a:ahLst/>
              <a:cxnLst/>
              <a:rect l="l" t="t" r="r" b="b"/>
              <a:pathLst>
                <a:path w="47625" h="3802634">
                  <a:moveTo>
                    <a:pt x="0" y="3802634"/>
                  </a:moveTo>
                  <a:lnTo>
                    <a:pt x="47625" y="3802634"/>
                  </a:lnTo>
                  <a:lnTo>
                    <a:pt x="476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63500" y="2891155"/>
              <a:ext cx="5819140" cy="7459345"/>
            </a:xfrm>
            <a:custGeom>
              <a:avLst/>
              <a:gdLst/>
              <a:ahLst/>
              <a:cxnLst/>
              <a:rect l="l" t="t" r="r" b="b"/>
              <a:pathLst>
                <a:path w="5819140" h="7459345">
                  <a:moveTo>
                    <a:pt x="0" y="0"/>
                  </a:moveTo>
                  <a:lnTo>
                    <a:pt x="0" y="7459345"/>
                  </a:lnTo>
                  <a:lnTo>
                    <a:pt x="5819140" y="7459345"/>
                  </a:lnTo>
                  <a:lnTo>
                    <a:pt x="581914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279693" y="3326708"/>
            <a:ext cx="8681761" cy="2742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7"/>
              </a:lnSpc>
            </a:pPr>
            <a:r>
              <a:rPr lang="en-US" sz="6555" spc="707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PRESENTATION OF THE </a:t>
            </a:r>
            <a:r>
              <a:rPr lang="en-US" sz="6555" spc="707">
                <a:solidFill>
                  <a:srgbClr val="17C41E"/>
                </a:solidFill>
                <a:latin typeface="TT Chocolates"/>
                <a:ea typeface="TT Chocolates"/>
                <a:cs typeface="TT Chocolates"/>
                <a:sym typeface="TT Chocolates"/>
              </a:rPr>
              <a:t>ZIYO APP</a:t>
            </a:r>
            <a:r>
              <a:rPr lang="en-US" sz="6555" spc="707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76666" y="4881744"/>
            <a:ext cx="4410732" cy="6187135"/>
          </a:xfrm>
          <a:custGeom>
            <a:avLst/>
            <a:gdLst/>
            <a:ahLst/>
            <a:cxnLst/>
            <a:rect l="l" t="t" r="r" b="b"/>
            <a:pathLst>
              <a:path w="4410732" h="6187135">
                <a:moveTo>
                  <a:pt x="0" y="0"/>
                </a:moveTo>
                <a:lnTo>
                  <a:pt x="4410732" y="0"/>
                </a:lnTo>
                <a:lnTo>
                  <a:pt x="4410732" y="6187135"/>
                </a:lnTo>
                <a:lnTo>
                  <a:pt x="0" y="6187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84387" y="-556218"/>
            <a:ext cx="7547753" cy="4819860"/>
          </a:xfrm>
          <a:custGeom>
            <a:avLst/>
            <a:gdLst/>
            <a:ahLst/>
            <a:cxnLst/>
            <a:rect l="l" t="t" r="r" b="b"/>
            <a:pathLst>
              <a:path w="7547753" h="4819860">
                <a:moveTo>
                  <a:pt x="0" y="0"/>
                </a:moveTo>
                <a:lnTo>
                  <a:pt x="7547753" y="0"/>
                </a:lnTo>
                <a:lnTo>
                  <a:pt x="7547753" y="4819859"/>
                </a:lnTo>
                <a:lnTo>
                  <a:pt x="0" y="4819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884160">
            <a:off x="10637472" y="-636661"/>
            <a:ext cx="8703316" cy="12130230"/>
            <a:chOff x="0" y="0"/>
            <a:chExt cx="11604422" cy="16173641"/>
          </a:xfrm>
        </p:grpSpPr>
        <p:sp>
          <p:nvSpPr>
            <p:cNvPr id="5" name="Freeform 5"/>
            <p:cNvSpPr/>
            <p:nvPr/>
          </p:nvSpPr>
          <p:spPr>
            <a:xfrm>
              <a:off x="-26" y="-20"/>
              <a:ext cx="11604156" cy="16173724"/>
            </a:xfrm>
            <a:custGeom>
              <a:avLst/>
              <a:gdLst/>
              <a:ahLst/>
              <a:cxnLst/>
              <a:rect l="l" t="t" r="r" b="b"/>
              <a:pathLst>
                <a:path w="11604156" h="16173724">
                  <a:moveTo>
                    <a:pt x="7495185" y="157500"/>
                  </a:moveTo>
                  <a:cubicBezTo>
                    <a:pt x="4997984" y="814979"/>
                    <a:pt x="2500783" y="1471823"/>
                    <a:pt x="3455" y="2128540"/>
                  </a:cubicBezTo>
                  <a:cubicBezTo>
                    <a:pt x="-5181" y="2212233"/>
                    <a:pt x="4725" y="2295799"/>
                    <a:pt x="7773" y="2379238"/>
                  </a:cubicBezTo>
                  <a:cubicBezTo>
                    <a:pt x="57430" y="3750457"/>
                    <a:pt x="107849" y="5121549"/>
                    <a:pt x="158268" y="6492768"/>
                  </a:cubicBezTo>
                  <a:cubicBezTo>
                    <a:pt x="208052" y="7842397"/>
                    <a:pt x="258344" y="9192153"/>
                    <a:pt x="308001" y="10542036"/>
                  </a:cubicBezTo>
                  <a:cubicBezTo>
                    <a:pt x="348260" y="11635125"/>
                    <a:pt x="387757" y="12728087"/>
                    <a:pt x="427889" y="13821176"/>
                  </a:cubicBezTo>
                  <a:cubicBezTo>
                    <a:pt x="455956" y="14587875"/>
                    <a:pt x="484531" y="15354447"/>
                    <a:pt x="513106" y="16121273"/>
                  </a:cubicBezTo>
                  <a:cubicBezTo>
                    <a:pt x="513487" y="16131434"/>
                    <a:pt x="512217" y="16141847"/>
                    <a:pt x="513106" y="16152008"/>
                  </a:cubicBezTo>
                  <a:lnTo>
                    <a:pt x="513106" y="16152515"/>
                  </a:lnTo>
                  <a:cubicBezTo>
                    <a:pt x="513360" y="16154801"/>
                    <a:pt x="513614" y="16157087"/>
                    <a:pt x="514122" y="16159500"/>
                  </a:cubicBezTo>
                  <a:lnTo>
                    <a:pt x="515392" y="16164453"/>
                  </a:lnTo>
                  <a:cubicBezTo>
                    <a:pt x="516408" y="16167628"/>
                    <a:pt x="517805" y="16170676"/>
                    <a:pt x="519583" y="16173724"/>
                  </a:cubicBezTo>
                  <a:cubicBezTo>
                    <a:pt x="4200551" y="15205603"/>
                    <a:pt x="7881391" y="14237483"/>
                    <a:pt x="11562614" y="13270123"/>
                  </a:cubicBezTo>
                  <a:cubicBezTo>
                    <a:pt x="11598428" y="13260725"/>
                    <a:pt x="11611509" y="13254121"/>
                    <a:pt x="11600206" y="13211322"/>
                  </a:cubicBezTo>
                  <a:cubicBezTo>
                    <a:pt x="10444379" y="8820805"/>
                    <a:pt x="9289441" y="4429653"/>
                    <a:pt x="8135519" y="38247"/>
                  </a:cubicBezTo>
                  <a:cubicBezTo>
                    <a:pt x="8125613" y="655"/>
                    <a:pt x="8113549" y="-4044"/>
                    <a:pt x="8084592" y="2433"/>
                  </a:cubicBezTo>
                  <a:close/>
                </a:path>
              </a:pathLst>
            </a:custGeom>
            <a:blipFill>
              <a:blip r:embed="rId4"/>
              <a:stretch>
                <a:fillRect l="-8514" t="-10917" r="-16798" b="-5918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6457920">
            <a:off x="4880600" y="4254694"/>
            <a:ext cx="10695003" cy="1777603"/>
            <a:chOff x="0" y="0"/>
            <a:chExt cx="14260004" cy="23701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259942" cy="2370201"/>
            </a:xfrm>
            <a:custGeom>
              <a:avLst/>
              <a:gdLst/>
              <a:ahLst/>
              <a:cxnLst/>
              <a:rect l="l" t="t" r="r" b="b"/>
              <a:pathLst>
                <a:path w="14259942" h="2370201">
                  <a:moveTo>
                    <a:pt x="310642" y="2370201"/>
                  </a:moveTo>
                  <a:lnTo>
                    <a:pt x="9823958" y="1420241"/>
                  </a:lnTo>
                  <a:lnTo>
                    <a:pt x="14259942" y="977265"/>
                  </a:lnTo>
                  <a:lnTo>
                    <a:pt x="13949426" y="0"/>
                  </a:lnTo>
                  <a:lnTo>
                    <a:pt x="0" y="1392809"/>
                  </a:lnTo>
                  <a:close/>
                </a:path>
              </a:pathLst>
            </a:custGeom>
            <a:blipFill>
              <a:blip r:embed="rId5">
                <a:alphaModFix amt="60000"/>
              </a:blip>
              <a:stretch>
                <a:fillRect l="-25856" t="-16418" r="-25851" b="-1641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353860" y="3342276"/>
            <a:ext cx="4678280" cy="6334077"/>
            <a:chOff x="0" y="0"/>
            <a:chExt cx="4678274" cy="63340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78297" cy="6334123"/>
            </a:xfrm>
            <a:custGeom>
              <a:avLst/>
              <a:gdLst/>
              <a:ahLst/>
              <a:cxnLst/>
              <a:rect l="l" t="t" r="r" b="b"/>
              <a:pathLst>
                <a:path w="4678297" h="6334123">
                  <a:moveTo>
                    <a:pt x="0" y="0"/>
                  </a:moveTo>
                  <a:lnTo>
                    <a:pt x="0" y="6334123"/>
                  </a:lnTo>
                  <a:lnTo>
                    <a:pt x="4678297" y="6334123"/>
                  </a:lnTo>
                  <a:lnTo>
                    <a:pt x="467829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608581" y="-587160"/>
            <a:ext cx="7793765" cy="4881743"/>
            <a:chOff x="0" y="0"/>
            <a:chExt cx="7793774" cy="48817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793741" cy="4881750"/>
            </a:xfrm>
            <a:custGeom>
              <a:avLst/>
              <a:gdLst/>
              <a:ahLst/>
              <a:cxnLst/>
              <a:rect l="l" t="t" r="r" b="b"/>
              <a:pathLst>
                <a:path w="7793741" h="4881750">
                  <a:moveTo>
                    <a:pt x="0" y="0"/>
                  </a:moveTo>
                  <a:lnTo>
                    <a:pt x="0" y="4881750"/>
                  </a:lnTo>
                  <a:lnTo>
                    <a:pt x="7793741" y="4881750"/>
                  </a:lnTo>
                  <a:lnTo>
                    <a:pt x="779374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472097" y="914743"/>
            <a:ext cx="6430328" cy="788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5"/>
              </a:lnSpc>
            </a:pPr>
            <a:r>
              <a:rPr lang="en-US" sz="4596" b="1" spc="298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What is the Ziyo App?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2097" y="1917109"/>
            <a:ext cx="9401684" cy="74417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30"/>
              </a:lnSpc>
            </a:pP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ZIYO APP is a digital platform developed by Ziyo Forum for young people aged 15–30 in Uzbekistan.</a:t>
            </a:r>
          </a:p>
          <a:p>
            <a:pPr algn="l">
              <a:lnSpc>
                <a:spcPts val="3130"/>
              </a:lnSpc>
            </a:pPr>
            <a:endParaRPr lang="en-US" sz="2939" spc="208">
              <a:solidFill>
                <a:srgbClr val="191919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l">
              <a:lnSpc>
                <a:spcPts val="3130"/>
              </a:lnSpc>
            </a:pPr>
            <a:r>
              <a:rPr lang="en-US" sz="2939" b="1" spc="208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The platform brings together:</a:t>
            </a:r>
          </a:p>
          <a:p>
            <a:pPr algn="l">
              <a:lnSpc>
                <a:spcPts val="3130"/>
              </a:lnSpc>
            </a:pPr>
            <a:endParaRPr lang="en-US" sz="2939" b="1" spc="208">
              <a:solidFill>
                <a:srgbClr val="191919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  <a:p>
            <a:pPr marL="634563" lvl="1" indent="-317282" algn="l">
              <a:lnSpc>
                <a:spcPts val="3130"/>
              </a:lnSpc>
              <a:buFont typeface="Arial"/>
              <a:buChar char="•"/>
            </a:pP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Free educational and cultural events</a:t>
            </a:r>
          </a:p>
          <a:p>
            <a:pPr marL="634563" lvl="1" indent="-317282" algn="l">
              <a:lnSpc>
                <a:spcPts val="3130"/>
              </a:lnSpc>
              <a:buFont typeface="Arial"/>
              <a:buChar char="•"/>
            </a:pP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Grants, internships and other opportunities</a:t>
            </a:r>
          </a:p>
          <a:p>
            <a:pPr marL="634563" lvl="1" indent="-317282" algn="l">
              <a:lnSpc>
                <a:spcPts val="3130"/>
              </a:lnSpc>
              <a:buFont typeface="Arial"/>
              <a:buChar char="•"/>
            </a:pP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Youth-related news and useful content</a:t>
            </a:r>
          </a:p>
          <a:p>
            <a:pPr marL="634563" lvl="1" indent="-317282" algn="l">
              <a:lnSpc>
                <a:spcPts val="3130"/>
              </a:lnSpc>
              <a:buFont typeface="Arial"/>
              <a:buChar char="•"/>
            </a:pP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Event registration and QR attendance</a:t>
            </a:r>
          </a:p>
          <a:p>
            <a:pPr marL="634563" lvl="1" indent="-317282" algn="l">
              <a:lnSpc>
                <a:spcPts val="3130"/>
              </a:lnSpc>
              <a:buFont typeface="Arial"/>
              <a:buChar char="•"/>
            </a:pP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Ziyo Coin reward system</a:t>
            </a:r>
          </a:p>
          <a:p>
            <a:pPr algn="l">
              <a:lnSpc>
                <a:spcPts val="3130"/>
              </a:lnSpc>
            </a:pPr>
            <a:endParaRPr lang="en-US" sz="2939" spc="208">
              <a:solidFill>
                <a:srgbClr val="191919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l">
              <a:lnSpc>
                <a:spcPts val="3130"/>
              </a:lnSpc>
            </a:pPr>
            <a:r>
              <a:rPr lang="en-US" sz="2939" b="1" spc="208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Launched:</a:t>
            </a: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June 1, 2025</a:t>
            </a:r>
          </a:p>
          <a:p>
            <a:pPr algn="l">
              <a:lnSpc>
                <a:spcPts val="3130"/>
              </a:lnSpc>
            </a:pPr>
            <a:r>
              <a:rPr lang="en-US" sz="2939" b="1" spc="208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Platforms:</a:t>
            </a: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iOS &amp; Android</a:t>
            </a:r>
          </a:p>
          <a:p>
            <a:pPr algn="l">
              <a:lnSpc>
                <a:spcPts val="3130"/>
              </a:lnSpc>
            </a:pPr>
            <a:r>
              <a:rPr lang="en-US" sz="2939" b="1" spc="208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Current focus:</a:t>
            </a: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Uzbekistan</a:t>
            </a:r>
          </a:p>
          <a:p>
            <a:pPr algn="l">
              <a:lnSpc>
                <a:spcPts val="3130"/>
              </a:lnSpc>
            </a:pPr>
            <a:endParaRPr lang="en-US" sz="2939" spc="208">
              <a:solidFill>
                <a:srgbClr val="191919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l">
              <a:lnSpc>
                <a:spcPts val="3130"/>
              </a:lnSpc>
            </a:pPr>
            <a:r>
              <a:rPr lang="en-US" sz="2939" b="1" spc="208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Our vision:</a:t>
            </a:r>
            <a:r>
              <a:rPr lang="en-US" sz="2939" spc="208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to make ZIYO APP the first place young people in Uzbekistan go to find opportunities to learn, develop and participate.</a:t>
            </a:r>
          </a:p>
          <a:p>
            <a:pPr algn="l">
              <a:lnSpc>
                <a:spcPts val="3130"/>
              </a:lnSpc>
            </a:pPr>
            <a:endParaRPr lang="en-US" sz="2939" spc="208">
              <a:solidFill>
                <a:srgbClr val="191919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70316" y="1668244"/>
            <a:ext cx="5126076" cy="8777224"/>
          </a:xfrm>
          <a:custGeom>
            <a:avLst/>
            <a:gdLst/>
            <a:ahLst/>
            <a:cxnLst/>
            <a:rect l="l" t="t" r="r" b="b"/>
            <a:pathLst>
              <a:path w="5126076" h="8777224">
                <a:moveTo>
                  <a:pt x="0" y="0"/>
                </a:moveTo>
                <a:lnTo>
                  <a:pt x="5126076" y="0"/>
                </a:lnTo>
                <a:lnTo>
                  <a:pt x="5126076" y="8777223"/>
                </a:lnTo>
                <a:lnTo>
                  <a:pt x="0" y="87772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429207" y="0"/>
            <a:ext cx="3601349" cy="7641480"/>
          </a:xfrm>
          <a:custGeom>
            <a:avLst/>
            <a:gdLst/>
            <a:ahLst/>
            <a:cxnLst/>
            <a:rect l="l" t="t" r="r" b="b"/>
            <a:pathLst>
              <a:path w="3601349" h="7641480">
                <a:moveTo>
                  <a:pt x="0" y="0"/>
                </a:moveTo>
                <a:lnTo>
                  <a:pt x="3601349" y="0"/>
                </a:lnTo>
                <a:lnTo>
                  <a:pt x="3601349" y="7641480"/>
                </a:lnTo>
                <a:lnTo>
                  <a:pt x="0" y="76414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67073" y="2477890"/>
            <a:ext cx="11530394" cy="2106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ZIYO APP is not only an information platform. It connects the full user journey:</a:t>
            </a:r>
          </a:p>
          <a:p>
            <a:pPr algn="l">
              <a:lnSpc>
                <a:spcPts val="3373"/>
              </a:lnSpc>
            </a:pPr>
            <a:endParaRPr lang="en-US" sz="2943" spc="209">
              <a:solidFill>
                <a:srgbClr val="1A1A1A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l">
              <a:lnSpc>
                <a:spcPts val="3373"/>
              </a:lnSpc>
            </a:pP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DISCOVER → REGISTER → PARTICIPATE → EARN → REPEAT</a:t>
            </a:r>
          </a:p>
          <a:p>
            <a:pPr algn="l">
              <a:lnSpc>
                <a:spcPts val="3373"/>
              </a:lnSpc>
            </a:pPr>
            <a:endParaRPr lang="en-US" sz="2943" b="1" spc="209">
              <a:solidFill>
                <a:srgbClr val="1A1A1A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967073" y="4567404"/>
            <a:ext cx="12947299" cy="545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What users can do:</a:t>
            </a:r>
          </a:p>
          <a:p>
            <a:pPr marL="635556" lvl="1" indent="-317778" algn="l">
              <a:lnSpc>
                <a:spcPts val="3373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Discover free opportunities</a:t>
            </a:r>
          </a:p>
          <a:p>
            <a:pPr marL="635556" lvl="1" indent="-317778" algn="l">
              <a:lnSpc>
                <a:spcPts val="3373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Register directly through the app</a:t>
            </a:r>
          </a:p>
          <a:p>
            <a:pPr marL="635556" lvl="1" indent="-317778" algn="l">
              <a:lnSpc>
                <a:spcPts val="3373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Confirm attendance through QR</a:t>
            </a:r>
          </a:p>
          <a:p>
            <a:pPr marL="635556" lvl="1" indent="-317778" algn="l">
              <a:lnSpc>
                <a:spcPts val="3373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Earn Ziyo Coin</a:t>
            </a:r>
          </a:p>
          <a:p>
            <a:pPr marL="635556" lvl="1" indent="-317778" algn="l">
              <a:lnSpc>
                <a:spcPts val="3373"/>
              </a:lnSpc>
              <a:buFont typeface="Arial"/>
              <a:buChar char="•"/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Exchange Coin for rewards</a:t>
            </a:r>
          </a:p>
          <a:p>
            <a:pPr algn="l">
              <a:lnSpc>
                <a:spcPts val="3373"/>
              </a:lnSpc>
            </a:pPr>
            <a:endParaRPr lang="en-US" sz="2943" spc="209">
              <a:solidFill>
                <a:srgbClr val="1A1A1A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l">
              <a:lnSpc>
                <a:spcPts val="3373"/>
              </a:lnSpc>
            </a:pP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Our core value proposition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One focused platform for free opportunities for young people — with participation and motivation built into the same experience.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The platform currently focuses on education, personal development, culture and youth careers, rather than paid commercial events.</a:t>
            </a:r>
          </a:p>
          <a:p>
            <a:pPr algn="l">
              <a:lnSpc>
                <a:spcPts val="3373"/>
              </a:lnSpc>
            </a:pPr>
            <a:endParaRPr lang="en-US" sz="2943" spc="209">
              <a:solidFill>
                <a:srgbClr val="1A1A1A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11503"/>
            <a:ext cx="11019234" cy="837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6"/>
              </a:lnSpc>
            </a:pPr>
            <a:r>
              <a:rPr lang="en-US" sz="4897" b="1" spc="318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WHAT MAKES ZIYO APP DIFFERENT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67073" y="1592044"/>
            <a:ext cx="11204914" cy="64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4"/>
              </a:lnSpc>
              <a:spcBef>
                <a:spcPct val="0"/>
              </a:spcBef>
            </a:pPr>
            <a:r>
              <a:rPr lang="en-US" sz="3731" b="1" spc="242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From discovering opportunities to taking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22034" y="1963407"/>
            <a:ext cx="4933463" cy="8447418"/>
          </a:xfrm>
          <a:custGeom>
            <a:avLst/>
            <a:gdLst/>
            <a:ahLst/>
            <a:cxnLst/>
            <a:rect l="l" t="t" r="r" b="b"/>
            <a:pathLst>
              <a:path w="4933463" h="8447418">
                <a:moveTo>
                  <a:pt x="0" y="0"/>
                </a:moveTo>
                <a:lnTo>
                  <a:pt x="4933463" y="0"/>
                </a:lnTo>
                <a:lnTo>
                  <a:pt x="4933463" y="8447418"/>
                </a:lnTo>
                <a:lnTo>
                  <a:pt x="0" y="84474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053424" y="-66551"/>
            <a:ext cx="3301127" cy="7004456"/>
          </a:xfrm>
          <a:custGeom>
            <a:avLst/>
            <a:gdLst/>
            <a:ahLst/>
            <a:cxnLst/>
            <a:rect l="l" t="t" r="r" b="b"/>
            <a:pathLst>
              <a:path w="3301127" h="7004456">
                <a:moveTo>
                  <a:pt x="0" y="0"/>
                </a:moveTo>
                <a:lnTo>
                  <a:pt x="3301127" y="0"/>
                </a:lnTo>
                <a:lnTo>
                  <a:pt x="3301127" y="7004456"/>
                </a:lnTo>
                <a:lnTo>
                  <a:pt x="0" y="7004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611429" y="1972932"/>
            <a:ext cx="11530394" cy="2525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Since launching in June 2025, we have built the core product and operating model.</a:t>
            </a:r>
          </a:p>
          <a:p>
            <a:pPr algn="l">
              <a:lnSpc>
                <a:spcPts val="3373"/>
              </a:lnSpc>
            </a:pPr>
            <a:endParaRPr lang="en-US" sz="2943" spc="209">
              <a:solidFill>
                <a:srgbClr val="1A1A1A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l">
              <a:lnSpc>
                <a:spcPts val="3373"/>
              </a:lnSpc>
            </a:pP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Key achievements:</a:t>
            </a:r>
          </a:p>
          <a:p>
            <a:pPr algn="l">
              <a:lnSpc>
                <a:spcPts val="3373"/>
              </a:lnSpc>
            </a:pPr>
            <a:endParaRPr lang="en-US" sz="2943" b="1" spc="209">
              <a:solidFill>
                <a:srgbClr val="1A1A1A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  <a:p>
            <a:pPr algn="l">
              <a:lnSpc>
                <a:spcPts val="3373"/>
              </a:lnSpc>
            </a:pPr>
            <a:endParaRPr lang="en-US" sz="2943" b="1" spc="209">
              <a:solidFill>
                <a:srgbClr val="1A1A1A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11429" y="3833007"/>
            <a:ext cx="16676571" cy="6716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📱 Launched on iOS and Android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👤 Built phone/SMS registration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📅 Developed the core event discovery and registration system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📲 Introduced QR self check-in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🪙 Created the Ziyo Coin reward system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🎁 Launched the reward store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🔔 Introduced pre-event push notifications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🎓 Added grants and other opportunities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📰 Developed news and Stories sections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🤝 Established initial partnerships with Conect, Human House, Khokimiyat and Women in Tech</a:t>
            </a:r>
          </a:p>
          <a:p>
            <a:pPr algn="l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~1,500 registrations were reached before the major server migration incident in summer 2026. </a:t>
            </a: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Important:</a:t>
            </a: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 the 1,500 figure is a historical registration figure. After the migration incident, the current active base is approximately 50 users.</a:t>
            </a:r>
          </a:p>
          <a:p>
            <a:pPr algn="l">
              <a:lnSpc>
                <a:spcPts val="3373"/>
              </a:lnSpc>
            </a:pPr>
            <a:endParaRPr lang="en-US" sz="2943" spc="209">
              <a:solidFill>
                <a:srgbClr val="1A1A1A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l">
              <a:lnSpc>
                <a:spcPts val="3373"/>
              </a:lnSpc>
            </a:pPr>
            <a:endParaRPr lang="en-US" sz="2943" spc="209">
              <a:solidFill>
                <a:srgbClr val="1A1A1A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311503"/>
            <a:ext cx="8418909" cy="837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6"/>
              </a:lnSpc>
            </a:pPr>
            <a:r>
              <a:rPr lang="en-US" sz="4897" b="1" spc="318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WHAT WE HAVE ACHIEVED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83015" y="1072931"/>
            <a:ext cx="10533399" cy="641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24"/>
              </a:lnSpc>
              <a:spcBef>
                <a:spcPct val="0"/>
              </a:spcBef>
            </a:pPr>
            <a:r>
              <a:rPr lang="en-US" sz="3731" b="1" spc="242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From an idea to a functioning digital product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53424" y="-66551"/>
            <a:ext cx="3301127" cy="7004456"/>
          </a:xfrm>
          <a:custGeom>
            <a:avLst/>
            <a:gdLst/>
            <a:ahLst/>
            <a:cxnLst/>
            <a:rect l="l" t="t" r="r" b="b"/>
            <a:pathLst>
              <a:path w="3301127" h="7004456">
                <a:moveTo>
                  <a:pt x="0" y="0"/>
                </a:moveTo>
                <a:lnTo>
                  <a:pt x="3301127" y="0"/>
                </a:lnTo>
                <a:lnTo>
                  <a:pt x="3301127" y="7004456"/>
                </a:lnTo>
                <a:lnTo>
                  <a:pt x="0" y="7004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3797532" y="1149131"/>
          <a:ext cx="10692936" cy="6591300"/>
        </p:xfrm>
        <a:graphic>
          <a:graphicData uri="http://schemas.openxmlformats.org/drawingml/2006/table">
            <a:tbl>
              <a:tblPr/>
              <a:tblGrid>
                <a:gridCol w="5346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6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391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T Chocolates Bold"/>
                          <a:ea typeface="TT Chocolates Bold"/>
                          <a:cs typeface="TT Chocolates Bold"/>
                          <a:sym typeface="TT Chocolates Bold"/>
                        </a:rPr>
                        <a:t>Area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TT Chocolates Bold"/>
                          <a:ea typeface="TT Chocolates Bold"/>
                          <a:cs typeface="TT Chocolates Bold"/>
                          <a:sym typeface="TT Chocolates Bold"/>
                        </a:rPr>
                        <a:t>Current status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Mobile application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Live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Active users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~50 after migration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Historical registrations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~1,500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Social media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2–3 posts/week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Grants &amp; opportunities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2–3 publications/week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Recent partner activation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2 Human House events in September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391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Analytics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TT Chocolates"/>
                          <a:ea typeface="TT Chocolates"/>
                          <a:cs typeface="TT Chocolates"/>
                          <a:sym typeface="TT Chocolates"/>
                        </a:rPr>
                        <a:t>Not yet standardized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5534442" y="191072"/>
            <a:ext cx="7219117" cy="837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6"/>
              </a:lnSpc>
            </a:pPr>
            <a:r>
              <a:rPr lang="en-US" sz="4897" b="1" spc="318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WHERE WE ARE TODAY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97532" y="7993063"/>
            <a:ext cx="10692936" cy="247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Our main challenge </a:t>
            </a: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- The platform needs a consistent flow of opportunities + a growing active audience.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This creates a growth loop: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More opportunities → more users → more value for partners → more partners → more opportunities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Breaking this cycle is currently one of our biggest strategic priorities.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6" name="Freeform 6"/>
          <p:cNvSpPr/>
          <p:nvPr/>
        </p:nvSpPr>
        <p:spPr>
          <a:xfrm rot="-10800000">
            <a:off x="-952837" y="2317059"/>
            <a:ext cx="3301127" cy="7004456"/>
          </a:xfrm>
          <a:custGeom>
            <a:avLst/>
            <a:gdLst/>
            <a:ahLst/>
            <a:cxnLst/>
            <a:rect l="l" t="t" r="r" b="b"/>
            <a:pathLst>
              <a:path w="3301127" h="7004456">
                <a:moveTo>
                  <a:pt x="0" y="0"/>
                </a:moveTo>
                <a:lnTo>
                  <a:pt x="3301127" y="0"/>
                </a:lnTo>
                <a:lnTo>
                  <a:pt x="3301127" y="7004457"/>
                </a:lnTo>
                <a:lnTo>
                  <a:pt x="0" y="7004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25073" y="4971911"/>
            <a:ext cx="4410732" cy="6187135"/>
          </a:xfrm>
          <a:custGeom>
            <a:avLst/>
            <a:gdLst/>
            <a:ahLst/>
            <a:cxnLst/>
            <a:rect l="l" t="t" r="r" b="b"/>
            <a:pathLst>
              <a:path w="4410732" h="6187135">
                <a:moveTo>
                  <a:pt x="0" y="0"/>
                </a:moveTo>
                <a:lnTo>
                  <a:pt x="4410732" y="0"/>
                </a:lnTo>
                <a:lnTo>
                  <a:pt x="4410732" y="6187135"/>
                </a:lnTo>
                <a:lnTo>
                  <a:pt x="0" y="61871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60928" y="-1727664"/>
            <a:ext cx="7547753" cy="4819860"/>
          </a:xfrm>
          <a:custGeom>
            <a:avLst/>
            <a:gdLst/>
            <a:ahLst/>
            <a:cxnLst/>
            <a:rect l="l" t="t" r="r" b="b"/>
            <a:pathLst>
              <a:path w="7547753" h="4819860">
                <a:moveTo>
                  <a:pt x="0" y="0"/>
                </a:moveTo>
                <a:lnTo>
                  <a:pt x="7547753" y="0"/>
                </a:lnTo>
                <a:lnTo>
                  <a:pt x="7547753" y="4819860"/>
                </a:lnTo>
                <a:lnTo>
                  <a:pt x="0" y="48198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884160">
            <a:off x="10637472" y="-636661"/>
            <a:ext cx="8703316" cy="12130230"/>
            <a:chOff x="0" y="0"/>
            <a:chExt cx="11604422" cy="16173641"/>
          </a:xfrm>
        </p:grpSpPr>
        <p:sp>
          <p:nvSpPr>
            <p:cNvPr id="5" name="Freeform 5"/>
            <p:cNvSpPr/>
            <p:nvPr/>
          </p:nvSpPr>
          <p:spPr>
            <a:xfrm>
              <a:off x="-26" y="-20"/>
              <a:ext cx="11604156" cy="16173724"/>
            </a:xfrm>
            <a:custGeom>
              <a:avLst/>
              <a:gdLst/>
              <a:ahLst/>
              <a:cxnLst/>
              <a:rect l="l" t="t" r="r" b="b"/>
              <a:pathLst>
                <a:path w="11604156" h="16173724">
                  <a:moveTo>
                    <a:pt x="7495185" y="157500"/>
                  </a:moveTo>
                  <a:cubicBezTo>
                    <a:pt x="4997984" y="814979"/>
                    <a:pt x="2500783" y="1471823"/>
                    <a:pt x="3455" y="2128540"/>
                  </a:cubicBezTo>
                  <a:cubicBezTo>
                    <a:pt x="-5181" y="2212233"/>
                    <a:pt x="4725" y="2295799"/>
                    <a:pt x="7773" y="2379238"/>
                  </a:cubicBezTo>
                  <a:cubicBezTo>
                    <a:pt x="57430" y="3750457"/>
                    <a:pt x="107849" y="5121549"/>
                    <a:pt x="158268" y="6492768"/>
                  </a:cubicBezTo>
                  <a:cubicBezTo>
                    <a:pt x="208052" y="7842397"/>
                    <a:pt x="258344" y="9192153"/>
                    <a:pt x="308001" y="10542036"/>
                  </a:cubicBezTo>
                  <a:cubicBezTo>
                    <a:pt x="348260" y="11635125"/>
                    <a:pt x="387757" y="12728087"/>
                    <a:pt x="427889" y="13821176"/>
                  </a:cubicBezTo>
                  <a:cubicBezTo>
                    <a:pt x="455956" y="14587875"/>
                    <a:pt x="484531" y="15354447"/>
                    <a:pt x="513106" y="16121273"/>
                  </a:cubicBezTo>
                  <a:cubicBezTo>
                    <a:pt x="513487" y="16131434"/>
                    <a:pt x="512217" y="16141847"/>
                    <a:pt x="513106" y="16152008"/>
                  </a:cubicBezTo>
                  <a:lnTo>
                    <a:pt x="513106" y="16152515"/>
                  </a:lnTo>
                  <a:cubicBezTo>
                    <a:pt x="513360" y="16154801"/>
                    <a:pt x="513614" y="16157087"/>
                    <a:pt x="514122" y="16159500"/>
                  </a:cubicBezTo>
                  <a:lnTo>
                    <a:pt x="515392" y="16164453"/>
                  </a:lnTo>
                  <a:cubicBezTo>
                    <a:pt x="516408" y="16167628"/>
                    <a:pt x="517805" y="16170676"/>
                    <a:pt x="519583" y="16173724"/>
                  </a:cubicBezTo>
                  <a:cubicBezTo>
                    <a:pt x="4200551" y="15205603"/>
                    <a:pt x="7881391" y="14237483"/>
                    <a:pt x="11562614" y="13270123"/>
                  </a:cubicBezTo>
                  <a:cubicBezTo>
                    <a:pt x="11598428" y="13260725"/>
                    <a:pt x="11611509" y="13254121"/>
                    <a:pt x="11600206" y="13211322"/>
                  </a:cubicBezTo>
                  <a:cubicBezTo>
                    <a:pt x="10444379" y="8820805"/>
                    <a:pt x="9289441" y="4429653"/>
                    <a:pt x="8135519" y="38247"/>
                  </a:cubicBezTo>
                  <a:cubicBezTo>
                    <a:pt x="8125613" y="655"/>
                    <a:pt x="8113549" y="-4044"/>
                    <a:pt x="8084592" y="2433"/>
                  </a:cubicBezTo>
                  <a:close/>
                </a:path>
              </a:pathLst>
            </a:custGeom>
            <a:blipFill>
              <a:blip r:embed="rId4"/>
              <a:stretch>
                <a:fillRect l="-8514" t="-10917" r="-16798" b="-59184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 rot="6457920">
            <a:off x="4880600" y="4254694"/>
            <a:ext cx="10695003" cy="1777603"/>
            <a:chOff x="0" y="0"/>
            <a:chExt cx="14260004" cy="23701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259942" cy="2370201"/>
            </a:xfrm>
            <a:custGeom>
              <a:avLst/>
              <a:gdLst/>
              <a:ahLst/>
              <a:cxnLst/>
              <a:rect l="l" t="t" r="r" b="b"/>
              <a:pathLst>
                <a:path w="14259942" h="2370201">
                  <a:moveTo>
                    <a:pt x="310642" y="2370201"/>
                  </a:moveTo>
                  <a:lnTo>
                    <a:pt x="9823958" y="1420241"/>
                  </a:lnTo>
                  <a:lnTo>
                    <a:pt x="14259942" y="977265"/>
                  </a:lnTo>
                  <a:lnTo>
                    <a:pt x="13949426" y="0"/>
                  </a:lnTo>
                  <a:lnTo>
                    <a:pt x="0" y="1392809"/>
                  </a:lnTo>
                  <a:close/>
                </a:path>
              </a:pathLst>
            </a:custGeom>
            <a:blipFill>
              <a:blip r:embed="rId5">
                <a:alphaModFix amt="60000"/>
              </a:blip>
              <a:stretch>
                <a:fillRect l="-25856" t="-16418" r="-25851" b="-1641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-540188" y="9744123"/>
            <a:ext cx="2577160" cy="3489302"/>
            <a:chOff x="0" y="0"/>
            <a:chExt cx="4678274" cy="63340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78297" cy="6334123"/>
            </a:xfrm>
            <a:custGeom>
              <a:avLst/>
              <a:gdLst/>
              <a:ahLst/>
              <a:cxnLst/>
              <a:rect l="l" t="t" r="r" b="b"/>
              <a:pathLst>
                <a:path w="4678297" h="6334123">
                  <a:moveTo>
                    <a:pt x="0" y="0"/>
                  </a:moveTo>
                  <a:lnTo>
                    <a:pt x="0" y="6334123"/>
                  </a:lnTo>
                  <a:lnTo>
                    <a:pt x="4678297" y="6334123"/>
                  </a:lnTo>
                  <a:lnTo>
                    <a:pt x="467829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101796" y="4758896"/>
            <a:ext cx="7793765" cy="4881743"/>
            <a:chOff x="0" y="0"/>
            <a:chExt cx="7793774" cy="48817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793741" cy="4881750"/>
            </a:xfrm>
            <a:custGeom>
              <a:avLst/>
              <a:gdLst/>
              <a:ahLst/>
              <a:cxnLst/>
              <a:rect l="l" t="t" r="r" b="b"/>
              <a:pathLst>
                <a:path w="7793741" h="4881750">
                  <a:moveTo>
                    <a:pt x="0" y="0"/>
                  </a:moveTo>
                  <a:lnTo>
                    <a:pt x="0" y="4881750"/>
                  </a:lnTo>
                  <a:lnTo>
                    <a:pt x="7793741" y="4881750"/>
                  </a:lnTo>
                  <a:lnTo>
                    <a:pt x="779374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472097" y="587016"/>
            <a:ext cx="7788831" cy="788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5"/>
              </a:lnSpc>
            </a:pPr>
            <a:r>
              <a:rPr lang="en-US" sz="4596" b="1" spc="298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WHAT WE NEED TO SOLVE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2097" y="1910211"/>
            <a:ext cx="9941872" cy="7223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95"/>
              </a:lnSpc>
            </a:pPr>
            <a:r>
              <a:rPr lang="en-US" sz="3000" b="1" spc="21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Our key strategic challenges</a:t>
            </a:r>
          </a:p>
          <a:p>
            <a:pPr algn="just">
              <a:lnSpc>
                <a:spcPts val="3195"/>
              </a:lnSpc>
            </a:pPr>
            <a:endParaRPr lang="en-US" sz="3000" b="1" spc="213">
              <a:solidFill>
                <a:srgbClr val="191919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  <a:p>
            <a:pPr algn="just">
              <a:lnSpc>
                <a:spcPts val="3195"/>
              </a:lnSpc>
            </a:pPr>
            <a:r>
              <a:rPr lang="en-US" sz="3000" b="1" spc="21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1. User Growth</a:t>
            </a:r>
            <a:r>
              <a:rPr lang="en-US" sz="3000" spc="21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3000" b="1" spc="21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-</a:t>
            </a:r>
            <a:r>
              <a:rPr lang="en-US" sz="3000" spc="21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Rebuild and grow the active user base after the server incident.</a:t>
            </a:r>
          </a:p>
          <a:p>
            <a:pPr algn="just">
              <a:lnSpc>
                <a:spcPts val="3195"/>
              </a:lnSpc>
            </a:pPr>
            <a:r>
              <a:rPr lang="en-US" sz="3000" b="1" spc="21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2. Partner Network - </a:t>
            </a:r>
            <a:r>
              <a:rPr lang="en-US" sz="3000" spc="21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Move from individual manual outreach towards a scalable partner acquisition model.</a:t>
            </a:r>
          </a:p>
          <a:p>
            <a:pPr algn="just">
              <a:lnSpc>
                <a:spcPts val="3195"/>
              </a:lnSpc>
            </a:pPr>
            <a:r>
              <a:rPr lang="en-US" sz="3000" b="1" spc="21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3. Content Supply - </a:t>
            </a:r>
            <a:r>
              <a:rPr lang="en-US" sz="3000" spc="21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Ensure a stable and diverse flow of events, grants, internships and other opportunities.</a:t>
            </a:r>
          </a:p>
          <a:p>
            <a:pPr algn="just">
              <a:lnSpc>
                <a:spcPts val="3195"/>
              </a:lnSpc>
            </a:pPr>
            <a:r>
              <a:rPr lang="en-US" sz="3000" b="1" spc="21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4. Product &amp; User Experience -</a:t>
            </a:r>
            <a:r>
              <a:rPr lang="en-US" sz="3000" spc="21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Make ZIYO APP more engaging and encourage users to return regularly.</a:t>
            </a:r>
          </a:p>
          <a:p>
            <a:pPr algn="just">
              <a:lnSpc>
                <a:spcPts val="3195"/>
              </a:lnSpc>
            </a:pPr>
            <a:r>
              <a:rPr lang="en-US" sz="3000" b="1" spc="21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5. Data &amp; Analytics - </a:t>
            </a:r>
            <a:r>
              <a:rPr lang="en-US" sz="3000" spc="21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Introduce clear KPIs and regular reporting to understand what drives growth.</a:t>
            </a:r>
          </a:p>
          <a:p>
            <a:pPr algn="just">
              <a:lnSpc>
                <a:spcPts val="3195"/>
              </a:lnSpc>
            </a:pPr>
            <a:r>
              <a:rPr lang="en-US" sz="3000" b="1" spc="213">
                <a:solidFill>
                  <a:srgbClr val="191919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6. Operational Scalability -</a:t>
            </a:r>
            <a:r>
              <a:rPr lang="en-US" sz="3000" spc="213">
                <a:solidFill>
                  <a:srgbClr val="191919"/>
                </a:solidFill>
                <a:latin typeface="TT Chocolates"/>
                <a:ea typeface="TT Chocolates"/>
                <a:cs typeface="TT Chocolates"/>
                <a:sym typeface="TT Chocolates"/>
              </a:rPr>
              <a:t> Standardize cooperation between content, IT, SMM, partners and event venues.</a:t>
            </a:r>
          </a:p>
          <a:p>
            <a:pPr algn="just">
              <a:lnSpc>
                <a:spcPts val="3195"/>
              </a:lnSpc>
            </a:pPr>
            <a:endParaRPr lang="en-US" sz="3000" spc="213">
              <a:solidFill>
                <a:srgbClr val="191919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91488" y="2436370"/>
            <a:ext cx="4886690" cy="8367331"/>
          </a:xfrm>
          <a:custGeom>
            <a:avLst/>
            <a:gdLst/>
            <a:ahLst/>
            <a:cxnLst/>
            <a:rect l="l" t="t" r="r" b="b"/>
            <a:pathLst>
              <a:path w="4886690" h="8367331">
                <a:moveTo>
                  <a:pt x="0" y="0"/>
                </a:moveTo>
                <a:lnTo>
                  <a:pt x="4886690" y="0"/>
                </a:lnTo>
                <a:lnTo>
                  <a:pt x="4886690" y="8367331"/>
                </a:lnTo>
                <a:lnTo>
                  <a:pt x="0" y="83673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144061" y="-2814463"/>
            <a:ext cx="3301127" cy="7004456"/>
          </a:xfrm>
          <a:custGeom>
            <a:avLst/>
            <a:gdLst/>
            <a:ahLst/>
            <a:cxnLst/>
            <a:rect l="l" t="t" r="r" b="b"/>
            <a:pathLst>
              <a:path w="3301127" h="7004456">
                <a:moveTo>
                  <a:pt x="0" y="0"/>
                </a:moveTo>
                <a:lnTo>
                  <a:pt x="3301127" y="0"/>
                </a:lnTo>
                <a:lnTo>
                  <a:pt x="3301127" y="7004456"/>
                </a:lnTo>
                <a:lnTo>
                  <a:pt x="0" y="7004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78803" y="2445895"/>
            <a:ext cx="11530394" cy="8488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3"/>
              </a:lnSpc>
            </a:pP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We see the SAP collaboration as an opportunity to move from building the product → building a scalable growth model.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78803" y="3668525"/>
            <a:ext cx="14192079" cy="6297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73"/>
              </a:lnSpc>
            </a:pP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We expect SAP expertise to help us:</a:t>
            </a:r>
          </a:p>
          <a:p>
            <a:pPr algn="just">
              <a:lnSpc>
                <a:spcPts val="3373"/>
              </a:lnSpc>
            </a:pP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1) Define our Growth Strategy</a:t>
            </a: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-</a:t>
            </a: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 Identify the most effective ways to attract, activate and retain young users.</a:t>
            </a:r>
          </a:p>
          <a:p>
            <a:pPr algn="just">
              <a:lnSpc>
                <a:spcPts val="3373"/>
              </a:lnSpc>
            </a:pP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2) Improve the Product &amp; UX</a:t>
            </a: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-</a:t>
            </a: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 Identify the most important product and user-experience improvements.</a:t>
            </a:r>
          </a:p>
          <a:p>
            <a:pPr algn="just">
              <a:lnSpc>
                <a:spcPts val="3373"/>
              </a:lnSpc>
            </a:pP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3) Build a Partner Strategy -</a:t>
            </a: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 Develop a scalable approach to acquiring and managing universities, companies, NGOs, cultural institutions and other partners.</a:t>
            </a:r>
          </a:p>
          <a:p>
            <a:pPr algn="just">
              <a:lnSpc>
                <a:spcPts val="3373"/>
              </a:lnSpc>
            </a:pP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4) Establish Analytics &amp; KPIs - </a:t>
            </a: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Define the metrics and dashboards needed to manage growth based on data.</a:t>
            </a:r>
          </a:p>
          <a:p>
            <a:pPr algn="just">
              <a:lnSpc>
                <a:spcPts val="3373"/>
              </a:lnSpc>
            </a:pP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5) Create an Operating Model -</a:t>
            </a: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 Make our internal processes more structured and scalable.</a:t>
            </a:r>
          </a:p>
          <a:p>
            <a:pPr algn="just">
              <a:lnSpc>
                <a:spcPts val="3373"/>
              </a:lnSpc>
            </a:pPr>
            <a:r>
              <a:rPr lang="en-US" sz="2943" b="1" spc="209">
                <a:solidFill>
                  <a:srgbClr val="1A1A1A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6) Build a 3-Year Roadmap - </a:t>
            </a:r>
            <a:r>
              <a:rPr lang="en-US" sz="2943" spc="209">
                <a:solidFill>
                  <a:srgbClr val="1A1A1A"/>
                </a:solidFill>
                <a:latin typeface="TT Chocolates"/>
                <a:ea typeface="TT Chocolates"/>
                <a:cs typeface="TT Chocolates"/>
                <a:sym typeface="TT Chocolates"/>
              </a:rPr>
              <a:t>Translate all findings into clear priorities, responsibilities and milestones.</a:t>
            </a:r>
          </a:p>
          <a:p>
            <a:pPr algn="just">
              <a:lnSpc>
                <a:spcPts val="3373"/>
              </a:lnSpc>
            </a:pPr>
            <a:endParaRPr lang="en-US" sz="2943" spc="209">
              <a:solidFill>
                <a:srgbClr val="1A1A1A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600873" y="562261"/>
            <a:ext cx="9086255" cy="837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6"/>
              </a:lnSpc>
            </a:pPr>
            <a:r>
              <a:rPr lang="en-US" sz="4897" b="1" spc="318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WHAT WE EXPECT FROM SAP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29959" y="381091"/>
            <a:ext cx="4287535" cy="9097456"/>
          </a:xfrm>
          <a:custGeom>
            <a:avLst/>
            <a:gdLst/>
            <a:ahLst/>
            <a:cxnLst/>
            <a:rect l="l" t="t" r="r" b="b"/>
            <a:pathLst>
              <a:path w="4287535" h="9097456">
                <a:moveTo>
                  <a:pt x="0" y="0"/>
                </a:moveTo>
                <a:lnTo>
                  <a:pt x="4287536" y="0"/>
                </a:lnTo>
                <a:lnTo>
                  <a:pt x="4287536" y="9097455"/>
                </a:lnTo>
                <a:lnTo>
                  <a:pt x="0" y="90974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11068" y="149578"/>
            <a:ext cx="7865864" cy="837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6"/>
              </a:lnSpc>
            </a:pPr>
            <a:r>
              <a:rPr lang="en-US" sz="4897" b="1" spc="318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WHERE WE WANT TO GO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55602" y="1413772"/>
            <a:ext cx="8976795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We want ZIYO APP to become:</a:t>
            </a:r>
          </a:p>
          <a:p>
            <a:pPr algn="ctr">
              <a:lnSpc>
                <a:spcPts val="3499"/>
              </a:lnSpc>
            </a:pPr>
            <a:endParaRPr lang="en-US" sz="2499" b="1">
              <a:solidFill>
                <a:srgbClr val="000000"/>
              </a:solidFill>
              <a:latin typeface="TT Chocolates Bold"/>
              <a:ea typeface="TT Chocolates Bold"/>
              <a:cs typeface="TT Chocolates Bold"/>
              <a:sym typeface="TT Chocolates Bold"/>
            </a:endParaR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The leading platform in Uzbekistan connecting young people with free educational, cultural and career opportunities.</a:t>
            </a:r>
          </a:p>
          <a:p>
            <a:pPr algn="ctr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5" name="Freeform 5"/>
          <p:cNvSpPr/>
          <p:nvPr/>
        </p:nvSpPr>
        <p:spPr>
          <a:xfrm rot="-10800000">
            <a:off x="-1540513" y="2317059"/>
            <a:ext cx="3888804" cy="8251411"/>
          </a:xfrm>
          <a:custGeom>
            <a:avLst/>
            <a:gdLst/>
            <a:ahLst/>
            <a:cxnLst/>
            <a:rect l="l" t="t" r="r" b="b"/>
            <a:pathLst>
              <a:path w="3888804" h="8251411">
                <a:moveTo>
                  <a:pt x="0" y="0"/>
                </a:moveTo>
                <a:lnTo>
                  <a:pt x="3888803" y="0"/>
                </a:lnTo>
                <a:lnTo>
                  <a:pt x="3888803" y="8251411"/>
                </a:lnTo>
                <a:lnTo>
                  <a:pt x="0" y="82514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144000" y="3886730"/>
            <a:ext cx="6790524" cy="348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2027 - Grow &amp; Engage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Expand to new cities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Build local partner networks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Launch competitions and exclusive events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Develop gamification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Expand the Ziyo Coin ecosystem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Grow the ambassador network</a:t>
            </a:r>
          </a:p>
          <a:p>
            <a:pPr algn="l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281478" y="3886730"/>
            <a:ext cx="6345428" cy="305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2026 - Stabilize &amp; Reactivate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Recover the active user base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Expand the partner network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Establish analytics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Improve operational processes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Increase the flow of opportunities</a:t>
            </a:r>
          </a:p>
          <a:p>
            <a:pPr algn="ctr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671114" y="7233180"/>
            <a:ext cx="7911584" cy="261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Long-term - Scale the ecosystem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Strong national partner network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Active returning user base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Sustainable operating model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More opportunities for young people across Uzbekistan</a:t>
            </a:r>
          </a:p>
          <a:p>
            <a:pPr algn="ctr">
              <a:lnSpc>
                <a:spcPts val="3499"/>
              </a:lnSpc>
            </a:pPr>
            <a:endParaRPr lang="en-US" sz="2499">
              <a:solidFill>
                <a:srgbClr val="00000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53424" y="-66551"/>
            <a:ext cx="3301127" cy="7004456"/>
          </a:xfrm>
          <a:custGeom>
            <a:avLst/>
            <a:gdLst/>
            <a:ahLst/>
            <a:cxnLst/>
            <a:rect l="l" t="t" r="r" b="b"/>
            <a:pathLst>
              <a:path w="3301127" h="7004456">
                <a:moveTo>
                  <a:pt x="0" y="0"/>
                </a:moveTo>
                <a:lnTo>
                  <a:pt x="3301127" y="0"/>
                </a:lnTo>
                <a:lnTo>
                  <a:pt x="3301127" y="7004456"/>
                </a:lnTo>
                <a:lnTo>
                  <a:pt x="0" y="70044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15558" y="3940175"/>
            <a:ext cx="11256884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1" spc="454">
                <a:solidFill>
                  <a:srgbClr val="17C41E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THANK YOU VERY MUCH!</a:t>
            </a:r>
          </a:p>
        </p:txBody>
      </p:sp>
      <p:sp>
        <p:nvSpPr>
          <p:cNvPr id="4" name="Freeform 4"/>
          <p:cNvSpPr/>
          <p:nvPr/>
        </p:nvSpPr>
        <p:spPr>
          <a:xfrm rot="-10800000">
            <a:off x="-952837" y="2317059"/>
            <a:ext cx="3301127" cy="7004456"/>
          </a:xfrm>
          <a:custGeom>
            <a:avLst/>
            <a:gdLst/>
            <a:ahLst/>
            <a:cxnLst/>
            <a:rect l="l" t="t" r="r" b="b"/>
            <a:pathLst>
              <a:path w="3301127" h="7004456">
                <a:moveTo>
                  <a:pt x="0" y="0"/>
                </a:moveTo>
                <a:lnTo>
                  <a:pt x="3301127" y="0"/>
                </a:lnTo>
                <a:lnTo>
                  <a:pt x="3301127" y="7004457"/>
                </a:lnTo>
                <a:lnTo>
                  <a:pt x="0" y="70044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382BC52CB2D4794C5FE8ABF2F1E6D" ma:contentTypeVersion="3" ma:contentTypeDescription="Create a new document." ma:contentTypeScope="" ma:versionID="ed54e04a49fcfd3c8f6e4000ef45d6b6">
  <xsd:schema xmlns:xsd="http://www.w3.org/2001/XMLSchema" xmlns:xs="http://www.w3.org/2001/XMLSchema" xmlns:p="http://schemas.microsoft.com/office/2006/metadata/properties" xmlns:ns2="c76864f1-b314-4248-9b56-a31ecd826e67" targetNamespace="http://schemas.microsoft.com/office/2006/metadata/properties" ma:root="true" ma:fieldsID="83f8cba14e4933d2bd4a0710cdbc10b3" ns2:_="">
    <xsd:import namespace="c76864f1-b314-4248-9b56-a31ecd826e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6864f1-b314-4248-9b56-a31ecd826e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E31CEC-0927-4F6F-AF62-ECC6ECC8A97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C562C6A-6743-4718-AD23-B5FA51DDA6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74F908-C478-45F4-AD12-4A16EBB9AA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6864f1-b314-4248-9b56-a31ecd826e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Benutzerdefiniert</PresentationFormat>
  <Paragraphs>0</Paragraphs>
  <Slides>9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0" baseType="lpstr"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ПРОЕКТА ZIYO APP</dc:title>
  <cp:revision>2</cp:revision>
  <dcterms:created xsi:type="dcterms:W3CDTF">2006-08-16T00:00:00Z</dcterms:created>
  <dcterms:modified xsi:type="dcterms:W3CDTF">2026-10-05T11:31:44Z</dcterms:modified>
  <dc:identifier>DAHWsh1oJ3g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0x01010038A382BC52CB2D4794C5FE8ABF2F1E6D</vt:lpwstr>
  </property>
</Properties>
</file>