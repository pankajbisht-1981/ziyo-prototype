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1097280"/>
            <a:ext cx="3840480" cy="82296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95360" y="1371600"/>
            <a:ext cx="3108960" cy="82296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0" y="1645920"/>
            <a:ext cx="237744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9A227"/>
                </a:solidFill>
                <a:latin typeface="Segoe UI"/>
              </a:rPr>
              <a:t>ZIYO</a:t>
            </a:r>
            <a:r>
              <a:rPr sz="2000" b="0">
                <a:solidFill>
                  <a:srgbClr val="1C8FB5"/>
                </a:solidFill>
                <a:latin typeface="Segoe UI Light"/>
              </a:rPr>
              <a:t>  ·  PRODUCT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 Light"/>
              </a:rPr>
              <a:t>KPI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8DEE4"/>
                </a:solidFill>
                <a:latin typeface="Segoe UI Light"/>
              </a:rPr>
              <a:t>Measuring mission impact — not just 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806440"/>
            <a:ext cx="2743200" cy="25603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8DEE4"/>
                </a:solidFill>
                <a:latin typeface="Segoe UI"/>
              </a:rPr>
              <a:t>Prepared for the Ministry &amp; Executive Leadership</a:t>
            </a:r>
            <a:r>
              <a:rPr sz="1200" b="0">
                <a:solidFill>
                  <a:srgbClr val="5A6B7B"/>
                </a:solidFill>
                <a:latin typeface="Segoe UI"/>
              </a:rPr>
              <a:t>   |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Light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EE4"/>
                </a:solidFill>
                <a:latin typeface="Segoe UI"/>
              </a:rPr>
              <a:t>What this framework covers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2708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91440" cy="86868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9A227"/>
                </a:solidFill>
                <a:latin typeface="Segoe UI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0992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E2A47"/>
                </a:solidFill>
                <a:latin typeface="Segoe UI Light"/>
              </a:rPr>
              <a:t>The Measurement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066544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Segoe UI"/>
              </a:rPr>
              <a:t>Three layers of metrics — and which one actually 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23744"/>
            <a:ext cx="1092708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23744"/>
            <a:ext cx="91440" cy="86868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23744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9A227"/>
                </a:solidFill>
                <a:latin typeface="Segoe UI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67919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E2A47"/>
                </a:solidFill>
                <a:latin typeface="Segoe UI Light"/>
              </a:rPr>
              <a:t>Outcome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03580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Segoe UI"/>
              </a:rPr>
              <a:t>Mission-linked results reported to board &amp; donors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93008"/>
            <a:ext cx="1092708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93008"/>
            <a:ext cx="91440" cy="86868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9A227"/>
                </a:solidFill>
                <a:latin typeface="Segoe UI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64845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E2A47"/>
                </a:solidFill>
                <a:latin typeface="Segoe UI Light"/>
              </a:rPr>
              <a:t>Engagement &amp; Growth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0050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Segoe UI"/>
              </a:rPr>
              <a:t>Internal platform-health signals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62272"/>
            <a:ext cx="1092708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462272"/>
            <a:ext cx="91440" cy="86868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62272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9A227"/>
                </a:solidFill>
                <a:latin typeface="Segoe UI Ligh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617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E2A47"/>
                </a:solidFill>
                <a:latin typeface="Segoe UI Light"/>
              </a:rPr>
              <a:t>North Star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97433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Segoe UI"/>
              </a:rPr>
              <a:t>The single number that defines success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31536"/>
            <a:ext cx="1092708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431536"/>
            <a:ext cx="91440" cy="86868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31536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9A227"/>
                </a:solidFill>
                <a:latin typeface="Segoe UI Light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586984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E2A47"/>
                </a:solidFill>
                <a:latin typeface="Segoe UI Light"/>
              </a:rPr>
              <a:t>First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9436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Segoe UI"/>
              </a:rPr>
              <a:t>The three events to instrument 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8DEE4"/>
                </a:solidFill>
                <a:latin typeface="Segoe UI"/>
              </a:rPr>
              <a:t>Confidential  ·  For internal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Segoe UI"/>
              </a:rPr>
              <a:t>ZIYO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Light"/>
              </a:rPr>
              <a:t>The Measurement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EE4"/>
                </a:solidFill>
                <a:latin typeface="Segoe UI"/>
              </a:rPr>
              <a:t>Three layers — only the top layer counts as mission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20" y="1828800"/>
            <a:ext cx="4572000" cy="11430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9842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OUTCOME   </a:t>
            </a:r>
            <a:r>
              <a:rPr sz="1200" b="0">
                <a:solidFill>
                  <a:srgbClr val="DDE8EE"/>
                </a:solidFill>
                <a:latin typeface="Segoe UI"/>
              </a:rPr>
              <a:t>Impact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39572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FFFFFF"/>
                </a:solidFill>
                <a:latin typeface="Segoe UI"/>
              </a:rPr>
              <a:t>Did anything change in their lives?</a:t>
            </a:r>
          </a:p>
        </p:txBody>
      </p:sp>
      <p:sp>
        <p:nvSpPr>
          <p:cNvPr id="10" name="5-Point Star 9"/>
          <p:cNvSpPr/>
          <p:nvPr/>
        </p:nvSpPr>
        <p:spPr>
          <a:xfrm>
            <a:off x="6611112" y="2011680"/>
            <a:ext cx="777240" cy="777240"/>
          </a:xfrm>
          <a:prstGeom prst="star5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54480" y="3172968"/>
            <a:ext cx="5212080" cy="1143000"/>
          </a:xfrm>
          <a:prstGeom prst="roundRect">
            <a:avLst/>
          </a:prstGeom>
          <a:solidFill>
            <a:srgbClr val="1C8FB5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32841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ENGAGEMENT   </a:t>
            </a:r>
            <a:r>
              <a:rPr sz="1200" b="0">
                <a:solidFill>
                  <a:srgbClr val="DDE8EE"/>
                </a:solidFill>
                <a:latin typeface="Segoe UI"/>
              </a:rPr>
              <a:t>Behaviour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3989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FFFFFF"/>
                </a:solidFill>
                <a:latin typeface="Segoe UI"/>
              </a:rPr>
              <a:t>Are they using the platform purposefully?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517136"/>
            <a:ext cx="5852160" cy="114300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672584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REACH   </a:t>
            </a:r>
            <a:r>
              <a:rPr sz="1200" b="0">
                <a:solidFill>
                  <a:srgbClr val="DDE8EE"/>
                </a:solidFill>
                <a:latin typeface="Segoe UI"/>
              </a:rPr>
              <a:t>Growth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084064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FFFFFF"/>
                </a:solidFill>
                <a:latin typeface="Segoe UI"/>
              </a:rPr>
              <a:t>Are we reaching the right people?</a:t>
            </a:r>
          </a:p>
        </p:txBody>
      </p:sp>
      <p:sp>
        <p:nvSpPr>
          <p:cNvPr id="17" name="Up Arrow 16"/>
          <p:cNvSpPr/>
          <p:nvPr/>
        </p:nvSpPr>
        <p:spPr>
          <a:xfrm>
            <a:off x="365760" y="1920240"/>
            <a:ext cx="411480" cy="3931920"/>
          </a:xfrm>
          <a:prstGeom prst="upArrow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59436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A6B7B"/>
                </a:solidFill>
                <a:latin typeface="Segoe UI"/>
              </a:rPr>
              <a:t>increasing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828800"/>
            <a:ext cx="3794760" cy="408736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7772400" y="1828800"/>
            <a:ext cx="3794760" cy="548640"/>
          </a:xfrm>
          <a:prstGeom prst="round2Same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920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THE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0604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C9A227"/>
                </a:solidFill>
                <a:latin typeface="Segoe UI"/>
              </a:rPr>
              <a:t>▸  </a:t>
            </a:r>
            <a:r>
              <a:rPr sz="1300">
                <a:solidFill>
                  <a:srgbClr val="FFFFFF"/>
                </a:solidFill>
                <a:latin typeface="Segoe UI"/>
              </a:rPr>
              <a:t>Reach and engagement tell us the platform is working.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C9A227"/>
                </a:solidFill>
                <a:latin typeface="Segoe UI"/>
              </a:rPr>
              <a:t>▸  </a:t>
            </a:r>
            <a:r>
              <a:rPr sz="1300">
                <a:solidFill>
                  <a:srgbClr val="FFFFFF"/>
                </a:solidFill>
                <a:latin typeface="Segoe UI"/>
              </a:rPr>
              <a:t>Only the Outcome layer proves lives changed.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C9A227"/>
                </a:solidFill>
                <a:latin typeface="Segoe UI"/>
              </a:rPr>
              <a:t>▸  </a:t>
            </a:r>
            <a:r>
              <a:rPr sz="1300">
                <a:solidFill>
                  <a:srgbClr val="FFFFFF"/>
                </a:solidFill>
                <a:latin typeface="Segoe UI"/>
              </a:rPr>
              <a:t>For Ziyo, only Outcome KPIs are reportable as mission delivery.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C9A227"/>
                </a:solidFill>
                <a:latin typeface="Segoe UI"/>
              </a:rPr>
              <a:t>▸  </a:t>
            </a:r>
            <a:r>
              <a:rPr sz="1300">
                <a:solidFill>
                  <a:srgbClr val="FFFFFF"/>
                </a:solidFill>
                <a:latin typeface="Segoe UI"/>
              </a:rPr>
              <a:t>A grant committee will challenge any metric that stops at downloads.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8DEE4"/>
                </a:solidFill>
                <a:latin typeface="Segoe UI"/>
              </a:rPr>
              <a:t>Confidential  ·  For internal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Segoe UI"/>
              </a:rPr>
              <a:t>ZIYO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Light"/>
              </a:rPr>
              <a:t>Why Non-Profits Need a Different KPI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EE4"/>
                </a:solidFill>
                <a:latin typeface="Segoe UI"/>
              </a:rPr>
              <a:t>Reach is not impact — and funders know the difference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440680" cy="4572000"/>
          </a:xfrm>
          <a:prstGeom prst="rect">
            <a:avLst/>
          </a:prstGeom>
          <a:solidFill>
            <a:srgbClr val="FBF3F3"/>
          </a:solidFill>
          <a:ln w="12700">
            <a:solidFill>
              <a:srgbClr val="E6C9C9"/>
            </a:solidFill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40680" cy="54864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✕  THE COMMON MISTAKE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B03A3A"/>
                </a:solidFill>
                <a:latin typeface="Segoe UI"/>
              </a:rPr>
              <a:t>—  </a:t>
            </a:r>
            <a:r>
              <a:rPr sz="1300">
                <a:solidFill>
                  <a:srgbClr val="1A2430"/>
                </a:solidFill>
                <a:latin typeface="Segoe UI"/>
              </a:rPr>
              <a:t>Most apps report downloads and registrations as impact.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B03A3A"/>
                </a:solidFill>
                <a:latin typeface="Segoe UI"/>
              </a:rPr>
              <a:t>—  </a:t>
            </a:r>
            <a:r>
              <a:rPr sz="1300">
                <a:solidFill>
                  <a:srgbClr val="1A2430"/>
                </a:solidFill>
                <a:latin typeface="Segoe UI"/>
              </a:rPr>
              <a:t>These are reach metrics — not outcome metrics.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B03A3A"/>
                </a:solidFill>
                <a:latin typeface="Segoe UI"/>
              </a:rPr>
              <a:t>—  </a:t>
            </a:r>
            <a:r>
              <a:rPr sz="1300">
                <a:solidFill>
                  <a:srgbClr val="1A2430"/>
                </a:solidFill>
                <a:latin typeface="Segoe UI"/>
              </a:rPr>
              <a:t>They inflate the story without proving value.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B03A3A"/>
                </a:solidFill>
                <a:latin typeface="Segoe UI"/>
              </a:rPr>
              <a:t>—  </a:t>
            </a:r>
            <a:r>
              <a:rPr sz="1300">
                <a:solidFill>
                  <a:srgbClr val="1A2430"/>
                </a:solidFill>
                <a:latin typeface="Segoe UI"/>
              </a:rPr>
              <a:t>A grant committee will challenge any metric that doesn't show lives changed.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57800" cy="4572000"/>
          </a:xfrm>
          <a:prstGeom prst="rect">
            <a:avLst/>
          </a:prstGeom>
          <a:solidFill>
            <a:srgbClr val="E4F2F6"/>
          </a:solidFill>
          <a:ln w="12700">
            <a:solidFill>
              <a:srgbClr val="C4E2EA"/>
            </a:solidFill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257800" cy="54864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642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  THE THREE-LAYER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2331720"/>
            <a:ext cx="109728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3317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Reach  </a:t>
            </a:r>
            <a:r>
              <a:rPr sz="1250" b="0">
                <a:solidFill>
                  <a:srgbClr val="5A6B7B"/>
                </a:solidFill>
                <a:latin typeface="Segoe UI"/>
              </a:rPr>
              <a:t>→  Growth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6090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1A2430"/>
                </a:solidFill>
                <a:latin typeface="Segoe UI"/>
              </a:rPr>
              <a:t>Are we reaching the right people?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3246120"/>
            <a:ext cx="109728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2461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Engagement  </a:t>
            </a:r>
            <a:r>
              <a:rPr sz="1250" b="0">
                <a:solidFill>
                  <a:srgbClr val="5A6B7B"/>
                </a:solidFill>
                <a:latin typeface="Segoe UI"/>
              </a:rPr>
              <a:t>→  Behaviour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57530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1A2430"/>
                </a:solidFill>
                <a:latin typeface="Segoe UI"/>
              </a:rPr>
              <a:t>Are they using the platform purposefully?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4160520"/>
            <a:ext cx="109728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1605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Segoe UI"/>
              </a:rPr>
              <a:t>Outcome  </a:t>
            </a:r>
            <a:r>
              <a:rPr sz="1250" b="0">
                <a:solidFill>
                  <a:srgbClr val="5A6B7B"/>
                </a:solidFill>
                <a:latin typeface="Segoe UI"/>
              </a:rPr>
              <a:t>→  Impact 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48970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1A2430"/>
                </a:solidFill>
                <a:latin typeface="Segoe UI"/>
              </a:rPr>
              <a:t>Did anything change in their lives?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5120640"/>
            <a:ext cx="4617720" cy="54864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5120640"/>
            <a:ext cx="4617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For Ziyo, only the Outcome layer = mission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8DEE4"/>
                </a:solidFill>
                <a:latin typeface="Segoe UI"/>
              </a:rPr>
              <a:t>Confidential  ·  For internal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Segoe UI"/>
              </a:rPr>
              <a:t>ZIYO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Light"/>
              </a:rPr>
              <a:t>Outcome KPIs — Mission-Linked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EE4"/>
                </a:solidFill>
                <a:latin typeface="Segoe UI"/>
              </a:rPr>
              <a:t>Reported to board &amp; donors — the metrics that justify our existence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27080" cy="548640"/>
          </a:xfrm>
          <a:prstGeom prst="roundRect">
            <a:avLst/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91440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Segoe UI"/>
              </a:rPr>
              <a:t>THESE COUNT AS IMPACT   </a:t>
            </a:r>
            <a:r>
              <a:rPr sz="1300" b="0">
                <a:solidFill>
                  <a:srgbClr val="1A2430"/>
                </a:solidFill>
                <a:latin typeface="Segoe UI"/>
              </a:rPr>
              <a:t>Every metric here is auditable and tied to a real change in a user's life.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440680" cy="388620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5440680" cy="475488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EMPLOYMENT &amp; FUNDING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07208"/>
            <a:ext cx="48463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Job placement rate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Users who applied via app ÷ users hired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Direct, auditable mission result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Grant conversion rate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Applications submitted ÷ grants awarded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Shows real uplift, not just clicks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Activation rate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Completed onboarding AND took one core action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Quality of entry into the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48840"/>
            <a:ext cx="5257800" cy="388620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148840"/>
            <a:ext cx="5257800" cy="475488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LEARNING &amp;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807208"/>
            <a:ext cx="466344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6B9E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Course completion rate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Courses started ÷ courses finished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Learning actually happened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6B9E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Skills progression score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Average quiz-score improvement over time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Measurable knowledge gain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6B9E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Event-to-action rate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Attendees who then applied for a job or grant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Event quality, not just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8DEE4"/>
                </a:solidFill>
                <a:latin typeface="Segoe UI"/>
              </a:rPr>
              <a:t>Confidential  ·  For internal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Segoe UI"/>
              </a:rPr>
              <a:t>ZIYO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Light"/>
              </a:rPr>
              <a:t>Engagement &amp; Growth KPIs — Platform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EE4"/>
                </a:solidFill>
                <a:latin typeface="Segoe UI"/>
              </a:rPr>
              <a:t>Internal health check — not for donor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440680" cy="4709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40680" cy="4754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ENGAGEMENT (RETENTION)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12848"/>
            <a:ext cx="484632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E2A47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MAU / DAU ratio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Target &gt; 30% — below 15% signals low stickiness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Daily-habit strength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E2A47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Feature depth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Avg. distinct features used per session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Single-feature use = fragile retention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E2A47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Return after onboarding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% who return within 7 days of signup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Leading indicator of retention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E2A47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Leaderboard participation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% of users with ≥ 1 point transaction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Gamification working as designed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57800" cy="4709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257800" cy="475488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GROWTH (ACQUISITION)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212848"/>
            <a:ext cx="46634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30-day retention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Active in week 4 ÷ signed up in week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Standard cohort-health metric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Organic referral rate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New users via invite/share ÷ total new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Word-of-mouth trust signal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Activation rate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Onboarding complete + ≥ 1 meaningful action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Quality of user entry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› </a:t>
            </a:r>
            <a:r>
              <a:rPr sz="1300" b="1">
                <a:solidFill>
                  <a:srgbClr val="0E2A47"/>
                </a:solidFill>
                <a:latin typeface="Segoe UI"/>
              </a:rPr>
              <a:t>Session-to-content ratio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A2430"/>
                </a:solidFill>
                <a:latin typeface="Segoe UI"/>
              </a:rPr>
              <a:t>     Sessions including a job, course, or event view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i="1">
                <a:solidFill>
                  <a:srgbClr val="5A6B7B"/>
                </a:solidFill>
                <a:latin typeface="Segoe UI"/>
              </a:rPr>
              <a:t>     Are visits purposeful?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8DEE4"/>
                </a:solidFill>
                <a:latin typeface="Segoe UI"/>
              </a:rPr>
              <a:t>Confidential  ·  For internal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Segoe UI"/>
              </a:rPr>
              <a:t>ZIYO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C8FB5"/>
                </a:solidFill>
                <a:latin typeface="Segoe UI"/>
              </a:rPr>
              <a:t>THE NORTH STAR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600" b="1">
                <a:solidFill>
                  <a:srgbClr val="C9A227"/>
                </a:solidFill>
                <a:latin typeface="Segoe UI Light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9418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Segoe UI Light"/>
              </a:rPr>
              <a:t>Active Beneficiaries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D8DEE4"/>
                </a:solidFill>
                <a:latin typeface="Segoe UI Light"/>
              </a:rPr>
              <a:t>users who completed at least one outcome-linked action — a job application, grant application, course completion, or event-to-action — in the last 30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754880"/>
            <a:ext cx="27432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9377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Recommended North Star for Ziyo  ·  </a:t>
            </a:r>
            <a:r>
              <a:rPr sz="1400" b="1">
                <a:solidFill>
                  <a:srgbClr val="C9A227"/>
                </a:solidFill>
                <a:latin typeface="Segoe UI"/>
              </a:rPr>
              <a:t>Honest · Auditable · Grant-defensible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486400"/>
            <a:ext cx="3017520" cy="868680"/>
          </a:xfrm>
          <a:prstGeom prst="round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5486400"/>
            <a:ext cx="73152" cy="868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560527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Segoe UI"/>
              </a:rPr>
              <a:t>Honest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43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D8DEE4"/>
                </a:solidFill>
                <a:latin typeface="Segoe UI"/>
              </a:rPr>
              <a:t>Counts people served, not accounts created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5486400"/>
            <a:ext cx="3017520" cy="868680"/>
          </a:xfrm>
          <a:prstGeom prst="round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5486400"/>
            <a:ext cx="73152" cy="868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560527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Segoe UI"/>
              </a:rPr>
              <a:t>Auditable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943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D8DEE4"/>
                </a:solidFill>
                <a:latin typeface="Segoe UI"/>
              </a:rPr>
              <a:t>Every action is a logged, verifiable 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5486400"/>
            <a:ext cx="3017520" cy="868680"/>
          </a:xfrm>
          <a:prstGeom prst="round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5486400"/>
            <a:ext cx="73152" cy="868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560527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Segoe UI"/>
              </a:rPr>
              <a:t>Defensible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5943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D8DEE4"/>
                </a:solidFill>
                <a:latin typeface="Segoe UI"/>
              </a:rPr>
              <a:t>Survives scrutiny from a grant committee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Light"/>
              </a:rPr>
              <a:t>First Steps: Three Events to Instrument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EE4"/>
                </a:solidFill>
                <a:latin typeface="Segoe UI"/>
              </a:rPr>
              <a:t>Start here — measure only these three until they stabilise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520440" cy="37947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520440" cy="68580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DE8EE"/>
                </a:solidFill>
                <a:latin typeface="Segoe UI"/>
              </a:rPr>
              <a:t>EVENT 1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606040"/>
            <a:ext cx="777240" cy="777240"/>
          </a:xfrm>
          <a:prstGeom prst="ellipse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79776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6615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0E2A47"/>
                </a:solidFill>
                <a:latin typeface="Segoe UI Light"/>
              </a:rPr>
              <a:t>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430"/>
                </a:solidFill>
                <a:latin typeface="Segoe UI"/>
              </a:rPr>
              <a:t>User completes onboarding AND views at least one job or course.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A6B7B"/>
                </a:solidFill>
                <a:latin typeface="Segoe UI"/>
              </a:rPr>
              <a:t>The threshold for counting someone as 'in the funnel'.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3520440" cy="37947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691640"/>
            <a:ext cx="3520440" cy="68580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8105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DE8EE"/>
                </a:solidFill>
                <a:latin typeface="Segoe UI"/>
              </a:rPr>
              <a:t>EVENT 2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2606040"/>
            <a:ext cx="777240" cy="777240"/>
          </a:xfrm>
          <a:prstGeom prst="ellipse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779776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 Ligh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6615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0E2A47"/>
                </a:solidFill>
                <a:latin typeface="Segoe UI Light"/>
              </a:rPr>
              <a:t>Core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06908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430"/>
                </a:solidFill>
                <a:latin typeface="Segoe UI"/>
              </a:rPr>
              <a:t>User submits a job application, grant application, or finishes a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920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A6B7B"/>
                </a:solidFill>
                <a:latin typeface="Segoe UI"/>
              </a:rPr>
              <a:t>The outcome event — the one that counts toward mission.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691640"/>
            <a:ext cx="3520440" cy="37947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691640"/>
            <a:ext cx="3520440" cy="6858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8105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DE8EE"/>
                </a:solidFill>
                <a:latin typeface="Segoe UI"/>
              </a:rPr>
              <a:t>EVENT 3</a:t>
            </a:r>
          </a:p>
        </p:txBody>
      </p:sp>
      <p:sp>
        <p:nvSpPr>
          <p:cNvPr id="26" name="Oval 25"/>
          <p:cNvSpPr/>
          <p:nvPr/>
        </p:nvSpPr>
        <p:spPr>
          <a:xfrm>
            <a:off x="8366760" y="2606040"/>
            <a:ext cx="777240" cy="77724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779776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 Ligh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56615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0E2A47"/>
                </a:solidFill>
                <a:latin typeface="Segoe UI Light"/>
              </a:rPr>
              <a:t>7-Day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6908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430"/>
                </a:solidFill>
                <a:latin typeface="Segoe UI"/>
              </a:rPr>
              <a:t>User returns within 7 days of completing their first core action.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920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A6B7B"/>
                </a:solidFill>
                <a:latin typeface="Segoe UI"/>
              </a:rPr>
              <a:t>The strongest predictor of long-term engagement.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15000"/>
            <a:ext cx="10927080" cy="54864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10927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◆  Once these three are stable, every other KPI can be layered on top.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8DEE4"/>
                </a:solidFill>
                <a:latin typeface="Segoe UI"/>
              </a:rPr>
              <a:t>Confidential  ·  For internal 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Segoe UI"/>
              </a:rPr>
              <a:t>ZIYO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Segoe UI Light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429000"/>
            <a:ext cx="27432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D8DEE4"/>
                </a:solidFill>
                <a:latin typeface="Segoe UI Light"/>
              </a:rPr>
              <a:t>Measure what matters — count people served, never vanity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8DEE4"/>
                </a:solidFill>
                <a:latin typeface="Segoe UI"/>
              </a:rPr>
              <a:t>Ziyo  ·  KPI Framework  · 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