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28"/>
  </p:normalViewPr>
  <p:slideViewPr>
    <p:cSldViewPr snapToGrid="0" snapToObjects="1">
      <p:cViewPr varScale="1">
        <p:scale>
          <a:sx n="114" d="100"/>
          <a:sy n="114" d="100"/>
        </p:scale>
        <p:origin x="66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01168" y="36576"/>
            <a:ext cx="3657600" cy="237744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ZIYO FORUM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274320"/>
            <a:ext cx="4114800" cy="155448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800" b="0" i="0">
                <a:solidFill>
                  <a:srgbClr val="1DCEAF"/>
                </a:solidFill>
                <a:latin typeface="Segoe UI"/>
              </a:rPr>
              <a:t>Connecting Uzbek Youth with Opportunity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9052560" y="91440"/>
            <a:ext cx="2011680" cy="201168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052560" y="91440"/>
            <a:ext cx="2011680" cy="201168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ctr"/>
            <a:r>
              <a:rPr sz="800" b="1" i="0">
                <a:solidFill>
                  <a:srgbClr val="003366"/>
                </a:solidFill>
                <a:latin typeface="Segoe UI"/>
              </a:rPr>
              <a:t>END USER PERSONA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310896"/>
            <a:ext cx="2743200" cy="137160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750" b="0" i="0">
                <a:solidFill>
                  <a:srgbClr val="6B7785"/>
                </a:solidFill>
                <a:latin typeface="Segoe UI"/>
              </a:rPr>
              <a:t>Discovery Research  ·  October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75488"/>
            <a:ext cx="2606040" cy="638251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22960" y="548640"/>
            <a:ext cx="960120" cy="960120"/>
          </a:xfrm>
          <a:prstGeom prst="ellipse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86968" y="612648"/>
            <a:ext cx="832104" cy="832104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768096"/>
            <a:ext cx="832104" cy="365760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K 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" y="1581912"/>
            <a:ext cx="2423160" cy="320040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ctr"/>
            <a:r>
              <a:rPr sz="1300" b="1" i="0">
                <a:solidFill>
                  <a:srgbClr val="003366"/>
                </a:solidFill>
                <a:latin typeface="Segoe UI"/>
              </a:rPr>
              <a:t>Kamola Ergasheva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" y="1892807"/>
            <a:ext cx="2423160" cy="310896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ctr"/>
            <a:r>
              <a:rPr sz="750" b="0" i="0">
                <a:solidFill>
                  <a:srgbClr val="6B7785"/>
                </a:solidFill>
                <a:latin typeface="Segoe UI"/>
              </a:rPr>
              <a:t>3rd Year IT Student
Tashkent State Technical University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" y="2286000"/>
            <a:ext cx="2331720" cy="109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7160" y="2304288"/>
            <a:ext cx="2286000" cy="164592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700" b="1" i="0">
                <a:solidFill>
                  <a:srgbClr val="003366"/>
                </a:solidFill>
                <a:latin typeface="Segoe UI"/>
              </a:rPr>
              <a:t>PROFILE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" y="2468880"/>
            <a:ext cx="777240" cy="182880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750" b="0" i="0">
                <a:solidFill>
                  <a:srgbClr val="6B7785"/>
                </a:solidFill>
                <a:latin typeface="Segoe UI"/>
              </a:rPr>
              <a:t>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2468880"/>
            <a:ext cx="1536192" cy="182880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Segoe UI"/>
              </a:rPr>
              <a:t>21 years 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" y="2647188"/>
            <a:ext cx="777240" cy="182880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750" b="0" i="0">
                <a:solidFill>
                  <a:srgbClr val="6B7785"/>
                </a:solidFill>
                <a:latin typeface="Segoe UI"/>
              </a:rPr>
              <a:t>Location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2647188"/>
            <a:ext cx="1536192" cy="182880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Segoe UI"/>
              </a:rPr>
              <a:t>Tashkent, Uzbekistan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" y="2825496"/>
            <a:ext cx="777240" cy="182880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750" b="0" i="0">
                <a:solidFill>
                  <a:srgbClr val="6B7785"/>
                </a:solidFill>
                <a:latin typeface="Segoe UI"/>
              </a:rPr>
              <a:t>Education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2825496"/>
            <a:ext cx="1536192" cy="182880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Segoe UI"/>
              </a:rPr>
              <a:t>BSc Computer Science (Yr 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" y="3003803"/>
            <a:ext cx="777240" cy="182880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750" b="0" i="0">
                <a:solidFill>
                  <a:srgbClr val="6B7785"/>
                </a:solidFill>
                <a:latin typeface="Segoe UI"/>
              </a:rPr>
              <a:t>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3003803"/>
            <a:ext cx="1536192" cy="182880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Segoe UI"/>
              </a:rPr>
              <a:t>Single, lives with family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3182111"/>
            <a:ext cx="777240" cy="182880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750" b="0" i="0">
                <a:solidFill>
                  <a:srgbClr val="6B7785"/>
                </a:solidFill>
                <a:latin typeface="Segoe UI"/>
              </a:rPr>
              <a:t>Experience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182111"/>
            <a:ext cx="1536192" cy="182880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Segoe UI"/>
              </a:rPr>
              <a:t>1 freelance project, 3 months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" y="3401568"/>
            <a:ext cx="2331720" cy="109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37160" y="3419856"/>
            <a:ext cx="2286000" cy="164592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700" b="1" i="0">
                <a:solidFill>
                  <a:srgbClr val="003366"/>
                </a:solidFill>
                <a:latin typeface="Segoe UI"/>
              </a:rPr>
              <a:t>INTERESTS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7160" y="3584448"/>
            <a:ext cx="1170432" cy="182880"/>
          </a:xfrm>
          <a:prstGeom prst="rect">
            <a:avLst/>
          </a:prstGeom>
          <a:solidFill>
            <a:srgbClr val="E8FAF6"/>
          </a:solidFill>
          <a:ln w="5080">
            <a:solidFill>
              <a:srgbClr val="B0E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37160" y="3584448"/>
            <a:ext cx="1170432" cy="182880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ctr"/>
            <a:r>
              <a:rPr sz="750" b="1" i="0">
                <a:solidFill>
                  <a:srgbClr val="0B8C72"/>
                </a:solidFill>
                <a:latin typeface="Segoe UI"/>
              </a:rPr>
              <a:t>Mobile Apps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0" y="3584448"/>
            <a:ext cx="1170432" cy="182880"/>
          </a:xfrm>
          <a:prstGeom prst="rect">
            <a:avLst/>
          </a:prstGeom>
          <a:solidFill>
            <a:srgbClr val="E8FAF6"/>
          </a:solidFill>
          <a:ln w="5080">
            <a:solidFill>
              <a:srgbClr val="B0E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371600" y="3584448"/>
            <a:ext cx="1170432" cy="182880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ctr"/>
            <a:r>
              <a:rPr sz="750" b="1" i="0">
                <a:solidFill>
                  <a:srgbClr val="0B8C72"/>
                </a:solidFill>
                <a:latin typeface="Segoe UI"/>
              </a:rPr>
              <a:t>UI Design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" y="3803904"/>
            <a:ext cx="1170432" cy="182880"/>
          </a:xfrm>
          <a:prstGeom prst="rect">
            <a:avLst/>
          </a:prstGeom>
          <a:solidFill>
            <a:srgbClr val="E8FAF6"/>
          </a:solidFill>
          <a:ln w="5080">
            <a:solidFill>
              <a:srgbClr val="B0E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37160" y="3803904"/>
            <a:ext cx="1170432" cy="182880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ctr"/>
            <a:r>
              <a:rPr sz="750" b="1" i="0">
                <a:solidFill>
                  <a:srgbClr val="0B8C72"/>
                </a:solidFill>
                <a:latin typeface="Segoe UI"/>
              </a:rPr>
              <a:t>Hackathons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71600" y="3803904"/>
            <a:ext cx="1170432" cy="182880"/>
          </a:xfrm>
          <a:prstGeom prst="rect">
            <a:avLst/>
          </a:prstGeom>
          <a:solidFill>
            <a:srgbClr val="E8FAF6"/>
          </a:solidFill>
          <a:ln w="5080">
            <a:solidFill>
              <a:srgbClr val="B0E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371600" y="3803904"/>
            <a:ext cx="1170432" cy="182880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ctr"/>
            <a:r>
              <a:rPr sz="750" b="1" i="0">
                <a:solidFill>
                  <a:srgbClr val="0B8C72"/>
                </a:solidFill>
                <a:latin typeface="Segoe UI"/>
              </a:rPr>
              <a:t>Telegram Bots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4023360"/>
            <a:ext cx="1170432" cy="182880"/>
          </a:xfrm>
          <a:prstGeom prst="rect">
            <a:avLst/>
          </a:prstGeom>
          <a:solidFill>
            <a:srgbClr val="E8FAF6"/>
          </a:solidFill>
          <a:ln w="5080">
            <a:solidFill>
              <a:srgbClr val="B0E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37160" y="4023360"/>
            <a:ext cx="1170432" cy="182880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ctr"/>
            <a:r>
              <a:rPr sz="750" b="1" i="0">
                <a:solidFill>
                  <a:srgbClr val="0B8C72"/>
                </a:solidFill>
                <a:latin typeface="Segoe UI"/>
              </a:rPr>
              <a:t>Chess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371600" y="4023360"/>
            <a:ext cx="1170432" cy="182880"/>
          </a:xfrm>
          <a:prstGeom prst="rect">
            <a:avLst/>
          </a:prstGeom>
          <a:solidFill>
            <a:srgbClr val="E8FAF6"/>
          </a:solidFill>
          <a:ln w="5080">
            <a:solidFill>
              <a:srgbClr val="B0E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371600" y="4023360"/>
            <a:ext cx="1170432" cy="182880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ctr"/>
            <a:r>
              <a:rPr sz="750" b="1" i="0">
                <a:solidFill>
                  <a:srgbClr val="0B8C72"/>
                </a:solidFill>
                <a:latin typeface="Segoe UI"/>
              </a:rPr>
              <a:t>Open Source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7160" y="4270248"/>
            <a:ext cx="2331720" cy="109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37160" y="4288536"/>
            <a:ext cx="2286000" cy="164592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700" b="1" i="0">
                <a:solidFill>
                  <a:srgbClr val="003366"/>
                </a:solidFill>
                <a:latin typeface="Segoe UI"/>
              </a:rPr>
              <a:t>BEHAVIOUR PROFILE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" y="4453128"/>
            <a:ext cx="914400" cy="146304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700" b="0" i="0">
                <a:solidFill>
                  <a:srgbClr val="6B7785"/>
                </a:solidFill>
                <a:latin typeface="Segoe UI"/>
              </a:rPr>
              <a:t>Power User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54479" y="4453128"/>
            <a:ext cx="914400" cy="146304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r"/>
            <a:r>
              <a:rPr sz="700" b="0" i="0">
                <a:solidFill>
                  <a:srgbClr val="6B7785"/>
                </a:solidFill>
                <a:latin typeface="Segoe UI"/>
              </a:rPr>
              <a:t>Casual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37160" y="4572000"/>
            <a:ext cx="2331720" cy="36576"/>
          </a:xfrm>
          <a:prstGeom prst="rect">
            <a:avLst/>
          </a:prstGeom>
          <a:solidFill>
            <a:srgbClr val="D4D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37160" y="4572000"/>
            <a:ext cx="582930" cy="36576"/>
          </a:xfrm>
          <a:prstGeom prst="rect">
            <a:avLst/>
          </a:prstGeom>
          <a:solidFill>
            <a:srgbClr val="CCD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665226" y="4535424"/>
            <a:ext cx="109728" cy="1097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37160" y="4727448"/>
            <a:ext cx="914400" cy="146304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700" b="0" i="0">
                <a:solidFill>
                  <a:srgbClr val="6B7785"/>
                </a:solidFill>
                <a:latin typeface="Segoe UI"/>
              </a:rPr>
              <a:t>Pro-Active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54479" y="4727448"/>
            <a:ext cx="914400" cy="146304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r"/>
            <a:r>
              <a:rPr sz="700" b="0" i="0">
                <a:solidFill>
                  <a:srgbClr val="6B7785"/>
                </a:solidFill>
                <a:latin typeface="Segoe UI"/>
              </a:rPr>
              <a:t>Reactive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37160" y="4846320"/>
            <a:ext cx="2331720" cy="36576"/>
          </a:xfrm>
          <a:prstGeom prst="rect">
            <a:avLst/>
          </a:prstGeom>
          <a:solidFill>
            <a:srgbClr val="D4D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37160" y="4846320"/>
            <a:ext cx="466344" cy="36576"/>
          </a:xfrm>
          <a:prstGeom prst="rect">
            <a:avLst/>
          </a:prstGeom>
          <a:solidFill>
            <a:srgbClr val="CCD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548640" y="4809744"/>
            <a:ext cx="109728" cy="1097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37160" y="5001768"/>
            <a:ext cx="914400" cy="146304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700" b="0" i="0">
                <a:solidFill>
                  <a:srgbClr val="6B7785"/>
                </a:solidFill>
                <a:latin typeface="Segoe UI"/>
              </a:rPr>
              <a:t>Team-Oriented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54479" y="5001768"/>
            <a:ext cx="914400" cy="146304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r"/>
            <a:r>
              <a:rPr sz="700" b="0" i="0">
                <a:solidFill>
                  <a:srgbClr val="6B7785"/>
                </a:solidFill>
                <a:latin typeface="Segoe UI"/>
              </a:rPr>
              <a:t>Independent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37160" y="5120640"/>
            <a:ext cx="2331720" cy="36576"/>
          </a:xfrm>
          <a:prstGeom prst="rect">
            <a:avLst/>
          </a:prstGeom>
          <a:solidFill>
            <a:srgbClr val="D4D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37160" y="5120640"/>
            <a:ext cx="1049274" cy="36576"/>
          </a:xfrm>
          <a:prstGeom prst="rect">
            <a:avLst/>
          </a:prstGeom>
          <a:solidFill>
            <a:srgbClr val="CCD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1131569" y="5084064"/>
            <a:ext cx="109728" cy="1097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37160" y="5276088"/>
            <a:ext cx="914400" cy="146304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700" b="0" i="0">
                <a:solidFill>
                  <a:srgbClr val="6B7785"/>
                </a:solidFill>
                <a:latin typeface="Segoe UI"/>
              </a:rPr>
              <a:t>Global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54479" y="5276088"/>
            <a:ext cx="914400" cy="146304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r"/>
            <a:r>
              <a:rPr sz="700" b="0" i="0">
                <a:solidFill>
                  <a:srgbClr val="6B7785"/>
                </a:solidFill>
                <a:latin typeface="Segoe UI"/>
              </a:rPr>
              <a:t>Local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37160" y="5394959"/>
            <a:ext cx="2331720" cy="36576"/>
          </a:xfrm>
          <a:prstGeom prst="rect">
            <a:avLst/>
          </a:prstGeom>
          <a:solidFill>
            <a:srgbClr val="D4D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137160" y="5394959"/>
            <a:ext cx="816101" cy="36576"/>
          </a:xfrm>
          <a:prstGeom prst="rect">
            <a:avLst/>
          </a:prstGeom>
          <a:solidFill>
            <a:srgbClr val="CCD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898397" y="5358383"/>
            <a:ext cx="109728" cy="1097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37160" y="5550407"/>
            <a:ext cx="914400" cy="146304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700" b="0" i="0">
                <a:solidFill>
                  <a:srgbClr val="6B7785"/>
                </a:solidFill>
                <a:latin typeface="Segoe UI"/>
              </a:rPr>
              <a:t>Early Adopter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554479" y="5550407"/>
            <a:ext cx="914400" cy="146304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r"/>
            <a:r>
              <a:rPr sz="700" b="0" i="0">
                <a:solidFill>
                  <a:srgbClr val="6B7785"/>
                </a:solidFill>
                <a:latin typeface="Segoe UI"/>
              </a:rPr>
              <a:t>Follower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37160" y="5669279"/>
            <a:ext cx="2331720" cy="36576"/>
          </a:xfrm>
          <a:prstGeom prst="rect">
            <a:avLst/>
          </a:prstGeom>
          <a:solidFill>
            <a:srgbClr val="D4D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137160" y="5669279"/>
            <a:ext cx="512978" cy="36576"/>
          </a:xfrm>
          <a:prstGeom prst="rect">
            <a:avLst/>
          </a:prstGeom>
          <a:solidFill>
            <a:srgbClr val="CCD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595274" y="5632703"/>
            <a:ext cx="109728" cy="1097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2697480" y="548640"/>
            <a:ext cx="45720" cy="731520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2743200" y="548640"/>
            <a:ext cx="5394960" cy="731520"/>
          </a:xfrm>
          <a:prstGeom prst="rect">
            <a:avLst/>
          </a:prstGeom>
          <a:solidFill>
            <a:srgbClr val="FF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843784" y="594360"/>
            <a:ext cx="5221224" cy="621792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1150" b="0" i="1">
                <a:solidFill>
                  <a:srgbClr val="003366"/>
                </a:solidFill>
                <a:latin typeface="Segoe UI"/>
              </a:rPr>
              <a:t>“I want to quickly and easily find relevant opportunities — in one place, in my language, built for someone like me.”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843784" y="1082650"/>
            <a:ext cx="3200400" cy="146304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750" b="0" i="0" dirty="0">
                <a:solidFill>
                  <a:srgbClr val="6B7785"/>
                </a:solidFill>
                <a:latin typeface="Segoe UI"/>
              </a:rPr>
              <a:t>— Kamola </a:t>
            </a:r>
            <a:r>
              <a:rPr sz="750" b="0" i="0" dirty="0" err="1">
                <a:solidFill>
                  <a:srgbClr val="6B7785"/>
                </a:solidFill>
                <a:latin typeface="Segoe UI"/>
              </a:rPr>
              <a:t>Ergasheva</a:t>
            </a:r>
            <a:r>
              <a:rPr sz="750" b="0" i="0" dirty="0">
                <a:solidFill>
                  <a:srgbClr val="6B7785"/>
                </a:solidFill>
                <a:latin typeface="Segoe UI"/>
              </a:rPr>
              <a:t>, 21  ·  CS Student, Tashkent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697480" y="1435608"/>
            <a:ext cx="5440680" cy="109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697480" y="1453896"/>
            <a:ext cx="2286000" cy="164592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700" b="1" i="0">
                <a:solidFill>
                  <a:srgbClr val="003366"/>
                </a:solidFill>
                <a:latin typeface="Segoe UI"/>
              </a:rPr>
              <a:t>A DAY IN HER LIFE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697480" y="1618488"/>
            <a:ext cx="5440680" cy="658368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Segoe UI"/>
              </a:rPr>
              <a:t>Kamola starts her morning checking Telegram channels for job posts before her 9 am lecture. She saves three listings but two require 2+ years of experience she doesn’t have yet. In the evening she works on her GitHub portfolio — aware employers will ask for it but unsure what they want to see. She falls asleep with five browser tabs open: a Coursera course, a scholarship form in Russian, a career page — and one unanswered question: who is hiring in Tashkent right now, and how does someone like her get in front of them?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697480" y="2331720"/>
            <a:ext cx="5440680" cy="109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3027986" y="2382926"/>
            <a:ext cx="2286000" cy="164592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700" b="1" i="0" dirty="0">
                <a:solidFill>
                  <a:srgbClr val="003366"/>
                </a:solidFill>
                <a:latin typeface="Segoe UI"/>
              </a:rPr>
              <a:t>BEHAVIOURS &amp; HABITS</a:t>
            </a:r>
          </a:p>
        </p:txBody>
      </p:sp>
      <p:sp>
        <p:nvSpPr>
          <p:cNvPr id="76" name="Oval 75"/>
          <p:cNvSpPr/>
          <p:nvPr/>
        </p:nvSpPr>
        <p:spPr>
          <a:xfrm>
            <a:off x="2715768" y="2569464"/>
            <a:ext cx="64008" cy="64008"/>
          </a:xfrm>
          <a:prstGeom prst="ellipse">
            <a:avLst/>
          </a:prstGeom>
          <a:solidFill>
            <a:srgbClr val="1DC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825496" y="2514600"/>
            <a:ext cx="5312664" cy="256032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Segoe UI"/>
              </a:rPr>
              <a:t>Monitors multiple Telegram channels and job boards daily — scattered, unreliable, time-consuming</a:t>
            </a:r>
          </a:p>
        </p:txBody>
      </p:sp>
      <p:sp>
        <p:nvSpPr>
          <p:cNvPr id="78" name="Oval 77"/>
          <p:cNvSpPr/>
          <p:nvPr/>
        </p:nvSpPr>
        <p:spPr>
          <a:xfrm>
            <a:off x="2715768" y="2807208"/>
            <a:ext cx="64008" cy="64008"/>
          </a:xfrm>
          <a:prstGeom prst="ellipse">
            <a:avLst/>
          </a:prstGeom>
          <a:solidFill>
            <a:srgbClr val="1DC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825496" y="2752344"/>
            <a:ext cx="5312664" cy="256032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Segoe UI"/>
              </a:rPr>
              <a:t>Builds skills through Coursera, YouTube tutorials, and personal GitHub projects alongside her degree</a:t>
            </a:r>
          </a:p>
        </p:txBody>
      </p:sp>
      <p:sp>
        <p:nvSpPr>
          <p:cNvPr id="80" name="Oval 79"/>
          <p:cNvSpPr/>
          <p:nvPr/>
        </p:nvSpPr>
        <p:spPr>
          <a:xfrm>
            <a:off x="2715768" y="3044951"/>
            <a:ext cx="64008" cy="64008"/>
          </a:xfrm>
          <a:prstGeom prst="ellipse">
            <a:avLst/>
          </a:prstGeom>
          <a:solidFill>
            <a:srgbClr val="1DC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2825496" y="2990087"/>
            <a:ext cx="5312664" cy="256032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Segoe UI"/>
              </a:rPr>
              <a:t>Participates in hackathons and coding competitions to grow her portfolio and network</a:t>
            </a:r>
          </a:p>
        </p:txBody>
      </p:sp>
      <p:sp>
        <p:nvSpPr>
          <p:cNvPr id="82" name="Oval 81"/>
          <p:cNvSpPr/>
          <p:nvPr/>
        </p:nvSpPr>
        <p:spPr>
          <a:xfrm>
            <a:off x="2715768" y="3282695"/>
            <a:ext cx="64008" cy="64008"/>
          </a:xfrm>
          <a:prstGeom prst="ellipse">
            <a:avLst/>
          </a:prstGeom>
          <a:solidFill>
            <a:srgbClr val="1DC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2825496" y="3227831"/>
            <a:ext cx="5312664" cy="256032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Segoe UI"/>
              </a:rPr>
              <a:t>Prefers Uzbek or Russian content but defaults to English tools because local options are limited</a:t>
            </a:r>
          </a:p>
        </p:txBody>
      </p:sp>
      <p:sp>
        <p:nvSpPr>
          <p:cNvPr id="84" name="Oval 83"/>
          <p:cNvSpPr/>
          <p:nvPr/>
        </p:nvSpPr>
        <p:spPr>
          <a:xfrm>
            <a:off x="2715768" y="3520439"/>
            <a:ext cx="64008" cy="64008"/>
          </a:xfrm>
          <a:prstGeom prst="ellipse">
            <a:avLst/>
          </a:prstGeom>
          <a:solidFill>
            <a:srgbClr val="1DC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2825496" y="3465575"/>
            <a:ext cx="5312664" cy="256032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Segoe UI"/>
              </a:rPr>
              <a:t>Looks for credibility signals — logos, official listings — before trusting a new source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761488" y="3761842"/>
            <a:ext cx="5440680" cy="109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2697480" y="3767327"/>
            <a:ext cx="2286000" cy="164592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700" b="1" i="0">
                <a:solidFill>
                  <a:srgbClr val="003366"/>
                </a:solidFill>
                <a:latin typeface="Segoe UI"/>
              </a:rPr>
              <a:t>WHERE SHE LOOKS FOR OPPORTUNITIES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697480" y="3931920"/>
            <a:ext cx="868680" cy="228600"/>
          </a:xfrm>
          <a:prstGeom prst="rect">
            <a:avLst/>
          </a:prstGeom>
          <a:solidFill>
            <a:srgbClr val="F2F4F7"/>
          </a:solidFill>
          <a:ln w="5080">
            <a:solidFill>
              <a:srgbClr val="D4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2761488" y="3995928"/>
            <a:ext cx="100584" cy="100584"/>
          </a:xfrm>
          <a:prstGeom prst="ellipse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2898648" y="3959352"/>
            <a:ext cx="649224" cy="192024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Segoe UI"/>
              </a:rPr>
              <a:t>Telegram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648456" y="3931920"/>
            <a:ext cx="868680" cy="228600"/>
          </a:xfrm>
          <a:prstGeom prst="rect">
            <a:avLst/>
          </a:prstGeom>
          <a:solidFill>
            <a:srgbClr val="F2F4F7"/>
          </a:solidFill>
          <a:ln w="5080">
            <a:solidFill>
              <a:srgbClr val="D4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3712464" y="3995928"/>
            <a:ext cx="100584" cy="100584"/>
          </a:xfrm>
          <a:prstGeom prst="ellipse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3849624" y="3959352"/>
            <a:ext cx="649224" cy="192024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Segoe UI"/>
              </a:rPr>
              <a:t>LinkedIn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599432" y="3931920"/>
            <a:ext cx="868680" cy="228600"/>
          </a:xfrm>
          <a:prstGeom prst="rect">
            <a:avLst/>
          </a:prstGeom>
          <a:solidFill>
            <a:srgbClr val="F2F4F7"/>
          </a:solidFill>
          <a:ln w="5080">
            <a:solidFill>
              <a:srgbClr val="D4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4663440" y="3995928"/>
            <a:ext cx="100584" cy="10058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4800600" y="3959352"/>
            <a:ext cx="649224" cy="192024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Segoe UI"/>
              </a:rPr>
              <a:t>YouTube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550408" y="3931920"/>
            <a:ext cx="868680" cy="228600"/>
          </a:xfrm>
          <a:prstGeom prst="rect">
            <a:avLst/>
          </a:prstGeom>
          <a:solidFill>
            <a:srgbClr val="F2F4F7"/>
          </a:solidFill>
          <a:ln w="5080">
            <a:solidFill>
              <a:srgbClr val="D4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5614416" y="3995928"/>
            <a:ext cx="100584" cy="100584"/>
          </a:xfrm>
          <a:prstGeom prst="ellipse">
            <a:avLst/>
          </a:prstGeom>
          <a:solidFill>
            <a:srgbClr val="005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5751576" y="3959352"/>
            <a:ext cx="649224" cy="192024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Segoe UI"/>
              </a:rPr>
              <a:t>Coursera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501384" y="3931920"/>
            <a:ext cx="868680" cy="228600"/>
          </a:xfrm>
          <a:prstGeom prst="rect">
            <a:avLst/>
          </a:prstGeom>
          <a:solidFill>
            <a:srgbClr val="F2F4F7"/>
          </a:solidFill>
          <a:ln w="5080">
            <a:solidFill>
              <a:srgbClr val="D4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6565392" y="3995928"/>
            <a:ext cx="100584" cy="100584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702552" y="3959352"/>
            <a:ext cx="649224" cy="192024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Segoe UI"/>
              </a:rPr>
              <a:t>GitHub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697480" y="4224528"/>
            <a:ext cx="868680" cy="228600"/>
          </a:xfrm>
          <a:prstGeom prst="rect">
            <a:avLst/>
          </a:prstGeom>
          <a:solidFill>
            <a:srgbClr val="F2F4F7"/>
          </a:solidFill>
          <a:ln w="5080">
            <a:solidFill>
              <a:srgbClr val="D4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2761488" y="4288536"/>
            <a:ext cx="100584" cy="100584"/>
          </a:xfrm>
          <a:prstGeom prst="ellipse">
            <a:avLst/>
          </a:prstGeom>
          <a:solidFill>
            <a:srgbClr val="E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2898648" y="4251960"/>
            <a:ext cx="649224" cy="192024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Segoe UI"/>
              </a:rPr>
              <a:t>Instagram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648456" y="4224528"/>
            <a:ext cx="868680" cy="228600"/>
          </a:xfrm>
          <a:prstGeom prst="rect">
            <a:avLst/>
          </a:prstGeom>
          <a:solidFill>
            <a:srgbClr val="F2F4F7"/>
          </a:solidFill>
          <a:ln w="5080">
            <a:solidFill>
              <a:srgbClr val="D4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3712464" y="4288536"/>
            <a:ext cx="100584" cy="100584"/>
          </a:xfrm>
          <a:prstGeom prst="ellipse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3849624" y="4251960"/>
            <a:ext cx="649224" cy="192024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Segoe UI"/>
              </a:rPr>
              <a:t>WhatsApp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348472" y="530352"/>
            <a:ext cx="3703320" cy="1783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8485632" y="777240"/>
            <a:ext cx="320040" cy="22860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8485632" y="585215"/>
            <a:ext cx="3520439" cy="201168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Segoe UI"/>
              </a:rPr>
              <a:t>GOALS</a:t>
            </a:r>
          </a:p>
        </p:txBody>
      </p:sp>
      <p:sp>
        <p:nvSpPr>
          <p:cNvPr id="112" name="Oval 111"/>
          <p:cNvSpPr/>
          <p:nvPr/>
        </p:nvSpPr>
        <p:spPr>
          <a:xfrm>
            <a:off x="8439912" y="896112"/>
            <a:ext cx="64008" cy="64008"/>
          </a:xfrm>
          <a:prstGeom prst="ellipse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8549640" y="841247"/>
            <a:ext cx="3483863" cy="256032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Segoe UI"/>
              </a:rPr>
              <a:t>Land a meaningful internship or entry-level tech role in Uzbekistan</a:t>
            </a:r>
          </a:p>
        </p:txBody>
      </p:sp>
      <p:sp>
        <p:nvSpPr>
          <p:cNvPr id="114" name="Oval 113"/>
          <p:cNvSpPr/>
          <p:nvPr/>
        </p:nvSpPr>
        <p:spPr>
          <a:xfrm>
            <a:off x="8439912" y="1170432"/>
            <a:ext cx="64008" cy="64008"/>
          </a:xfrm>
          <a:prstGeom prst="ellipse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8549640" y="1115568"/>
            <a:ext cx="3483863" cy="256032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Segoe UI"/>
              </a:rPr>
              <a:t>Build a portfolio of real projects that proves her skills to employers</a:t>
            </a:r>
          </a:p>
        </p:txBody>
      </p:sp>
      <p:sp>
        <p:nvSpPr>
          <p:cNvPr id="116" name="Oval 115"/>
          <p:cNvSpPr/>
          <p:nvPr/>
        </p:nvSpPr>
        <p:spPr>
          <a:xfrm>
            <a:off x="8439912" y="1444752"/>
            <a:ext cx="64008" cy="64008"/>
          </a:xfrm>
          <a:prstGeom prst="ellipse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8549640" y="1389888"/>
            <a:ext cx="3483863" cy="256032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Segoe UI"/>
              </a:rPr>
              <a:t>Develop practical, in-demand skills (web, mobile, data) alongside her degree</a:t>
            </a:r>
          </a:p>
        </p:txBody>
      </p:sp>
      <p:sp>
        <p:nvSpPr>
          <p:cNvPr id="118" name="Oval 117"/>
          <p:cNvSpPr/>
          <p:nvPr/>
        </p:nvSpPr>
        <p:spPr>
          <a:xfrm>
            <a:off x="8439912" y="1719072"/>
            <a:ext cx="64008" cy="64008"/>
          </a:xfrm>
          <a:prstGeom prst="ellipse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8549640" y="1664208"/>
            <a:ext cx="3483863" cy="256032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Segoe UI"/>
              </a:rPr>
              <a:t>Grow her professional network and connect with career mentors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348472" y="2359151"/>
            <a:ext cx="3703320" cy="1783080"/>
          </a:xfrm>
          <a:prstGeom prst="rect">
            <a:avLst/>
          </a:prstGeom>
          <a:solidFill>
            <a:srgbClr val="E8FAF6"/>
          </a:solidFill>
          <a:ln w="7620">
            <a:solidFill>
              <a:srgbClr val="B0E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8485632" y="2606039"/>
            <a:ext cx="320040" cy="22860"/>
          </a:xfrm>
          <a:prstGeom prst="rect">
            <a:avLst/>
          </a:prstGeom>
          <a:solidFill>
            <a:srgbClr val="1DC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8485632" y="2414015"/>
            <a:ext cx="3520439" cy="201168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850" b="1" i="0">
                <a:solidFill>
                  <a:srgbClr val="0B8C72"/>
                </a:solidFill>
                <a:latin typeface="Segoe UI"/>
              </a:rPr>
              <a:t>WHAT SHE NEEDS FROM ZIYO</a:t>
            </a:r>
          </a:p>
        </p:txBody>
      </p:sp>
      <p:sp>
        <p:nvSpPr>
          <p:cNvPr id="123" name="Oval 122"/>
          <p:cNvSpPr/>
          <p:nvPr/>
        </p:nvSpPr>
        <p:spPr>
          <a:xfrm>
            <a:off x="8439912" y="2724911"/>
            <a:ext cx="64008" cy="64008"/>
          </a:xfrm>
          <a:prstGeom prst="ellipse">
            <a:avLst/>
          </a:prstGeom>
          <a:solidFill>
            <a:srgbClr val="1DC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8549640" y="2670047"/>
            <a:ext cx="3483863" cy="256032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850" b="0" i="0">
                <a:solidFill>
                  <a:srgbClr val="143830"/>
                </a:solidFill>
                <a:latin typeface="Segoe UI"/>
              </a:rPr>
              <a:t>One trusted platform aggregating verified internship and job listings</a:t>
            </a:r>
          </a:p>
        </p:txBody>
      </p:sp>
      <p:sp>
        <p:nvSpPr>
          <p:cNvPr id="125" name="Oval 124"/>
          <p:cNvSpPr/>
          <p:nvPr/>
        </p:nvSpPr>
        <p:spPr>
          <a:xfrm>
            <a:off x="8439912" y="2999231"/>
            <a:ext cx="64008" cy="64008"/>
          </a:xfrm>
          <a:prstGeom prst="ellipse">
            <a:avLst/>
          </a:prstGeom>
          <a:solidFill>
            <a:srgbClr val="1DC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8549640" y="2944367"/>
            <a:ext cx="3483863" cy="256032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850" b="0" i="0">
                <a:solidFill>
                  <a:srgbClr val="143830"/>
                </a:solidFill>
                <a:latin typeface="Segoe UI"/>
              </a:rPr>
              <a:t>Clear info on what skills and qualifications employers actually require</a:t>
            </a:r>
          </a:p>
        </p:txBody>
      </p:sp>
      <p:sp>
        <p:nvSpPr>
          <p:cNvPr id="127" name="Oval 126"/>
          <p:cNvSpPr/>
          <p:nvPr/>
        </p:nvSpPr>
        <p:spPr>
          <a:xfrm>
            <a:off x="8439912" y="3273551"/>
            <a:ext cx="64008" cy="64008"/>
          </a:xfrm>
          <a:prstGeom prst="ellipse">
            <a:avLst/>
          </a:prstGeom>
          <a:solidFill>
            <a:srgbClr val="1DC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8549640" y="3218687"/>
            <a:ext cx="3483863" cy="256032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850" b="0" i="0">
                <a:solidFill>
                  <a:srgbClr val="143830"/>
                </a:solidFill>
                <a:latin typeface="Segoe UI"/>
              </a:rPr>
              <a:t>Guidance on CV writing and preparing for technical interviews</a:t>
            </a:r>
          </a:p>
        </p:txBody>
      </p:sp>
      <p:sp>
        <p:nvSpPr>
          <p:cNvPr id="129" name="Oval 128"/>
          <p:cNvSpPr/>
          <p:nvPr/>
        </p:nvSpPr>
        <p:spPr>
          <a:xfrm>
            <a:off x="8439912" y="3547871"/>
            <a:ext cx="64008" cy="64008"/>
          </a:xfrm>
          <a:prstGeom prst="ellipse">
            <a:avLst/>
          </a:prstGeom>
          <a:solidFill>
            <a:srgbClr val="1DC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8549640" y="3493007"/>
            <a:ext cx="3483863" cy="256032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850" b="0" i="0">
                <a:solidFill>
                  <a:srgbClr val="143830"/>
                </a:solidFill>
                <a:latin typeface="Segoe UI"/>
              </a:rPr>
              <a:t>Access to scholarships, grants, and early-career programmes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348472" y="4187951"/>
            <a:ext cx="3703320" cy="1783080"/>
          </a:xfrm>
          <a:prstGeom prst="rect">
            <a:avLst/>
          </a:prstGeom>
          <a:solidFill>
            <a:srgbClr val="FFF3F3"/>
          </a:solidFill>
          <a:ln w="7620">
            <a:solidFill>
              <a:srgbClr val="F5BA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8485632" y="4434840"/>
            <a:ext cx="320040" cy="22860"/>
          </a:xfrm>
          <a:prstGeom prst="rect">
            <a:avLst/>
          </a:prstGeom>
          <a:solidFill>
            <a:srgbClr val="D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8485632" y="4242815"/>
            <a:ext cx="3520439" cy="201168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850" b="1" i="0">
                <a:solidFill>
                  <a:srgbClr val="B02A2A"/>
                </a:solidFill>
                <a:latin typeface="Segoe UI"/>
              </a:rPr>
              <a:t>PAIN POINTS TODAY</a:t>
            </a:r>
          </a:p>
        </p:txBody>
      </p:sp>
      <p:sp>
        <p:nvSpPr>
          <p:cNvPr id="134" name="Oval 133"/>
          <p:cNvSpPr/>
          <p:nvPr/>
        </p:nvSpPr>
        <p:spPr>
          <a:xfrm>
            <a:off x="8439912" y="4553711"/>
            <a:ext cx="64008" cy="64008"/>
          </a:xfrm>
          <a:prstGeom prst="ellipse">
            <a:avLst/>
          </a:prstGeom>
          <a:solidFill>
            <a:srgbClr val="D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8549640" y="4498847"/>
            <a:ext cx="3483863" cy="256032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850" b="0" i="0">
                <a:solidFill>
                  <a:srgbClr val="3A0A0A"/>
                </a:solidFill>
                <a:latin typeface="Segoe UI"/>
              </a:rPr>
              <a:t>Opportunities fragmented across dozens of channels — no single reliable source</a:t>
            </a:r>
          </a:p>
        </p:txBody>
      </p:sp>
      <p:sp>
        <p:nvSpPr>
          <p:cNvPr id="136" name="Oval 135"/>
          <p:cNvSpPr/>
          <p:nvPr/>
        </p:nvSpPr>
        <p:spPr>
          <a:xfrm>
            <a:off x="8439912" y="4828031"/>
            <a:ext cx="64008" cy="64008"/>
          </a:xfrm>
          <a:prstGeom prst="ellipse">
            <a:avLst/>
          </a:prstGeom>
          <a:solidFill>
            <a:srgbClr val="D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8549640" y="4773167"/>
            <a:ext cx="3483863" cy="256032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850" b="0" i="0">
                <a:solidFill>
                  <a:srgbClr val="3A0A0A"/>
                </a:solidFill>
                <a:latin typeface="Segoe UI"/>
              </a:rPr>
              <a:t>Most listings require experience she doesn’t have yet, no clear path for graduates</a:t>
            </a:r>
          </a:p>
        </p:txBody>
      </p:sp>
      <p:sp>
        <p:nvSpPr>
          <p:cNvPr id="138" name="Oval 137"/>
          <p:cNvSpPr/>
          <p:nvPr/>
        </p:nvSpPr>
        <p:spPr>
          <a:xfrm>
            <a:off x="8439912" y="5102351"/>
            <a:ext cx="64008" cy="64008"/>
          </a:xfrm>
          <a:prstGeom prst="ellipse">
            <a:avLst/>
          </a:prstGeom>
          <a:solidFill>
            <a:srgbClr val="D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8549640" y="5047487"/>
            <a:ext cx="3483863" cy="256032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850" b="0" i="0">
                <a:solidFill>
                  <a:srgbClr val="3A0A0A"/>
                </a:solidFill>
                <a:latin typeface="Segoe UI"/>
              </a:rPr>
              <a:t>Limited transparency on salaries, company culture, and actual role details</a:t>
            </a:r>
          </a:p>
        </p:txBody>
      </p:sp>
      <p:sp>
        <p:nvSpPr>
          <p:cNvPr id="140" name="Oval 139"/>
          <p:cNvSpPr/>
          <p:nvPr/>
        </p:nvSpPr>
        <p:spPr>
          <a:xfrm>
            <a:off x="8439912" y="5376671"/>
            <a:ext cx="64008" cy="64008"/>
          </a:xfrm>
          <a:prstGeom prst="ellipse">
            <a:avLst/>
          </a:prstGeom>
          <a:solidFill>
            <a:srgbClr val="D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8549640" y="5321807"/>
            <a:ext cx="3483863" cy="256032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850" b="0" i="0">
                <a:solidFill>
                  <a:srgbClr val="3A0A0A"/>
                </a:solidFill>
                <a:latin typeface="Segoe UI"/>
              </a:rPr>
              <a:t>English or Russian often required — a barrier for native Uzbek speakers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228600" y="6446520"/>
            <a:ext cx="10607040" cy="347472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850" b="0" i="1">
                <a:solidFill>
                  <a:srgbClr val="FFFFCC"/>
                </a:solidFill>
                <a:latin typeface="Segoe UI"/>
              </a:rPr>
              <a:t>★  Key Insight:  Kamola is not passive — she is actively searching every day. The problem is fragmentation, not motivation. Ziyo Forum’s opportunity: become the single trusted source she currently has to piece together from dozens of scattered channels.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1064240" y="6464808"/>
            <a:ext cx="1005840" cy="320040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650" b="0" i="0">
                <a:solidFill>
                  <a:srgbClr val="6B7785"/>
                </a:solidFill>
                <a:latin typeface="Segoe UI"/>
              </a:rPr>
              <a:t>Ziyo Forum
SAP Social Sabbatical
Tashkent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7190</TotalTime>
  <Words>510</Words>
  <Application>Microsoft Macintosh PowerPoint</Application>
  <PresentationFormat>Custom</PresentationFormat>
  <Paragraphs>71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Segoe UI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Bisht, Pankaj</cp:lastModifiedBy>
  <cp:revision>2</cp:revision>
  <dcterms:created xsi:type="dcterms:W3CDTF">2013-01-27T09:14:16Z</dcterms:created>
  <dcterms:modified xsi:type="dcterms:W3CDTF">2026-10-13T07:44:06Z</dcterms:modified>
  <cp:category/>
</cp:coreProperties>
</file>