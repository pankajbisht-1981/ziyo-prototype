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0" y="1097280"/>
            <a:ext cx="3840480" cy="82296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95360" y="1371600"/>
            <a:ext cx="3108960" cy="82296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0" y="1645920"/>
            <a:ext cx="237744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9A227"/>
                </a:solidFill>
                <a:latin typeface="Segoe UI"/>
              </a:rPr>
              <a:t>ZIYO</a:t>
            </a:r>
            <a:r>
              <a:rPr sz="2000" b="0">
                <a:solidFill>
                  <a:srgbClr val="1C8FB5"/>
                </a:solidFill>
                <a:latin typeface="Segoe UI Light"/>
              </a:rPr>
              <a:t>  ·  PRODUCT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400" b="1">
                <a:solidFill>
                  <a:srgbClr val="FFFFFF"/>
                </a:solidFill>
                <a:latin typeface="Segoe UI Light"/>
              </a:rPr>
              <a:t>Product Roadmap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400" b="1">
                <a:solidFill>
                  <a:srgbClr val="FFFFFF"/>
                </a:solidFill>
                <a:latin typeface="Segoe UI Light"/>
              </a:rPr>
              <a:t>2026 – 2029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D8DEE4"/>
                </a:solidFill>
                <a:latin typeface="Segoe UI Light"/>
              </a:rPr>
              <a:t>A three-horizon plan: MVP, Scale, and National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806440"/>
            <a:ext cx="2743200" cy="25603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8DEE4"/>
                </a:solidFill>
                <a:latin typeface="Segoe UI"/>
              </a:rPr>
              <a:t>Prepared for the Ministry &amp; Executive Leadership</a:t>
            </a:r>
            <a:r>
              <a:rPr sz="1200" b="0">
                <a:solidFill>
                  <a:srgbClr val="5A6B7B"/>
                </a:solidFill>
                <a:latin typeface="Segoe UI"/>
              </a:rPr>
              <a:t>   | 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Light"/>
              </a:rPr>
              <a:t>Our Strategic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8DEE4"/>
                </a:solidFill>
                <a:latin typeface="Segoe UI"/>
              </a:rPr>
              <a:t>The Three-Horizon model — balancing what we ship now against the platform we are building toward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429000" cy="356616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3429000" cy="109728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240280"/>
            <a:ext cx="822960" cy="822960"/>
          </a:xfrm>
          <a:prstGeom prst="ellipse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414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Ligh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8FB5"/>
                </a:solidFill>
                <a:latin typeface="Segoe UI"/>
              </a:rPr>
              <a:t>HORIZON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6616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E2A47"/>
                </a:solidFill>
                <a:latin typeface="Segoe UI Light"/>
              </a:rPr>
              <a:t>Run the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9A227"/>
                </a:solidFill>
                <a:latin typeface="Segoe UI"/>
              </a:rPr>
              <a:t>0 – 6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B"/>
                </a:solidFill>
                <a:latin typeface="Segoe UI"/>
              </a:rPr>
              <a:t>Deliver a focused MVP that proves the core value loop and earns daily use.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783080"/>
            <a:ext cx="3429000" cy="356616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783080"/>
            <a:ext cx="3429000" cy="109728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80" y="2240280"/>
            <a:ext cx="822960" cy="822960"/>
          </a:xfrm>
          <a:prstGeom prst="ellipse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24414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Ligh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24612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6B9E"/>
                </a:solidFill>
                <a:latin typeface="Segoe UI"/>
              </a:rPr>
              <a:t>HORIZON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56616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E2A47"/>
                </a:solidFill>
                <a:latin typeface="Segoe UI Light"/>
              </a:rPr>
              <a:t>Scale what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06908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9A227"/>
                </a:solidFill>
                <a:latin typeface="Segoe UI"/>
              </a:rPr>
              <a:t>12 – 18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43484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B"/>
                </a:solidFill>
                <a:latin typeface="Segoe UI"/>
              </a:rPr>
              <a:t>Expand features, deepen engagement, and grow reach across regions.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783080"/>
            <a:ext cx="3429000" cy="356616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783080"/>
            <a:ext cx="3429000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49640" y="2240280"/>
            <a:ext cx="822960" cy="822960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24414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Ligh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24612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2A47"/>
                </a:solidFill>
                <a:latin typeface="Segoe UI"/>
              </a:rPr>
              <a:t>HORIZON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56616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E2A47"/>
                </a:solidFill>
                <a:latin typeface="Segoe UI Light"/>
              </a:rPr>
              <a:t>Transform the sector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06908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9A227"/>
                </a:solidFill>
                <a:latin typeface="Segoe UI"/>
              </a:rPr>
              <a:t>3 years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43484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B"/>
                </a:solidFill>
                <a:latin typeface="Segoe UI"/>
              </a:rPr>
              <a:t>Become the national platform for youth skills, jobs, and opportunity.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6B7B"/>
                </a:solidFill>
                <a:latin typeface="Segoe UI"/>
              </a:rPr>
              <a:t>Each horizon is measured by outcomes, not activity — see the success-metrics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Light"/>
              </a:rPr>
              <a:t>The Roadmap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8DEE4"/>
                </a:solidFill>
                <a:latin typeface="Segoe UI"/>
              </a:rPr>
              <a:t>Three horizons, four workstreams, one trajectory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892808"/>
            <a:ext cx="9418320" cy="36576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31720" y="1783080"/>
            <a:ext cx="3017520" cy="566928"/>
          </a:xfrm>
          <a:prstGeom prst="round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8288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MVP —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75688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DDE8EE"/>
                </a:solidFill>
                <a:latin typeface="Segoe UI"/>
              </a:rPr>
              <a:t>0–6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783080"/>
            <a:ext cx="3017520" cy="566928"/>
          </a:xfrm>
          <a:prstGeom prst="round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8288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Scale — Expand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075688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DDE8EE"/>
                </a:solidFill>
                <a:latin typeface="Segoe UI"/>
              </a:rPr>
              <a:t>12–18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783080"/>
            <a:ext cx="3017520" cy="56692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8288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Transform — National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75688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DDE8EE"/>
                </a:solidFill>
                <a:latin typeface="Segoe UI"/>
              </a:rPr>
              <a:t>3 YEARS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51760"/>
            <a:ext cx="1554480" cy="84124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51760"/>
            <a:ext cx="1554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PRODUCT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2651760"/>
            <a:ext cx="3017520" cy="841248"/>
          </a:xfrm>
          <a:prstGeom prst="roundRect">
            <a:avLst/>
          </a:prstGeom>
          <a:solidFill>
            <a:srgbClr val="E4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2651760"/>
            <a:ext cx="64008" cy="841248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2651760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Jobs, Courses,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Onboarding, Profiles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2651760"/>
            <a:ext cx="3017520" cy="841248"/>
          </a:xfrm>
          <a:prstGeom prst="round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0" y="2651760"/>
            <a:ext cx="64008" cy="841248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651760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Events, Grants,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Leaderboard, Social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2651760"/>
            <a:ext cx="3017520" cy="841248"/>
          </a:xfrm>
          <a:prstGeom prst="round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41080" y="2651760"/>
            <a:ext cx="64008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651760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Mentorship, AI guidance,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Marketplace, Open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602736"/>
            <a:ext cx="1554480" cy="84124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602736"/>
            <a:ext cx="1554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USERS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31720" y="3602736"/>
            <a:ext cx="3017520" cy="841248"/>
          </a:xfrm>
          <a:prstGeom prst="roundRect">
            <a:avLst/>
          </a:prstGeom>
          <a:solidFill>
            <a:srgbClr val="E4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31720" y="3602736"/>
            <a:ext cx="64008" cy="841248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3602736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Pilot cohort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(1 region)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0" y="3602736"/>
            <a:ext cx="3017520" cy="841248"/>
          </a:xfrm>
          <a:prstGeom prst="round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0" y="3602736"/>
            <a:ext cx="64008" cy="841248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3602736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Multi-region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rollout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41080" y="3602736"/>
            <a:ext cx="3017520" cy="841248"/>
          </a:xfrm>
          <a:prstGeom prst="round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3602736"/>
            <a:ext cx="64008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3960" y="3602736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National coverage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+ diaspora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553712"/>
            <a:ext cx="1554480" cy="84124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553712"/>
            <a:ext cx="1554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PARTNERS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31720" y="4553712"/>
            <a:ext cx="3017520" cy="841248"/>
          </a:xfrm>
          <a:prstGeom prst="roundRect">
            <a:avLst/>
          </a:prstGeom>
          <a:solidFill>
            <a:srgbClr val="E4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1720" y="4553712"/>
            <a:ext cx="64008" cy="841248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14600" y="4553712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Employers &amp;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content seed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0" y="4553712"/>
            <a:ext cx="3017520" cy="841248"/>
          </a:xfrm>
          <a:prstGeom prst="round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0" y="4553712"/>
            <a:ext cx="64008" cy="841248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0" y="4553712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Universities,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NGOs, sponsors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41080" y="4553712"/>
            <a:ext cx="3017520" cy="841248"/>
          </a:xfrm>
          <a:prstGeom prst="round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41080" y="4553712"/>
            <a:ext cx="64008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3960" y="4553712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Ministry systems,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banks, employers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504688"/>
            <a:ext cx="1554480" cy="84124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504688"/>
            <a:ext cx="1554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IMPACT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331720" y="5504688"/>
            <a:ext cx="3017520" cy="841248"/>
          </a:xfrm>
          <a:prstGeom prst="roundRect">
            <a:avLst/>
          </a:prstGeom>
          <a:solidFill>
            <a:srgbClr val="E4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331720" y="5504688"/>
            <a:ext cx="64008" cy="841248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14600" y="5504688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First placements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&amp; completions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0" y="5504688"/>
            <a:ext cx="3017520" cy="841248"/>
          </a:xfrm>
          <a:prstGeom prst="round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5504688"/>
            <a:ext cx="64008" cy="841248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0" y="5504688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Measurable skills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&amp; income uplift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41080" y="5504688"/>
            <a:ext cx="3017520" cy="841248"/>
          </a:xfrm>
          <a:prstGeom prst="round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41080" y="5504688"/>
            <a:ext cx="64008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23960" y="5504688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Sector-level youth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2430"/>
                </a:solidFill>
                <a:latin typeface="Segoe UI"/>
              </a:rPr>
              <a:t>employment gains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C8FB5"/>
                </a:solidFill>
                <a:latin typeface="Segoe UI"/>
              </a:rPr>
              <a:t>● </a:t>
            </a:r>
            <a:r>
              <a:rPr sz="1100" b="0">
                <a:solidFill>
                  <a:srgbClr val="5A6B7B"/>
                </a:solidFill>
                <a:latin typeface="Segoe UI"/>
              </a:rPr>
              <a:t>Launch MVP   </a:t>
            </a:r>
            <a:r>
              <a:rPr sz="1100" b="1">
                <a:solidFill>
                  <a:srgbClr val="2E6B9E"/>
                </a:solidFill>
                <a:latin typeface="Segoe UI"/>
              </a:rPr>
              <a:t>● </a:t>
            </a:r>
            <a:r>
              <a:rPr sz="1100" b="0">
                <a:solidFill>
                  <a:srgbClr val="5A6B7B"/>
                </a:solidFill>
                <a:latin typeface="Segoe UI"/>
              </a:rPr>
              <a:t>50k active beneficiaries   </a:t>
            </a:r>
            <a:r>
              <a:rPr sz="1100" b="1">
                <a:solidFill>
                  <a:srgbClr val="0E2A47"/>
                </a:solidFill>
                <a:latin typeface="Segoe UI"/>
              </a:rPr>
              <a:t>● </a:t>
            </a:r>
            <a:r>
              <a:rPr sz="1100" b="0">
                <a:solidFill>
                  <a:srgbClr val="5A6B7B"/>
                </a:solidFill>
                <a:latin typeface="Segoe UI"/>
              </a:rPr>
              <a:t>National platform of record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DE8EE"/>
                </a:solidFill>
                <a:latin typeface="Segoe UI"/>
              </a:rPr>
              <a:t>HORIZON 1 — FOUNDATION  ·  0 – 6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Light"/>
              </a:rPr>
              <a:t>Minimum Viable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91440"/>
            <a:ext cx="1828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0" b="1">
                <a:solidFill>
                  <a:srgbClr val="FFFFFF"/>
                </a:solidFill>
                <a:latin typeface="Segoe UI Light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0927080" cy="685800"/>
          </a:xfrm>
          <a:prstGeom prst="roundRect">
            <a:avLst/>
          </a:prstGeom>
          <a:solidFill>
            <a:srgbClr val="E4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91440" cy="685800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424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C8FB5"/>
                </a:solidFill>
                <a:latin typeface="Segoe UI"/>
              </a:rPr>
              <a:t>OBJECTIVE   </a:t>
            </a:r>
            <a:r>
              <a:rPr sz="1350" b="0">
                <a:solidFill>
                  <a:srgbClr val="1A2430"/>
                </a:solidFill>
                <a:latin typeface="Segoe UI"/>
              </a:rPr>
              <a:t>Prove the core value loop — a young person signs up, finds an opportunity, and takes a real 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5577840" cy="36118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14600"/>
            <a:ext cx="5577840" cy="457200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87752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KEY INITIATIVES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72968"/>
            <a:ext cx="50292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C8FB5"/>
                </a:solidFill>
                <a:latin typeface="Segoe UI"/>
              </a:rPr>
              <a:t>▸  </a:t>
            </a:r>
            <a:r>
              <a:rPr sz="1300" b="1">
                <a:solidFill>
                  <a:srgbClr val="1A2430"/>
                </a:solidFill>
                <a:latin typeface="Segoe UI"/>
              </a:rPr>
              <a:t>Onboarding &amp; profiles:</a:t>
            </a:r>
            <a:r>
              <a:rPr sz="1300" b="0">
                <a:solidFill>
                  <a:srgbClr val="1A2430"/>
                </a:solidFill>
                <a:latin typeface="Segoe UI"/>
              </a:rPr>
              <a:t> multilingual signup, skills profile, personalization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C8FB5"/>
                </a:solidFill>
                <a:latin typeface="Segoe UI"/>
              </a:rPr>
              <a:t>▸  </a:t>
            </a:r>
            <a:r>
              <a:rPr sz="1300" b="1">
                <a:solidFill>
                  <a:srgbClr val="1A2430"/>
                </a:solidFill>
                <a:latin typeface="Segoe UI"/>
              </a:rPr>
              <a:t>Jobs:</a:t>
            </a:r>
            <a:r>
              <a:rPr sz="1300" b="0">
                <a:solidFill>
                  <a:srgbClr val="1A2430"/>
                </a:solidFill>
                <a:latin typeface="Segoe UI"/>
              </a:rPr>
              <a:t> curated listings, one-tap apply, application tracking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C8FB5"/>
                </a:solidFill>
                <a:latin typeface="Segoe UI"/>
              </a:rPr>
              <a:t>▸  </a:t>
            </a:r>
            <a:r>
              <a:rPr sz="1300" b="1">
                <a:solidFill>
                  <a:srgbClr val="1A2430"/>
                </a:solidFill>
                <a:latin typeface="Segoe UI"/>
              </a:rPr>
              <a:t>Courses:</a:t>
            </a:r>
            <a:r>
              <a:rPr sz="1300" b="0">
                <a:solidFill>
                  <a:srgbClr val="1A2430"/>
                </a:solidFill>
                <a:latin typeface="Segoe UI"/>
              </a:rPr>
              <a:t> structured learning with quizzes and completion tracking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C8FB5"/>
                </a:solidFill>
                <a:latin typeface="Segoe UI"/>
              </a:rPr>
              <a:t>▸  </a:t>
            </a:r>
            <a:r>
              <a:rPr sz="1300" b="1">
                <a:solidFill>
                  <a:srgbClr val="1A2430"/>
                </a:solidFill>
                <a:latin typeface="Segoe UI"/>
              </a:rPr>
              <a:t>Core gamification:</a:t>
            </a:r>
            <a:r>
              <a:rPr sz="1300" b="0">
                <a:solidFill>
                  <a:srgbClr val="1A2430"/>
                </a:solidFill>
                <a:latin typeface="Segoe UI"/>
              </a:rPr>
              <a:t> points and a simple leaderboard to drive habit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C8FB5"/>
                </a:solidFill>
                <a:latin typeface="Segoe UI"/>
              </a:rPr>
              <a:t>▸  </a:t>
            </a:r>
            <a:r>
              <a:rPr sz="1300" b="1">
                <a:solidFill>
                  <a:srgbClr val="1A2430"/>
                </a:solidFill>
                <a:latin typeface="Segoe UI"/>
              </a:rPr>
              <a:t>Foundations:</a:t>
            </a:r>
            <a:r>
              <a:rPr sz="1300" b="0">
                <a:solidFill>
                  <a:srgbClr val="1A2430"/>
                </a:solidFill>
                <a:latin typeface="Segoe UI"/>
              </a:rPr>
              <a:t> analytics instrumentation, feedback loop, content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514600"/>
            <a:ext cx="5166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514600"/>
            <a:ext cx="5166360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587752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TARGET OUTCOMES (KPIs)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136392"/>
            <a:ext cx="4617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C8FB5"/>
                </a:solidFill>
                <a:latin typeface="Segoe UI"/>
              </a:rPr>
              <a:t>✓  </a:t>
            </a:r>
            <a:r>
              <a:rPr sz="1200">
                <a:solidFill>
                  <a:srgbClr val="1A2430"/>
                </a:solidFill>
                <a:latin typeface="Segoe UI"/>
              </a:rPr>
              <a:t>Activation rate ≥ 40% (onboarding + 1 core action)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C8FB5"/>
                </a:solidFill>
                <a:latin typeface="Segoe UI"/>
              </a:rPr>
              <a:t>✓  </a:t>
            </a:r>
            <a:r>
              <a:rPr sz="1200">
                <a:solidFill>
                  <a:srgbClr val="1A2430"/>
                </a:solidFill>
                <a:latin typeface="Segoe UI"/>
              </a:rPr>
              <a:t>7-day return rate ≥ 25%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C8FB5"/>
                </a:solidFill>
                <a:latin typeface="Segoe UI"/>
              </a:rPr>
              <a:t>✓  </a:t>
            </a:r>
            <a:r>
              <a:rPr sz="1200">
                <a:solidFill>
                  <a:srgbClr val="1A2430"/>
                </a:solidFill>
                <a:latin typeface="Segoe UI"/>
              </a:rPr>
              <a:t>First 100+ verified job applications or course completions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663440"/>
            <a:ext cx="5166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663440"/>
            <a:ext cx="5166360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736592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ENABLERS &amp; PARTNERS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5285232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Segoe UI"/>
              </a:rPr>
              <a:t>—  </a:t>
            </a:r>
            <a:r>
              <a:rPr sz="1200">
                <a:solidFill>
                  <a:srgbClr val="1A2430"/>
                </a:solidFill>
                <a:latin typeface="Segoe UI"/>
              </a:rPr>
              <a:t>Seed employer &amp; training partners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Segoe UI"/>
              </a:rPr>
              <a:t>—  </a:t>
            </a:r>
            <a:r>
              <a:rPr sz="1200">
                <a:solidFill>
                  <a:srgbClr val="1A2430"/>
                </a:solidFill>
                <a:latin typeface="Segoe UI"/>
              </a:rPr>
              <a:t>1 pilot region + university cohort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6263640"/>
            <a:ext cx="10927080" cy="384048"/>
          </a:xfrm>
          <a:prstGeom prst="round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263640"/>
            <a:ext cx="10927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◆  EXIT MILESTONE:   </a:t>
            </a:r>
            <a:r>
              <a:rPr sz="1200" b="0">
                <a:solidFill>
                  <a:srgbClr val="FFFFFF"/>
                </a:solidFill>
                <a:latin typeface="Segoe UI"/>
              </a:rPr>
              <a:t>MVP launched to pilot cohort with a working job + course value loop and live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DE8EE"/>
                </a:solidFill>
                <a:latin typeface="Segoe UI"/>
              </a:rPr>
              <a:t>HORIZON 2 — SCALE  ·  12 – 18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Light"/>
              </a:rPr>
              <a:t>Scale What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91440"/>
            <a:ext cx="1828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0" b="1">
                <a:solidFill>
                  <a:srgbClr val="FFFFFF"/>
                </a:solidFill>
                <a:latin typeface="Segoe UI Light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0927080" cy="685800"/>
          </a:xfrm>
          <a:prstGeom prst="round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91440" cy="685800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424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6B9E"/>
                </a:solidFill>
                <a:latin typeface="Segoe UI"/>
              </a:rPr>
              <a:t>OBJECTIVE   </a:t>
            </a:r>
            <a:r>
              <a:rPr sz="1350" b="0">
                <a:solidFill>
                  <a:srgbClr val="1A2430"/>
                </a:solidFill>
                <a:latin typeface="Segoe UI"/>
              </a:rPr>
              <a:t>Deepen engagement and expand reach — turn a working product into a growing, sticky platform.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5577840" cy="36118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14600"/>
            <a:ext cx="5577840" cy="457200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87752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KEY INITIATIVES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72968"/>
            <a:ext cx="50292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6B9E"/>
                </a:solidFill>
                <a:latin typeface="Segoe UI"/>
              </a:rPr>
              <a:t>▸  </a:t>
            </a:r>
            <a:r>
              <a:rPr sz="1300" b="1">
                <a:solidFill>
                  <a:srgbClr val="1A2430"/>
                </a:solidFill>
                <a:latin typeface="Segoe UI"/>
              </a:rPr>
              <a:t>Events &amp; grants:</a:t>
            </a:r>
            <a:r>
              <a:rPr sz="1300" b="0">
                <a:solidFill>
                  <a:srgbClr val="1A2430"/>
                </a:solidFill>
                <a:latin typeface="Segoe UI"/>
              </a:rPr>
              <a:t> discovery, applications, and award tracking end-to-end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6B9E"/>
                </a:solidFill>
                <a:latin typeface="Segoe UI"/>
              </a:rPr>
              <a:t>▸  </a:t>
            </a:r>
            <a:r>
              <a:rPr sz="1300" b="1">
                <a:solidFill>
                  <a:srgbClr val="1A2430"/>
                </a:solidFill>
                <a:latin typeface="Segoe UI"/>
              </a:rPr>
              <a:t>Social &amp; community:</a:t>
            </a:r>
            <a:r>
              <a:rPr sz="1300" b="0">
                <a:solidFill>
                  <a:srgbClr val="1A2430"/>
                </a:solidFill>
                <a:latin typeface="Segoe UI"/>
              </a:rPr>
              <a:t> feeds, reactions, chat, peer support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6B9E"/>
                </a:solidFill>
                <a:latin typeface="Segoe UI"/>
              </a:rPr>
              <a:t>▸  </a:t>
            </a:r>
            <a:r>
              <a:rPr sz="1300" b="1">
                <a:solidFill>
                  <a:srgbClr val="1A2430"/>
                </a:solidFill>
                <a:latin typeface="Segoe UI"/>
              </a:rPr>
              <a:t>Rich leaderboard &amp; rewards:</a:t>
            </a:r>
            <a:r>
              <a:rPr sz="1300" b="0">
                <a:solidFill>
                  <a:srgbClr val="1A2430"/>
                </a:solidFill>
                <a:latin typeface="Segoe UI"/>
              </a:rPr>
              <a:t> seasons, badges, redeemable shop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6B9E"/>
                </a:solidFill>
                <a:latin typeface="Segoe UI"/>
              </a:rPr>
              <a:t>▸  </a:t>
            </a:r>
            <a:r>
              <a:rPr sz="1300" b="1">
                <a:solidFill>
                  <a:srgbClr val="1A2430"/>
                </a:solidFill>
                <a:latin typeface="Segoe UI"/>
              </a:rPr>
              <a:t>Content depth:</a:t>
            </a:r>
            <a:r>
              <a:rPr sz="1300" b="0">
                <a:solidFill>
                  <a:srgbClr val="1A2430"/>
                </a:solidFill>
                <a:latin typeface="Segoe UI"/>
              </a:rPr>
              <a:t> podcasts, video courses, partner-authored tracks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2E6B9E"/>
                </a:solidFill>
                <a:latin typeface="Segoe UI"/>
              </a:rPr>
              <a:t>▸  </a:t>
            </a:r>
            <a:r>
              <a:rPr sz="1300" b="1">
                <a:solidFill>
                  <a:srgbClr val="1A2430"/>
                </a:solidFill>
                <a:latin typeface="Segoe UI"/>
              </a:rPr>
              <a:t>Growth engine:</a:t>
            </a:r>
            <a:r>
              <a:rPr sz="1300" b="0">
                <a:solidFill>
                  <a:srgbClr val="1A2430"/>
                </a:solidFill>
                <a:latin typeface="Segoe UI"/>
              </a:rPr>
              <a:t> referrals, notifications, retention loops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514600"/>
            <a:ext cx="5166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514600"/>
            <a:ext cx="5166360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587752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TARGET OUTCOMES (KPIs)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136392"/>
            <a:ext cx="4617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6B9E"/>
                </a:solidFill>
                <a:latin typeface="Segoe UI"/>
              </a:rPr>
              <a:t>✓  </a:t>
            </a:r>
            <a:r>
              <a:rPr sz="1200">
                <a:solidFill>
                  <a:srgbClr val="1A2430"/>
                </a:solidFill>
                <a:latin typeface="Segoe UI"/>
              </a:rPr>
              <a:t>50,000+ monthly active beneficiaries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6B9E"/>
                </a:solidFill>
                <a:latin typeface="Segoe UI"/>
              </a:rPr>
              <a:t>✓  </a:t>
            </a:r>
            <a:r>
              <a:rPr sz="1200">
                <a:solidFill>
                  <a:srgbClr val="1A2430"/>
                </a:solidFill>
                <a:latin typeface="Segoe UI"/>
              </a:rPr>
              <a:t>MAU/DAU ratio ≥ 30% (healthy habit)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6B9E"/>
                </a:solidFill>
                <a:latin typeface="Segoe UI"/>
              </a:rPr>
              <a:t>✓  </a:t>
            </a:r>
            <a:r>
              <a:rPr sz="1200">
                <a:solidFill>
                  <a:srgbClr val="1A2430"/>
                </a:solidFill>
                <a:latin typeface="Segoe UI"/>
              </a:rPr>
              <a:t>Grant &amp; event-to-action conversion measured and improving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6B9E"/>
                </a:solidFill>
                <a:latin typeface="Segoe UI"/>
              </a:rPr>
              <a:t>✓  </a:t>
            </a:r>
            <a:r>
              <a:rPr sz="1200">
                <a:solidFill>
                  <a:srgbClr val="1A2430"/>
                </a:solidFill>
                <a:latin typeface="Segoe UI"/>
              </a:rPr>
              <a:t>30-day retention ≥ 35%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663440"/>
            <a:ext cx="5166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663440"/>
            <a:ext cx="5166360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736592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ENABLERS &amp; PARTNERS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5285232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Segoe UI"/>
              </a:rPr>
              <a:t>—  </a:t>
            </a:r>
            <a:r>
              <a:rPr sz="1200">
                <a:solidFill>
                  <a:srgbClr val="1A2430"/>
                </a:solidFill>
                <a:latin typeface="Segoe UI"/>
              </a:rPr>
              <a:t>Universities, NGOs, sponsors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Segoe UI"/>
              </a:rPr>
              <a:t>—  </a:t>
            </a:r>
            <a:r>
              <a:rPr sz="1200">
                <a:solidFill>
                  <a:srgbClr val="1A2430"/>
                </a:solidFill>
                <a:latin typeface="Segoe UI"/>
              </a:rPr>
              <a:t>Multi-region expansion &amp; localization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6263640"/>
            <a:ext cx="10927080" cy="384048"/>
          </a:xfrm>
          <a:prstGeom prst="round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263640"/>
            <a:ext cx="10927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◆  EXIT MILESTONE:   </a:t>
            </a:r>
            <a:r>
              <a:rPr sz="1200" b="0">
                <a:solidFill>
                  <a:srgbClr val="FFFFFF"/>
                </a:solidFill>
                <a:latin typeface="Segoe UI"/>
              </a:rPr>
              <a:t>Platform live across multiple regions with 50k+ active beneficiaries and proven retention.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DE8EE"/>
                </a:solidFill>
                <a:latin typeface="Segoe UI"/>
              </a:rPr>
              <a:t>HORIZON 3 — TRANSFORM  ·  3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Light"/>
              </a:rPr>
              <a:t>National Opportunity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91440"/>
            <a:ext cx="1828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0" b="1">
                <a:solidFill>
                  <a:srgbClr val="FFFFFF"/>
                </a:solidFill>
                <a:latin typeface="Segoe UI Light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0927080" cy="685800"/>
          </a:xfrm>
          <a:prstGeom prst="round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91440" cy="6858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424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2A47"/>
                </a:solidFill>
                <a:latin typeface="Segoe UI"/>
              </a:rPr>
              <a:t>OBJECTIVE   </a:t>
            </a:r>
            <a:r>
              <a:rPr sz="1350" b="0">
                <a:solidFill>
                  <a:srgbClr val="1A2430"/>
                </a:solidFill>
                <a:latin typeface="Segoe UI"/>
              </a:rPr>
              <a:t>Become the national platform of record for youth skills, employment, and opportunity.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5577840" cy="36118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14600"/>
            <a:ext cx="5577840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87752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KEY INITIATIVES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72968"/>
            <a:ext cx="50292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E2A47"/>
                </a:solidFill>
                <a:latin typeface="Segoe UI"/>
              </a:rPr>
              <a:t>▸  </a:t>
            </a:r>
            <a:r>
              <a:rPr sz="1300" b="1">
                <a:solidFill>
                  <a:srgbClr val="1A2430"/>
                </a:solidFill>
                <a:latin typeface="Segoe UI"/>
              </a:rPr>
              <a:t>AI career guidance:</a:t>
            </a:r>
            <a:r>
              <a:rPr sz="1300" b="0">
                <a:solidFill>
                  <a:srgbClr val="1A2430"/>
                </a:solidFill>
                <a:latin typeface="Segoe UI"/>
              </a:rPr>
              <a:t> personalized pathways from skills to jobs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E2A47"/>
                </a:solidFill>
                <a:latin typeface="Segoe UI"/>
              </a:rPr>
              <a:t>▸  </a:t>
            </a:r>
            <a:r>
              <a:rPr sz="1300" b="1">
                <a:solidFill>
                  <a:srgbClr val="1A2430"/>
                </a:solidFill>
                <a:latin typeface="Segoe UI"/>
              </a:rPr>
              <a:t>Mentorship network:</a:t>
            </a:r>
            <a:r>
              <a:rPr sz="1300" b="0">
                <a:solidFill>
                  <a:srgbClr val="1A2430"/>
                </a:solidFill>
                <a:latin typeface="Segoe UI"/>
              </a:rPr>
              <a:t> matching youth with professionals &amp; alumni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E2A47"/>
                </a:solidFill>
                <a:latin typeface="Segoe UI"/>
              </a:rPr>
              <a:t>▸  </a:t>
            </a:r>
            <a:r>
              <a:rPr sz="1300" b="1">
                <a:solidFill>
                  <a:srgbClr val="1A2430"/>
                </a:solidFill>
                <a:latin typeface="Segoe UI"/>
              </a:rPr>
              <a:t>Opportunity marketplace:</a:t>
            </a:r>
            <a:r>
              <a:rPr sz="1300" b="0">
                <a:solidFill>
                  <a:srgbClr val="1A2430"/>
                </a:solidFill>
                <a:latin typeface="Segoe UI"/>
              </a:rPr>
              <a:t> employers, grants, scholarships in one place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E2A47"/>
                </a:solidFill>
                <a:latin typeface="Segoe UI"/>
              </a:rPr>
              <a:t>▸  </a:t>
            </a:r>
            <a:r>
              <a:rPr sz="1300" b="1">
                <a:solidFill>
                  <a:srgbClr val="1A2430"/>
                </a:solidFill>
                <a:latin typeface="Segoe UI"/>
              </a:rPr>
              <a:t>Open platform:</a:t>
            </a:r>
            <a:r>
              <a:rPr sz="1300" b="0">
                <a:solidFill>
                  <a:srgbClr val="1A2430"/>
                </a:solidFill>
                <a:latin typeface="Segoe UI"/>
              </a:rPr>
              <a:t> APIs &amp; integrations with ministry and partner systems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E2A47"/>
                </a:solidFill>
                <a:latin typeface="Segoe UI"/>
              </a:rPr>
              <a:t>▸  </a:t>
            </a:r>
            <a:r>
              <a:rPr sz="1300" b="1">
                <a:solidFill>
                  <a:srgbClr val="1A2430"/>
                </a:solidFill>
                <a:latin typeface="Segoe UI"/>
              </a:rPr>
              <a:t>Credentials:</a:t>
            </a:r>
            <a:r>
              <a:rPr sz="1300" b="0">
                <a:solidFill>
                  <a:srgbClr val="1A2430"/>
                </a:solidFill>
                <a:latin typeface="Segoe UI"/>
              </a:rPr>
              <a:t> verified skills &amp; achievements recognized by employers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514600"/>
            <a:ext cx="5166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514600"/>
            <a:ext cx="5166360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587752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TARGET OUTCOMES (KPIs)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136392"/>
            <a:ext cx="4617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2A47"/>
                </a:solidFill>
                <a:latin typeface="Segoe UI"/>
              </a:rPr>
              <a:t>✓  </a:t>
            </a:r>
            <a:r>
              <a:rPr sz="1200">
                <a:solidFill>
                  <a:srgbClr val="1A2430"/>
                </a:solidFill>
                <a:latin typeface="Segoe UI"/>
              </a:rPr>
              <a:t>Measurable national youth-employment contribution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2A47"/>
                </a:solidFill>
                <a:latin typeface="Segoe UI"/>
              </a:rPr>
              <a:t>✓  </a:t>
            </a:r>
            <a:r>
              <a:rPr sz="1200">
                <a:solidFill>
                  <a:srgbClr val="1A2430"/>
                </a:solidFill>
                <a:latin typeface="Segoe UI"/>
              </a:rPr>
              <a:t>Income &amp; skills uplift tracked longitudinally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2A47"/>
                </a:solidFill>
                <a:latin typeface="Segoe UI"/>
              </a:rPr>
              <a:t>✓  </a:t>
            </a:r>
            <a:r>
              <a:rPr sz="1200">
                <a:solidFill>
                  <a:srgbClr val="1A2430"/>
                </a:solidFill>
                <a:latin typeface="Segoe UI"/>
              </a:rPr>
              <a:t>Platform recognized &amp; integrated by government systems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2A47"/>
                </a:solidFill>
                <a:latin typeface="Segoe UI"/>
              </a:rPr>
              <a:t>✓  </a:t>
            </a:r>
            <a:r>
              <a:rPr sz="1200">
                <a:solidFill>
                  <a:srgbClr val="1A2430"/>
                </a:solidFill>
                <a:latin typeface="Segoe UI"/>
              </a:rPr>
              <a:t>Self-sustaining partner &amp; sponsorship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663440"/>
            <a:ext cx="5166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663440"/>
            <a:ext cx="5166360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736592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ENABLERS &amp; PARTNERS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5285232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Segoe UI"/>
              </a:rPr>
              <a:t>—  </a:t>
            </a:r>
            <a:r>
              <a:rPr sz="1200">
                <a:solidFill>
                  <a:srgbClr val="1A2430"/>
                </a:solidFill>
                <a:latin typeface="Segoe UI"/>
              </a:rPr>
              <a:t>Ministry data systems &amp; e-gov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Segoe UI"/>
              </a:rPr>
              <a:t>—  </a:t>
            </a:r>
            <a:r>
              <a:rPr sz="1200">
                <a:solidFill>
                  <a:srgbClr val="1A2430"/>
                </a:solidFill>
                <a:latin typeface="Segoe UI"/>
              </a:rPr>
              <a:t>Banks, national employers, diaspora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6263640"/>
            <a:ext cx="10927080" cy="38404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263640"/>
            <a:ext cx="10927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◆  EXIT MILESTONE:   </a:t>
            </a:r>
            <a:r>
              <a:rPr sz="1200" b="0">
                <a:solidFill>
                  <a:srgbClr val="FFFFFF"/>
                </a:solidFill>
                <a:latin typeface="Segoe UI"/>
              </a:rPr>
              <a:t>Ziyo established as the national youth-opportunity platform with ministry-level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 Light"/>
              </a:rPr>
              <a:t>How We Measure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8DEE4"/>
                </a:solidFill>
                <a:latin typeface="Segoe UI"/>
              </a:rPr>
              <a:t>North-star metric: Active Beneficiaries — people who took a real opportunity-action in the last 30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10927080" cy="868680"/>
          </a:xfrm>
          <a:prstGeom prst="roundRect">
            <a:avLst/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109728" cy="868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3108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C9A227"/>
                </a:solidFill>
                <a:latin typeface="Segoe UI"/>
              </a:rPr>
              <a:t>NORTH STAR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0E2A47"/>
                </a:solidFill>
                <a:latin typeface="Segoe UI Light"/>
              </a:rPr>
              <a:t>Active Beneficiaries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463040"/>
            <a:ext cx="2286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5A6B7B"/>
                </a:solidFill>
                <a:latin typeface="Segoe UI"/>
              </a:rPr>
              <a:t>6 mo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0E2A47"/>
                </a:solidFill>
                <a:latin typeface="Segoe UI Light"/>
              </a:rPr>
              <a:t>Pilot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463040"/>
            <a:ext cx="2286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5A6B7B"/>
                </a:solidFill>
                <a:latin typeface="Segoe UI"/>
              </a:rPr>
              <a:t>18 mo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0E2A47"/>
                </a:solidFill>
                <a:latin typeface="Segoe UI Light"/>
              </a:rPr>
              <a:t>50,000+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463040"/>
            <a:ext cx="2286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5A6B7B"/>
                </a:solidFill>
                <a:latin typeface="Segoe UI"/>
              </a:rPr>
              <a:t>3 yr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0E2A47"/>
                </a:solidFill>
                <a:latin typeface="Segoe UI Light"/>
              </a:rPr>
              <a:t>National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06040"/>
            <a:ext cx="3520440" cy="356616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06040"/>
            <a:ext cx="3520440" cy="685800"/>
          </a:xfrm>
          <a:prstGeom prst="rect">
            <a:avLst/>
          </a:prstGeom>
          <a:solidFill>
            <a:srgbClr val="1C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1576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OUTCOME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08376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DDE8EE"/>
                </a:solidFill>
                <a:latin typeface="Segoe UI"/>
              </a:rPr>
              <a:t>Mission impact — report to ministry &amp; 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474720"/>
            <a:ext cx="29718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C8FB5"/>
                </a:solidFill>
                <a:latin typeface="Segoe UI"/>
              </a:rPr>
              <a:t>›  </a:t>
            </a:r>
            <a:r>
              <a:rPr sz="1250">
                <a:solidFill>
                  <a:srgbClr val="1A2430"/>
                </a:solidFill>
                <a:latin typeface="Segoe UI"/>
              </a:rPr>
              <a:t>Job placement rate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C8FB5"/>
                </a:solidFill>
                <a:latin typeface="Segoe UI"/>
              </a:rPr>
              <a:t>›  </a:t>
            </a:r>
            <a:r>
              <a:rPr sz="1250">
                <a:solidFill>
                  <a:srgbClr val="1A2430"/>
                </a:solidFill>
                <a:latin typeface="Segoe UI"/>
              </a:rPr>
              <a:t>Grant award conversion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C8FB5"/>
                </a:solidFill>
                <a:latin typeface="Segoe UI"/>
              </a:rPr>
              <a:t>›  </a:t>
            </a:r>
            <a:r>
              <a:rPr sz="1250">
                <a:solidFill>
                  <a:srgbClr val="1A2430"/>
                </a:solidFill>
                <a:latin typeface="Segoe UI"/>
              </a:rPr>
              <a:t>Course completion rate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C8FB5"/>
                </a:solidFill>
                <a:latin typeface="Segoe UI"/>
              </a:rPr>
              <a:t>›  </a:t>
            </a:r>
            <a:r>
              <a:rPr sz="1250">
                <a:solidFill>
                  <a:srgbClr val="1A2430"/>
                </a:solidFill>
                <a:latin typeface="Segoe UI"/>
              </a:rPr>
              <a:t>Skills progression score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C8FB5"/>
                </a:solidFill>
                <a:latin typeface="Segoe UI"/>
              </a:rPr>
              <a:t>›  </a:t>
            </a:r>
            <a:r>
              <a:rPr sz="1250">
                <a:solidFill>
                  <a:srgbClr val="1A2430"/>
                </a:solidFill>
                <a:latin typeface="Segoe UI"/>
              </a:rPr>
              <a:t>Event-to-action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2606040"/>
            <a:ext cx="3520440" cy="356616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2606040"/>
            <a:ext cx="3520440" cy="685800"/>
          </a:xfrm>
          <a:prstGeom prst="rect">
            <a:avLst/>
          </a:prstGeom>
          <a:solidFill>
            <a:srgbClr val="2E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71576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ENGAGEMENT KPIs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008376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DDE8EE"/>
                </a:solidFill>
                <a:latin typeface="Segoe UI"/>
              </a:rPr>
              <a:t>Product health — internal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474720"/>
            <a:ext cx="29718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E6B9E"/>
                </a:solidFill>
                <a:latin typeface="Segoe UI"/>
              </a:rPr>
              <a:t>›  </a:t>
            </a:r>
            <a:r>
              <a:rPr sz="1250">
                <a:solidFill>
                  <a:srgbClr val="1A2430"/>
                </a:solidFill>
                <a:latin typeface="Segoe UI"/>
              </a:rPr>
              <a:t>MAU / DAU ratio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E6B9E"/>
                </a:solidFill>
                <a:latin typeface="Segoe UI"/>
              </a:rPr>
              <a:t>›  </a:t>
            </a:r>
            <a:r>
              <a:rPr sz="1250">
                <a:solidFill>
                  <a:srgbClr val="1A2430"/>
                </a:solidFill>
                <a:latin typeface="Segoe UI"/>
              </a:rPr>
              <a:t>Feature depth per session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E6B9E"/>
                </a:solidFill>
                <a:latin typeface="Segoe UI"/>
              </a:rPr>
              <a:t>›  </a:t>
            </a:r>
            <a:r>
              <a:rPr sz="1250">
                <a:solidFill>
                  <a:srgbClr val="1A2430"/>
                </a:solidFill>
                <a:latin typeface="Segoe UI"/>
              </a:rPr>
              <a:t>Leaderboard participation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E6B9E"/>
                </a:solidFill>
                <a:latin typeface="Segoe UI"/>
              </a:rPr>
              <a:t>›  </a:t>
            </a:r>
            <a:r>
              <a:rPr sz="1250">
                <a:solidFill>
                  <a:srgbClr val="1A2430"/>
                </a:solidFill>
                <a:latin typeface="Segoe UI"/>
              </a:rPr>
              <a:t>Activation rate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E6B9E"/>
                </a:solidFill>
                <a:latin typeface="Segoe UI"/>
              </a:rPr>
              <a:t>›  </a:t>
            </a:r>
            <a:r>
              <a:rPr sz="1250">
                <a:solidFill>
                  <a:srgbClr val="1A2430"/>
                </a:solidFill>
                <a:latin typeface="Segoe UI"/>
              </a:rPr>
              <a:t>Purposeful-session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2606040"/>
            <a:ext cx="3520440" cy="356616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90000" dist="38000" dir="5400000" rotWithShape="0">
              <a:srgbClr val="0E2A4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2606040"/>
            <a:ext cx="3520440" cy="6858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71576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GROWTH KPIs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008376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DDE8EE"/>
                </a:solidFill>
                <a:latin typeface="Segoe UI"/>
              </a:rPr>
              <a:t>Reach &amp; retention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474720"/>
            <a:ext cx="29718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0E2A47"/>
                </a:solidFill>
                <a:latin typeface="Segoe UI"/>
              </a:rPr>
              <a:t>›  </a:t>
            </a:r>
            <a:r>
              <a:rPr sz="1250">
                <a:solidFill>
                  <a:srgbClr val="1A2430"/>
                </a:solidFill>
                <a:latin typeface="Segoe UI"/>
              </a:rPr>
              <a:t>30-day retention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0E2A47"/>
                </a:solidFill>
                <a:latin typeface="Segoe UI"/>
              </a:rPr>
              <a:t>›  </a:t>
            </a:r>
            <a:r>
              <a:rPr sz="1250">
                <a:solidFill>
                  <a:srgbClr val="1A2430"/>
                </a:solidFill>
                <a:latin typeface="Segoe UI"/>
              </a:rPr>
              <a:t>Organic referral rate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0E2A47"/>
                </a:solidFill>
                <a:latin typeface="Segoe UI"/>
              </a:rPr>
              <a:t>›  </a:t>
            </a:r>
            <a:r>
              <a:rPr sz="1250">
                <a:solidFill>
                  <a:srgbClr val="1A2430"/>
                </a:solidFill>
                <a:latin typeface="Segoe UI"/>
              </a:rPr>
              <a:t>Multi-region coverage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0E2A47"/>
                </a:solidFill>
                <a:latin typeface="Segoe UI"/>
              </a:rPr>
              <a:t>›  </a:t>
            </a:r>
            <a:r>
              <a:rPr sz="1250">
                <a:solidFill>
                  <a:srgbClr val="1A2430"/>
                </a:solidFill>
                <a:latin typeface="Segoe UI"/>
              </a:rPr>
              <a:t>New-user activation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0E2A47"/>
                </a:solidFill>
                <a:latin typeface="Segoe UI"/>
              </a:rPr>
              <a:t>›  </a:t>
            </a:r>
            <a:r>
              <a:rPr sz="1250">
                <a:solidFill>
                  <a:srgbClr val="1A2430"/>
                </a:solidFill>
                <a:latin typeface="Segoe UI"/>
              </a:rPr>
              <a:t>Cost per active beneficiary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A6B7B"/>
                </a:solidFill>
                <a:latin typeface="Segoe UI"/>
              </a:rPr>
              <a:t>Principle: we count people served and outcomes delivered — never vanity metrics like raw downloads.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C8FB5"/>
                </a:solidFill>
                <a:latin typeface="Segoe UI"/>
              </a:rPr>
              <a:t>WHERE WE GO FROM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 Light"/>
              </a:rPr>
              <a:t>From prototype to national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51760"/>
            <a:ext cx="2743200" cy="27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3429000" cy="2194560"/>
          </a:xfrm>
          <a:prstGeom prst="round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063240"/>
            <a:ext cx="342900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4290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C9A227"/>
                </a:solidFill>
                <a:latin typeface="Segoe UI Ligh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3192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Light"/>
              </a:rPr>
              <a:t>Endorse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34340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8DEE4"/>
                </a:solidFill>
                <a:latin typeface="Segoe UI"/>
              </a:rPr>
              <a:t>Ministry endorsement of the MVP pilot and shared success metrics.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063240"/>
            <a:ext cx="3429000" cy="2194560"/>
          </a:xfrm>
          <a:prstGeom prst="round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3063240"/>
            <a:ext cx="342900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34290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C9A227"/>
                </a:solidFill>
                <a:latin typeface="Segoe UI Ligh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93192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Light"/>
              </a:rPr>
              <a:t>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434340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8DEE4"/>
                </a:solidFill>
                <a:latin typeface="Segoe UI"/>
              </a:rPr>
              <a:t>Introductions to employer, university, and content partners for the seed network.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3063240"/>
            <a:ext cx="3429000" cy="2194560"/>
          </a:xfrm>
          <a:prstGeom prst="round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3063240"/>
            <a:ext cx="342900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34290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C9A227"/>
                </a:solidFill>
                <a:latin typeface="Segoe UI Ligh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93192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Light"/>
              </a:rPr>
              <a:t>Sustain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34340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8DEE4"/>
                </a:solidFill>
                <a:latin typeface="Segoe UI"/>
              </a:rPr>
              <a:t>Agreement on a funding &amp; sponsorship path to carry Horizons 2–3.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8DEE4"/>
                </a:solidFill>
                <a:latin typeface="Segoe UI"/>
              </a:rPr>
              <a:t>Ziyo  ·  Product Roadmap 2026–2029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