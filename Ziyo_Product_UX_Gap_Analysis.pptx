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6"/>
  </p:sldMasterIdLst>
  <p:notesMasterIdLst>
    <p:notesMasterId r:id="rId28"/>
  </p:notesMasterIdLst>
  <p:handoutMasterIdLst>
    <p:handoutMasterId r:id="rId29"/>
  </p:handoutMasterIdLst>
  <p:sldIdLst>
    <p:sldId id="256" r:id="rId21"/>
    <p:sldId id="257" r:id="rId22"/>
    <p:sldId id="258" r:id="rId23"/>
    <p:sldId id="259" r:id="rId24"/>
    <p:sldId id="260" r:id="rId25"/>
  </p:sldIdLst>
  <p:sldSz cx="12195175" cy="6858000"/>
  <p:notesSz cx="6858000" cy="9144000"/>
  <p:embeddedFontLst>
    <p:embeddedFont>
      <p:font typeface="72 Brand" panose="020B0504030603020204" pitchFamily="34" charset="0"/>
      <p:regular r:id="rId30"/>
      <p:bold r:id="rId31"/>
      <p:italic r:id="rId32"/>
      <p:boldItalic r:id="rId33"/>
    </p:embeddedFont>
    <p:embeddedFont>
      <p:font typeface="72 Brand Medium" panose="020B0504030603020204" pitchFamily="34" charset="0"/>
      <p:regular r:id="rId34"/>
      <p:italic r:id="rId35"/>
    </p:embeddedFont>
  </p:embeddedFontLst>
  <p:custDataLst>
    <p:tags r:id="rId36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AAE3"/>
    <a:srgbClr val="45BC0D"/>
    <a:srgbClr val="EF5B25"/>
    <a:srgbClr val="FFCC01"/>
    <a:srgbClr val="942491"/>
    <a:srgbClr val="A0D109"/>
    <a:srgbClr val="652E93"/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55299D-E52F-2D49-B88C-AE8C6648CC67}" v="1095" dt="2026-10-14T05:58:09.251"/>
    <p1510:client id="{B2F5DD42-D1B4-714C-B401-ADC82C7920F2}" v="1838" dt="2026-10-14T05:58:06.619"/>
    <p1510:client id="{E58B4BFE-2E21-4712-8D39-4BB92E997B88}" v="450" dt="2026-10-14T05:57:24.037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40"/>
  </p:normalViewPr>
  <p:slideViewPr>
    <p:cSldViewPr snapToGrid="0">
      <p:cViewPr varScale="1">
        <p:scale>
          <a:sx n="116" d="100"/>
          <a:sy n="116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Relationship Id="rId34" Type="http://schemas.openxmlformats.org/officeDocument/2006/relationships/font" Target="fonts/font5.fntdata"/><Relationship Id="rId35" Type="http://schemas.openxmlformats.org/officeDocument/2006/relationships/font" Target="fonts/font6.fntdata"/><Relationship Id="rId36" Type="http://schemas.openxmlformats.org/officeDocument/2006/relationships/tags" Target="tags/tag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svg"/><Relationship Id="rId3" Type="http://schemas.openxmlformats.org/officeDocument/2006/relationships/image" Target="../media/image21.svg"/><Relationship Id="rId4" Type="http://schemas.openxmlformats.org/officeDocument/2006/relationships/image" Target="../media/image22.svg"/><Relationship Id="rId5" Type="http://schemas.openxmlformats.org/officeDocument/2006/relationships/image" Target="../media/image23.svg"/><Relationship Id="rId6" Type="http://schemas.openxmlformats.org/officeDocument/2006/relationships/hyperlink" Target="https://brand.sap.com/media-library/index.html#/" TargetMode="External"/><Relationship Id="rId7" Type="http://schemas.openxmlformats.org/officeDocument/2006/relationships/hyperlink" Target="https://brand.sap.com/" TargetMode="External"/><Relationship Id="rId8" Type="http://schemas.openxmlformats.org/officeDocument/2006/relationships/hyperlink" Target="https://brand.sap.com/naming-center#/dashboard" TargetMode="External"/><Relationship Id="rId9" Type="http://schemas.openxmlformats.org/officeDocument/2006/relationships/hyperlink" Target="https://brand.sap.com/writing-assistant" TargetMode="Externa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7" name="Picture 6" descr="File:Logo Ziyo.png">
            <a:extLst>
              <a:ext uri="{FF2B5EF4-FFF2-40B4-BE49-F238E27FC236}">
                <a16:creationId xmlns:a16="http://schemas.microsoft.com/office/drawing/2014/main" id="{CE9549EC-21EF-4617-054C-217CA2AE9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DEC5A70-C3A2-0FCE-F37B-7C271FF2BD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12455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AB4E5251-3D94-6055-D4B0-6DE455DC1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6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EF4D20E5-51CD-DC7A-2D14-8B212F83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35FCADB-3290-5229-4F77-9E7F57F626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03025907-CA5E-8CD1-BC6F-5035EC2E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BEB265CF-5D90-043D-C3F4-7E2035335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7844247-794B-5DEC-FEAC-EDCD0A79D6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362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B37602D4-ACC5-6844-7789-7608758A6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11B74BDD-F1BB-DA52-7B7B-44A804727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43B4164-E29F-E17A-66C8-0CB15B26D9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E1879CB-1B0A-D7E1-1CF6-27719BAD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0B9048-8A00-85F4-4DEF-F947906C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pic>
        <p:nvPicPr>
          <p:cNvPr id="8" name="Picture 7" descr="File:Logo Ziyo.png">
            <a:extLst>
              <a:ext uri="{FF2B5EF4-FFF2-40B4-BE49-F238E27FC236}">
                <a16:creationId xmlns:a16="http://schemas.microsoft.com/office/drawing/2014/main" id="{7642844F-C0F1-7CA1-4984-733231E3D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4300E746-E6EC-3652-D8FE-6728C9CAC7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43B15E59-3684-3B86-8A18-65A43122C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0344435-5DB3-93B2-C92A-1A238155E2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5F4D1D8-1D63-6E45-88AA-05747E77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06A0C68-27E1-0FB6-DB26-EC131FEB5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8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782818DA-1EAB-546E-1C96-67D44B5BF9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41147B6-DFE2-B8B9-CF67-D4C8D5AB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886F03EA-EA61-F8A5-315C-4451D524D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1AAEDF85-3098-616A-6246-B6B52032B9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C0CF09E-210C-F4DC-80B3-766EA629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F5DF63F1-87CA-4D56-853F-B28439FFDA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204CAEC-262C-4A8D-33CE-51F5ABBD29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519B094-7FAE-B7EA-A073-FAE749DF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16B35866-3938-B115-64B8-0F0D8FC9A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34D383DC-257D-3B26-F94E-F942A30F0B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CF180CE-133C-46B4-E194-07B4844E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4293" y="4024430"/>
            <a:ext cx="5466588" cy="9984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A02F3090-399D-7BA0-BF93-1572FC1A2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654" y="3929024"/>
            <a:ext cx="1866754" cy="844099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D16479FC-8799-B55A-F466-58CE17E2B9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240" y="4024430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14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14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438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Relationship Id="rId31" Type="http://schemas.openxmlformats.org/officeDocument/2006/relationships/tags" Target="../tags/tag2.xml"/><Relationship Id="rId32" Type="http://schemas.openxmlformats.org/officeDocument/2006/relationships/tags" Target="../tags/tag3.xml"/><Relationship Id="rId33" Type="http://schemas.openxmlformats.org/officeDocument/2006/relationships/tags" Target="../tags/tag4.xml"/><Relationship Id="rId34" Type="http://schemas.openxmlformats.org/officeDocument/2006/relationships/tags" Target="../tags/tag5.xml"/><Relationship Id="rId35" Type="http://schemas.openxmlformats.org/officeDocument/2006/relationships/tags" Target="../tags/tag6.xml"/><Relationship Id="rId36" Type="http://schemas.openxmlformats.org/officeDocument/2006/relationships/tags" Target="../tags/tag7.xml"/><Relationship Id="rId37" Type="http://schemas.openxmlformats.org/officeDocument/2006/relationships/tags" Target="../tags/tag8.xml"/><Relationship Id="rId38" Type="http://schemas.openxmlformats.org/officeDocument/2006/relationships/tags" Target="../tags/tag9.xml"/><Relationship Id="rId39" Type="http://schemas.openxmlformats.org/officeDocument/2006/relationships/tags" Target="../tags/tag10.xml"/><Relationship Id="rId40" Type="http://schemas.openxmlformats.org/officeDocument/2006/relationships/tags" Target="../tags/tag11.xml"/><Relationship Id="rId41" Type="http://schemas.openxmlformats.org/officeDocument/2006/relationships/tags" Target="../tags/tag12.xml"/><Relationship Id="rId42" Type="http://schemas.openxmlformats.org/officeDocument/2006/relationships/tags" Target="../tags/tag13.xml"/><Relationship Id="rId43" Type="http://schemas.openxmlformats.org/officeDocument/2006/relationships/tags" Target="../tags/tag14.xml"/><Relationship Id="rId44" Type="http://schemas.openxmlformats.org/officeDocument/2006/relationships/tags" Target="../tags/tag15.xml"/><Relationship Id="rId45" Type="http://schemas.openxmlformats.org/officeDocument/2006/relationships/tags" Target="../tags/tag16.xml"/><Relationship Id="rId46" Type="http://schemas.openxmlformats.org/officeDocument/2006/relationships/tags" Target="../tags/tag17.xml"/><Relationship Id="rId47" Type="http://schemas.openxmlformats.org/officeDocument/2006/relationships/tags" Target="../tags/tag18.xml"/><Relationship Id="rId48" Type="http://schemas.openxmlformats.org/officeDocument/2006/relationships/tags" Target="../tags/tag19.xml"/><Relationship Id="rId49" Type="http://schemas.openxmlformats.org/officeDocument/2006/relationships/tags" Target="../tags/tag20.xml"/><Relationship Id="rId50" Type="http://schemas.openxmlformats.org/officeDocument/2006/relationships/tags" Target="../tags/tag21.xml"/><Relationship Id="rId51" Type="http://schemas.openxmlformats.org/officeDocument/2006/relationships/tags" Target="../tags/tag22.xml"/><Relationship Id="rId52" Type="http://schemas.openxmlformats.org/officeDocument/2006/relationships/tags" Target="../tags/tag23.xml"/><Relationship Id="rId53" Type="http://schemas.openxmlformats.org/officeDocument/2006/relationships/tags" Target="../tags/tag24.xml"/><Relationship Id="rId54" Type="http://schemas.openxmlformats.org/officeDocument/2006/relationships/tags" Target="../tags/tag25.xml"/><Relationship Id="rId55" Type="http://schemas.openxmlformats.org/officeDocument/2006/relationships/tags" Target="../tags/tag26.xml"/><Relationship Id="rId56" Type="http://schemas.openxmlformats.org/officeDocument/2006/relationships/tags" Target="../tags/tag27.xml"/><Relationship Id="rId57" Type="http://schemas.openxmlformats.org/officeDocument/2006/relationships/tags" Target="../tags/tag28.xml"/><Relationship Id="rId58" Type="http://schemas.openxmlformats.org/officeDocument/2006/relationships/tags" Target="../tags/tag29.xml"/><Relationship Id="rId59" Type="http://schemas.openxmlformats.org/officeDocument/2006/relationships/tags" Target="../tags/tag30.xml"/><Relationship Id="rId60" Type="http://schemas.openxmlformats.org/officeDocument/2006/relationships/tags" Target="../tags/tag31.xml"/><Relationship Id="rId61" Type="http://schemas.openxmlformats.org/officeDocument/2006/relationships/tags" Target="../tags/tag32.xml"/><Relationship Id="rId62" Type="http://schemas.openxmlformats.org/officeDocument/2006/relationships/tags" Target="../tags/tag33.xml"/><Relationship Id="rId63" Type="http://schemas.openxmlformats.org/officeDocument/2006/relationships/tags" Target="../tags/tag34.xml"/><Relationship Id="rId64" Type="http://schemas.openxmlformats.org/officeDocument/2006/relationships/tags" Target="../tags/tag35.xml"/><Relationship Id="rId65" Type="http://schemas.openxmlformats.org/officeDocument/2006/relationships/tags" Target="../tags/tag36.xml"/><Relationship Id="rId66" Type="http://schemas.openxmlformats.org/officeDocument/2006/relationships/tags" Target="../tags/tag37.xml"/><Relationship Id="rId67" Type="http://schemas.openxmlformats.org/officeDocument/2006/relationships/tags" Target="../tags/tag38.xml"/><Relationship Id="rId68" Type="http://schemas.openxmlformats.org/officeDocument/2006/relationships/tags" Target="../tags/tag39.xml"/><Relationship Id="rId69" Type="http://schemas.openxmlformats.org/officeDocument/2006/relationships/tags" Target="../tags/tag40.xml"/><Relationship Id="rId70" Type="http://schemas.openxmlformats.org/officeDocument/2006/relationships/tags" Target="../tags/tag41.xml"/><Relationship Id="rId71" Type="http://schemas.openxmlformats.org/officeDocument/2006/relationships/tags" Target="../tags/tag42.xml"/><Relationship Id="rId72" Type="http://schemas.openxmlformats.org/officeDocument/2006/relationships/tags" Target="../tags/tag43.xml"/><Relationship Id="rId73" Type="http://schemas.openxmlformats.org/officeDocument/2006/relationships/tags" Target="../tags/tag44.xml"/><Relationship Id="rId74" Type="http://schemas.openxmlformats.org/officeDocument/2006/relationships/tags" Target="../tags/tag45.xml"/><Relationship Id="rId75" Type="http://schemas.openxmlformats.org/officeDocument/2006/relationships/tags" Target="../tags/tag46.xml"/><Relationship Id="rId76" Type="http://schemas.openxmlformats.org/officeDocument/2006/relationships/tags" Target="../tags/tag47.xml"/><Relationship Id="rId77" Type="http://schemas.openxmlformats.org/officeDocument/2006/relationships/tags" Target="../tags/tag48.xml"/><Relationship Id="rId78" Type="http://schemas.openxmlformats.org/officeDocument/2006/relationships/tags" Target="../tags/tag49.xml"/><Relationship Id="rId79" Type="http://schemas.openxmlformats.org/officeDocument/2006/relationships/tags" Target="../tags/tag50.xml"/><Relationship Id="rId80" Type="http://schemas.openxmlformats.org/officeDocument/2006/relationships/tags" Target="../tags/tag51.xml"/><Relationship Id="rId81" Type="http://schemas.openxmlformats.org/officeDocument/2006/relationships/tags" Target="../tags/tag52.xml"/><Relationship Id="rId82" Type="http://schemas.openxmlformats.org/officeDocument/2006/relationships/tags" Target="../tags/tag53.xml"/><Relationship Id="rId83" Type="http://schemas.openxmlformats.org/officeDocument/2006/relationships/tags" Target="../tags/tag54.xml"/><Relationship Id="rId84" Type="http://schemas.openxmlformats.org/officeDocument/2006/relationships/tags" Target="../tags/tag55.xml"/><Relationship Id="rId85" Type="http://schemas.openxmlformats.org/officeDocument/2006/relationships/tags" Target="../tags/tag56.xml"/><Relationship Id="rId86" Type="http://schemas.openxmlformats.org/officeDocument/2006/relationships/tags" Target="../tags/tag57.xml"/><Relationship Id="rId87" Type="http://schemas.openxmlformats.org/officeDocument/2006/relationships/tags" Target="../tags/tag58.xml"/><Relationship Id="rId88" Type="http://schemas.openxmlformats.org/officeDocument/2006/relationships/tags" Target="../tags/tag59.xml"/><Relationship Id="rId89" Type="http://schemas.openxmlformats.org/officeDocument/2006/relationships/tags" Target="../tags/tag60.xml"/><Relationship Id="rId90" Type="http://schemas.openxmlformats.org/officeDocument/2006/relationships/tags" Target="../tags/tag61.xml"/><Relationship Id="rId91" Type="http://schemas.openxmlformats.org/officeDocument/2006/relationships/tags" Target="../tags/tag62.xml"/><Relationship Id="rId92" Type="http://schemas.openxmlformats.org/officeDocument/2006/relationships/tags" Target="../tags/tag63.xml"/><Relationship Id="rId93" Type="http://schemas.openxmlformats.org/officeDocument/2006/relationships/tags" Target="../tags/tag64.xml"/><Relationship Id="rId94" Type="http://schemas.openxmlformats.org/officeDocument/2006/relationships/tags" Target="../tags/tag65.xml"/><Relationship Id="rId95" Type="http://schemas.openxmlformats.org/officeDocument/2006/relationships/tags" Target="../tags/tag66.xml"/><Relationship Id="rId96" Type="http://schemas.openxmlformats.org/officeDocument/2006/relationships/tags" Target="../tags/tag67.xml"/><Relationship Id="rId97" Type="http://schemas.openxmlformats.org/officeDocument/2006/relationships/tags" Target="../tags/tag68.xml"/><Relationship Id="rId98" Type="http://schemas.openxmlformats.org/officeDocument/2006/relationships/tags" Target="../tags/tag69.xml"/><Relationship Id="rId99" Type="http://schemas.openxmlformats.org/officeDocument/2006/relationships/tags" Target="../tags/tag70.xml"/><Relationship Id="rId100" Type="http://schemas.openxmlformats.org/officeDocument/2006/relationships/tags" Target="../tags/tag71.xml"/><Relationship Id="rId101" Type="http://schemas.openxmlformats.org/officeDocument/2006/relationships/tags" Target="../tags/tag72.xml"/><Relationship Id="rId102" Type="http://schemas.openxmlformats.org/officeDocument/2006/relationships/tags" Target="../tags/tag73.xml"/><Relationship Id="rId103" Type="http://schemas.openxmlformats.org/officeDocument/2006/relationships/tags" Target="../tags/tag74.xml"/><Relationship Id="rId104" Type="http://schemas.openxmlformats.org/officeDocument/2006/relationships/tags" Target="../tags/tag75.xml"/><Relationship Id="rId105" Type="http://schemas.openxmlformats.org/officeDocument/2006/relationships/tags" Target="../tags/tag76.xml"/><Relationship Id="rId106" Type="http://schemas.openxmlformats.org/officeDocument/2006/relationships/tags" Target="../tags/tag77.xml"/><Relationship Id="rId107" Type="http://schemas.openxmlformats.org/officeDocument/2006/relationships/tags" Target="../tags/tag78.xml"/><Relationship Id="rId108" Type="http://schemas.openxmlformats.org/officeDocument/2006/relationships/tags" Target="../tags/tag79.xml"/><Relationship Id="rId109" Type="http://schemas.openxmlformats.org/officeDocument/2006/relationships/tags" Target="../tags/tag80.xml"/><Relationship Id="rId110" Type="http://schemas.openxmlformats.org/officeDocument/2006/relationships/tags" Target="../tags/tag81.xml"/><Relationship Id="rId111" Type="http://schemas.openxmlformats.org/officeDocument/2006/relationships/tags" Target="../tags/tag82.xml"/><Relationship Id="rId112" Type="http://schemas.openxmlformats.org/officeDocument/2006/relationships/tags" Target="../tags/tag83.xml"/><Relationship Id="rId113" Type="http://schemas.openxmlformats.org/officeDocument/2006/relationships/tags" Target="../tags/tag84.xml"/><Relationship Id="rId114" Type="http://schemas.openxmlformats.org/officeDocument/2006/relationships/tags" Target="../tags/tag85.xml"/><Relationship Id="rId115" Type="http://schemas.openxmlformats.org/officeDocument/2006/relationships/tags" Target="../tags/tag86.xml"/><Relationship Id="rId116" Type="http://schemas.openxmlformats.org/officeDocument/2006/relationships/tags" Target="../tags/tag87.xml"/><Relationship Id="rId117" Type="http://schemas.openxmlformats.org/officeDocument/2006/relationships/tags" Target="../tags/tag88.xml"/><Relationship Id="rId118" Type="http://schemas.openxmlformats.org/officeDocument/2006/relationships/tags" Target="../tags/tag89.xml"/><Relationship Id="rId119" Type="http://schemas.openxmlformats.org/officeDocument/2006/relationships/tags" Target="../tags/tag90.xml"/><Relationship Id="rId120" Type="http://schemas.openxmlformats.org/officeDocument/2006/relationships/tags" Target="../tags/tag91.xml"/><Relationship Id="rId121" Type="http://schemas.openxmlformats.org/officeDocument/2006/relationships/tags" Target="../tags/tag92.xml"/><Relationship Id="rId122" Type="http://schemas.openxmlformats.org/officeDocument/2006/relationships/tags" Target="../tags/tag93.xml"/><Relationship Id="rId123" Type="http://schemas.openxmlformats.org/officeDocument/2006/relationships/tags" Target="../tags/tag94.xml"/><Relationship Id="rId124" Type="http://schemas.openxmlformats.org/officeDocument/2006/relationships/tags" Target="../tags/tag95.xml"/><Relationship Id="rId125" Type="http://schemas.openxmlformats.org/officeDocument/2006/relationships/tags" Target="../tags/tag96.xml"/><Relationship Id="rId126" Type="http://schemas.openxmlformats.org/officeDocument/2006/relationships/tags" Target="../tags/tag97.xml"/><Relationship Id="rId127" Type="http://schemas.openxmlformats.org/officeDocument/2006/relationships/tags" Target="../tags/tag98.xml"/><Relationship Id="rId128" Type="http://schemas.openxmlformats.org/officeDocument/2006/relationships/tags" Target="../tags/tag99.xml"/><Relationship Id="rId129" Type="http://schemas.openxmlformats.org/officeDocument/2006/relationships/tags" Target="../tags/tag100.xml"/><Relationship Id="rId130" Type="http://schemas.openxmlformats.org/officeDocument/2006/relationships/tags" Target="../tags/tag101.xml"/><Relationship Id="rId131" Type="http://schemas.openxmlformats.org/officeDocument/2006/relationships/tags" Target="../tags/tag102.xml"/><Relationship Id="rId132" Type="http://schemas.openxmlformats.org/officeDocument/2006/relationships/tags" Target="../tags/tag103.xml"/><Relationship Id="rId133" Type="http://schemas.openxmlformats.org/officeDocument/2006/relationships/tags" Target="../tags/tag104.xml"/><Relationship Id="rId134" Type="http://schemas.openxmlformats.org/officeDocument/2006/relationships/tags" Target="../tags/tag105.xml"/><Relationship Id="rId135" Type="http://schemas.openxmlformats.org/officeDocument/2006/relationships/tags" Target="../tags/tag106.xml"/><Relationship Id="rId136" Type="http://schemas.openxmlformats.org/officeDocument/2006/relationships/tags" Target="../tags/tag107.xml"/><Relationship Id="rId137" Type="http://schemas.openxmlformats.org/officeDocument/2006/relationships/tags" Target="../tags/tag108.xml"/><Relationship Id="rId138" Type="http://schemas.openxmlformats.org/officeDocument/2006/relationships/tags" Target="../tags/tag109.xml"/><Relationship Id="rId139" Type="http://schemas.openxmlformats.org/officeDocument/2006/relationships/tags" Target="../tags/tag110.xml"/><Relationship Id="rId140" Type="http://schemas.openxmlformats.org/officeDocument/2006/relationships/tags" Target="../tags/tag111.xml"/><Relationship Id="rId141" Type="http://schemas.openxmlformats.org/officeDocument/2006/relationships/tags" Target="../tags/tag112.xml"/><Relationship Id="rId142" Type="http://schemas.openxmlformats.org/officeDocument/2006/relationships/tags" Target="../tags/tag113.xml"/><Relationship Id="rId143" Type="http://schemas.openxmlformats.org/officeDocument/2006/relationships/tags" Target="../tags/tag114.xml"/><Relationship Id="rId144" Type="http://schemas.openxmlformats.org/officeDocument/2006/relationships/tags" Target="../tags/tag115.xml"/><Relationship Id="rId145" Type="http://schemas.openxmlformats.org/officeDocument/2006/relationships/tags" Target="../tags/tag116.xml"/><Relationship Id="rId146" Type="http://schemas.openxmlformats.org/officeDocument/2006/relationships/tags" Target="../tags/tag117.xml"/><Relationship Id="rId147" Type="http://schemas.openxmlformats.org/officeDocument/2006/relationships/tags" Target="../tags/tag118.xml"/><Relationship Id="rId148" Type="http://schemas.openxmlformats.org/officeDocument/2006/relationships/tags" Target="../tags/tag119.xml"/><Relationship Id="rId149" Type="http://schemas.openxmlformats.org/officeDocument/2006/relationships/tags" Target="../tags/tag120.xml"/><Relationship Id="rId150" Type="http://schemas.openxmlformats.org/officeDocument/2006/relationships/tags" Target="../tags/tag121.xml"/><Relationship Id="rId151" Type="http://schemas.openxmlformats.org/officeDocument/2006/relationships/tags" Target="../tags/tag122.xml"/><Relationship Id="rId152" Type="http://schemas.openxmlformats.org/officeDocument/2006/relationships/tags" Target="../tags/tag123.xml"/><Relationship Id="rId153" Type="http://schemas.openxmlformats.org/officeDocument/2006/relationships/tags" Target="../tags/tag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63657"/>
            <a:ext cx="11186476" cy="46895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03238" y="656028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SAP Social Sabbatical x Ziyo Forum 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30" r:id="rId2"/>
    <p:sldLayoutId id="2147483780" r:id="rId3"/>
    <p:sldLayoutId id="2147483805" r:id="rId4"/>
    <p:sldLayoutId id="2147483818" r:id="rId5"/>
    <p:sldLayoutId id="2147483788" r:id="rId6"/>
    <p:sldLayoutId id="2147483823" r:id="rId7"/>
    <p:sldLayoutId id="2147483741" r:id="rId8"/>
    <p:sldLayoutId id="2147483836" r:id="rId9"/>
    <p:sldLayoutId id="2147483765" r:id="rId10"/>
    <p:sldLayoutId id="2147483837" r:id="rId11"/>
    <p:sldLayoutId id="2147483811" r:id="rId12"/>
    <p:sldLayoutId id="2147483767" r:id="rId13"/>
    <p:sldLayoutId id="2147483815" r:id="rId14"/>
    <p:sldLayoutId id="2147483812" r:id="rId15"/>
    <p:sldLayoutId id="2147483774" r:id="rId16"/>
    <p:sldLayoutId id="2147483745" r:id="rId17"/>
    <p:sldLayoutId id="2147483760" r:id="rId18"/>
    <p:sldLayoutId id="2147483768" r:id="rId19"/>
    <p:sldLayoutId id="2147483769" r:id="rId20"/>
    <p:sldLayoutId id="2147483770" r:id="rId21"/>
    <p:sldLayoutId id="2147483771" r:id="rId22"/>
    <p:sldLayoutId id="2147483825" r:id="rId23"/>
    <p:sldLayoutId id="2147483826" r:id="rId24"/>
    <p:sldLayoutId id="2147483810" r:id="rId25"/>
    <p:sldLayoutId id="2147483824" r:id="rId26"/>
    <p:sldLayoutId id="2147483829" r:id="rId27"/>
    <p:sldLayoutId id="2147483828" r:id="rId28"/>
    <p:sldLayoutId id="2147483838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PRODUCT &amp; UX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17043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Ziyo App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0" i="0">
                <a:solidFill>
                  <a:srgbClr val="28AAE3"/>
                </a:solidFill>
                <a:latin typeface="Arial"/>
              </a:rPr>
              <a:t>Gap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2860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B0C8D8"/>
                </a:solidFill>
                <a:latin typeface="Arial"/>
              </a:rPr>
              <a:t>Current App  vs  Prototype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2871216"/>
            <a:ext cx="3127248" cy="22860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03580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B0C8D8"/>
                </a:solidFill>
                <a:latin typeface="Arial"/>
              </a:rPr>
              <a:t>October 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SAP Social Sabbatical  ·  Tashkent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005840"/>
            <a:ext cx="2453640" cy="14173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1005840"/>
            <a:ext cx="2453640" cy="64008"/>
          </a:xfrm>
          <a:prstGeom prst="roundRect">
            <a:avLst>
              <a:gd name="adj" fmla="val 4000"/>
            </a:avLst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143000"/>
            <a:ext cx="2453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45BC0D"/>
                </a:solidFill>
                <a:latin typeface="Arial"/>
              </a:rPr>
              <a:t>26+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1847088"/>
            <a:ext cx="2270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0"/>
                </a:solidFill>
                <a:latin typeface="Arial"/>
              </a:rPr>
              <a:t>Prototype screens mapped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97040" y="1005840"/>
            <a:ext cx="2453640" cy="14173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97040" y="1005840"/>
            <a:ext cx="2453640" cy="64008"/>
          </a:xfrm>
          <a:prstGeom prst="roundRect">
            <a:avLst>
              <a:gd name="adj" fmla="val 4000"/>
            </a:avLst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7040" y="1143000"/>
            <a:ext cx="2453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EF5B25"/>
                </a:solidFill>
                <a:latin typeface="Arial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8480" y="1847088"/>
            <a:ext cx="2270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0"/>
                </a:solidFill>
                <a:latin typeface="Arial"/>
              </a:rPr>
              <a:t>Core feature gaps identified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3560" y="1005840"/>
            <a:ext cx="2453640" cy="14173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33560" y="1005840"/>
            <a:ext cx="2453640" cy="64008"/>
          </a:xfrm>
          <a:prstGeom prst="roundRect">
            <a:avLst>
              <a:gd name="adj" fmla="val 4000"/>
            </a:avLst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3560" y="1143000"/>
            <a:ext cx="2453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942491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1847088"/>
            <a:ext cx="2270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0"/>
                </a:solidFill>
                <a:latin typeface="Arial"/>
              </a:rPr>
              <a:t>Priority recommendation tiers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697480"/>
            <a:ext cx="7726679" cy="1005840"/>
          </a:xfrm>
          <a:prstGeom prst="roundRect">
            <a:avLst>
              <a:gd name="adj" fmla="val 4000"/>
            </a:avLst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60520" y="2697480"/>
            <a:ext cx="73152" cy="1005840"/>
          </a:xfrm>
          <a:prstGeom prst="roundRect">
            <a:avLst>
              <a:gd name="adj" fmla="val 4000"/>
            </a:avLst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2816352"/>
            <a:ext cx="7360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8AAE3"/>
                </a:solidFill>
                <a:latin typeface="Arial"/>
              </a:rPr>
              <a:t>KEY FINDING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3090672"/>
            <a:ext cx="736091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Arial"/>
              </a:rPr>
              <a:t>The prototype demonstrates a substantially richer product — 26+ screens with gamification, skills &amp; CV, jobs, and social features. The current app records an 83.8 % Android uninstall rate, 5 unanswered 1-star reviews, and a UI unchanged for over 12 months. Closing this gap requires an immediate fix sprint followed by a structured three-phase feature roadmap.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913632"/>
            <a:ext cx="7726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5B6670"/>
                </a:solidFill>
                <a:latin typeface="Arial"/>
              </a:rPr>
              <a:t>SCOPE OF THIS ASSESSMENT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4187952"/>
            <a:ext cx="242316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12279" y="4187952"/>
            <a:ext cx="242316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60520" y="4187952"/>
            <a:ext cx="242316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12279" y="4700016"/>
            <a:ext cx="242316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60520" y="4187952"/>
            <a:ext cx="242316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12279" y="4187952"/>
            <a:ext cx="242316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60520" y="4187952"/>
            <a:ext cx="245364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4187952"/>
            <a:ext cx="64008" cy="329184"/>
          </a:xfrm>
          <a:prstGeom prst="roundRect">
            <a:avLst>
              <a:gd name="adj" fmla="val 3000"/>
            </a:avLst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5112" y="4187952"/>
            <a:ext cx="225247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Home &amp; Discovery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05600" y="4187952"/>
            <a:ext cx="245364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05600" y="4187952"/>
            <a:ext cx="64008" cy="329184"/>
          </a:xfrm>
          <a:prstGeom prst="roundRect">
            <a:avLst>
              <a:gd name="adj" fmla="val 3000"/>
            </a:avLst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0191" y="4187952"/>
            <a:ext cx="225247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Gamification &amp; Rewards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50680" y="4187952"/>
            <a:ext cx="245364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50680" y="4187952"/>
            <a:ext cx="64008" cy="329184"/>
          </a:xfrm>
          <a:prstGeom prst="roundRect">
            <a:avLst>
              <a:gd name="adj" fmla="val 3000"/>
            </a:avLst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5272" y="4187952"/>
            <a:ext cx="225247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Content Formats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0520" y="4645152"/>
            <a:ext cx="245364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60520" y="4645152"/>
            <a:ext cx="64008" cy="329184"/>
          </a:xfrm>
          <a:prstGeom prst="roundRect">
            <a:avLst>
              <a:gd name="adj" fmla="val 3000"/>
            </a:avLst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25112" y="4645152"/>
            <a:ext cx="225247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Social &amp; Community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05600" y="4645152"/>
            <a:ext cx="245364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705600" y="4645152"/>
            <a:ext cx="64008" cy="329184"/>
          </a:xfrm>
          <a:prstGeom prst="roundRect">
            <a:avLst>
              <a:gd name="adj" fmla="val 3000"/>
            </a:avLst>
          </a:prstGeom>
          <a:solidFill>
            <a:srgbClr val="FFCC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70191" y="4645152"/>
            <a:ext cx="225247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Profile &amp; History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50680" y="4645152"/>
            <a:ext cx="2453640" cy="32918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63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50680" y="4645152"/>
            <a:ext cx="64008" cy="329184"/>
          </a:xfrm>
          <a:prstGeom prst="roundRect">
            <a:avLst>
              <a:gd name="adj" fmla="val 3000"/>
            </a:avLst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5272" y="4645152"/>
            <a:ext cx="225247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Notifications &amp; Engagement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37960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App  ·  Product &amp; UX Assessment  ·  October 2026  · 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52A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670"/>
                </a:solidFill>
                <a:latin typeface="Arial"/>
              </a:rPr>
              <a:t>Where the Ziyo app stands today — and where the prototype vision takes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83112" cy="36576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42415"/>
            <a:ext cx="5394960" cy="50749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42415"/>
            <a:ext cx="5394960" cy="402336"/>
          </a:xfrm>
          <a:prstGeom prst="roundRect">
            <a:avLst>
              <a:gd name="adj" fmla="val 5000"/>
            </a:avLst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88136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CURRENT APP  —  State as of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572767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5B25"/>
                </a:solidFill>
                <a:latin typeface="Arial"/>
              </a:rPr>
              <a:t>Basic Content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92223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Events, courses, grants, and job listings in a grey, minimal list UI. Interface unchanged for 12+ months — designed by outsourced team; UX Designer cannot iterate without file access. "The app is pretty absent — there's nothing in it." — Aksana, UX Designer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2249424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377439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5B25"/>
                </a:solidFill>
                <a:latin typeface="Arial"/>
              </a:rPr>
              <a:t>Limited Personalisation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596896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No onboarding or interest-selection flow; same content feed for all 297 active Android users regardless of role, city, or interest area.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3054096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182111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5B25"/>
                </a:solidFill>
                <a:latin typeface="Arial"/>
              </a:rPr>
              <a:t>No Gamification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401568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ZiyoCoins concept exists but is invisible: no balance shown, no earning events, no shop. 83.8 % Android uninstall rate reflects zero daily-return incentive.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3858768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986783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5B25"/>
                </a:solidFill>
                <a:latin typeface="Arial"/>
              </a:rPr>
              <a:t>Single Content 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06240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Text/image cards only; no video, no audio. Android image distortion bug ("pictures look smashed") reported to developer for months — still unfixed.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" y="4663440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791455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5B25"/>
                </a:solidFill>
                <a:latin typeface="Arial"/>
              </a:rPr>
              <a:t>Thin Social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010912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No in-app chat, reactions, or community discussion. Event registration runs via Telegram bot + QR → Google Docs, entirely outside the app.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" y="5468112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5596127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5B25"/>
                </a:solidFill>
                <a:latin typeface="Arial"/>
              </a:rPr>
              <a:t>Static 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815583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Basic info only; no certificate download, attendance history, achievements, skills, CV, or applied-jobs/grants tracking.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" y="6272783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1042415"/>
            <a:ext cx="5394960" cy="50749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1042415"/>
            <a:ext cx="5394960" cy="402336"/>
          </a:xfrm>
          <a:prstGeom prst="roundRect">
            <a:avLst>
              <a:gd name="adj" fmla="val 5000"/>
            </a:avLst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088136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PROTOTYPE VISION  —  What the redesign delivers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1572767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5BC0D"/>
                </a:solidFill>
                <a:latin typeface="Arial"/>
              </a:rPr>
              <a:t>Personalised Home Feed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1792223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5 category tabs (Events / Courses / Grants / Jobs / Podcasts), featured cards with coin-reward badges, match-% personalised ranking, weekly leaderboard rank on home header.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64808" y="2249424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2377439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5BC0D"/>
                </a:solidFill>
                <a:latin typeface="Arial"/>
              </a:rPr>
              <a:t>Full Gamification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2596896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ZiyoCoin balance visible on home, earn on enrolment, spend in an in-app merch shop.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64808" y="3054096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3182111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5BC0D"/>
                </a:solidFill>
                <a:latin typeface="Arial"/>
              </a:rPr>
              <a:t>Rich Content Formats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401568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Quick Bytes (TikTok-style shorts), Podcast player with transcript, and Course curriculum detail.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64808" y="3858768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8" y="3986783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5BC0D"/>
                </a:solidFill>
                <a:latin typeface="Arial"/>
              </a:rPr>
              <a:t>Social &amp; Community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4206240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Event chatrooms, emoji reactions, direct messages, and group discussions.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4808" y="4663440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8" y="4791455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5BC0D"/>
                </a:solidFill>
                <a:latin typeface="Arial"/>
              </a:rPr>
              <a:t>Leaderboard &amp; Recognition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8" y="5010912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Medal podium for top 3, full ranked list, 'Your Rank' sticky bar to drive competition.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64808" y="5468112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4808" y="5596127"/>
            <a:ext cx="5084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5BC0D"/>
                </a:solidFill>
                <a:latin typeface="Arial"/>
              </a:rPr>
              <a:t>Achievement Profile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4808" y="5815583"/>
            <a:ext cx="50840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Stats (coins / events attended / certs earned), Skills &amp; CV section (skill tags + CV upload + AI gap analysis), Jobs &amp; Internships applied, certificate PDF download, leaderboard rank promo.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64808" y="6272783"/>
            <a:ext cx="4992624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37960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App  ·  Product &amp; UX Assessment  ·  October 2026  ·  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52A"/>
                </a:solidFill>
                <a:latin typeface="Arial"/>
              </a:rPr>
              <a:t>Feature Gap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670"/>
                </a:solidFill>
                <a:latin typeface="Arial"/>
              </a:rPr>
              <a:t>Side-by-side comparison across six core capability areas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83112" cy="36576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2286000" cy="347472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52928" y="1024128"/>
            <a:ext cx="4114800" cy="347472"/>
          </a:xfrm>
          <a:prstGeom prst="rect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0" y="1024128"/>
            <a:ext cx="4681728" cy="347472"/>
          </a:xfrm>
          <a:prstGeom prst="rect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060704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FEATURE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1060704"/>
            <a:ext cx="39684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CURRENT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1060704"/>
            <a:ext cx="4535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PROTOTYPE 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11155680" cy="69494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417320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22592" y="1417320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1453896"/>
            <a:ext cx="212140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252A"/>
                </a:solidFill>
                <a:latin typeface="Arial"/>
              </a:rPr>
              <a:t>Home &amp;
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1490472"/>
            <a:ext cx="39502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Generic feed, no categories, no smart ranking, no search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1490472"/>
            <a:ext cx="45171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Category tabs (Events / Courses / Grants / Jobs), featured cards, match-% personalised ranking, coin-reward labels, weekly rank on header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12264"/>
            <a:ext cx="1115568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0" y="2112264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22592" y="2112264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148840"/>
            <a:ext cx="212140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252A"/>
                </a:solidFill>
                <a:latin typeface="Arial"/>
              </a:rPr>
              <a:t>Gamification &amp;
Rewards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2656" y="2185416"/>
            <a:ext cx="39502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ZiyoCoins exist in backend but are invisible in UI; no balance shown, no earning events, no redemption; no leaderboard anywhere in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2185416"/>
            <a:ext cx="45171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Coin balance on home, earn on enrolment, full merch shop (6+ items)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07208"/>
            <a:ext cx="11155680" cy="69494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34640" y="2807208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22592" y="2807208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2843784"/>
            <a:ext cx="212140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252A"/>
                </a:solidFill>
                <a:latin typeface="Arial"/>
              </a:rPr>
              <a:t>Content
Formats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2656" y="2880360"/>
            <a:ext cx="39502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Text/image cards only; no short-form video, no podcast player; Android image distortion bug ("smashed" images) reported for months, unfixed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2880360"/>
            <a:ext cx="45171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Quick Bytes (TikTok snap-scroll), Podcast player + transcript, Course curriculum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02152"/>
            <a:ext cx="1115568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34640" y="3502152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2592" y="3502152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3538728"/>
            <a:ext cx="212140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252A"/>
                </a:solidFill>
                <a:latin typeface="Arial"/>
              </a:rPr>
              <a:t>Social &amp;
Community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656" y="3575304"/>
            <a:ext cx="39502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No chat, no reactions, no group discussions within 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3575304"/>
            <a:ext cx="45171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Event chatrooms, emoji reactions, DMs, tap-to-react on messages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197096"/>
            <a:ext cx="11155680" cy="69494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34640" y="4197096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22592" y="4197096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4233672"/>
            <a:ext cx="212140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252A"/>
                </a:solidFill>
                <a:latin typeface="Arial"/>
              </a:rPr>
              <a:t>Profile &amp;
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62656" y="4270248"/>
            <a:ext cx="39502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Static profile; no history, no certificates, no achievement display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4270248"/>
            <a:ext cx="45171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Stats card, Skills &amp; CV (skill tags + CV upload + AI recommendations), certificate download, attended/upcoming tabs, Jobs applied, leaderboard promo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892040"/>
            <a:ext cx="1115568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34640" y="4892040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22592" y="4892040"/>
            <a:ext cx="18288" cy="694944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" y="4928616"/>
            <a:ext cx="212140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252A"/>
                </a:solidFill>
                <a:latin typeface="Arial"/>
              </a:rPr>
              <a:t>Notifications &amp;
Engagement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62656" y="4965192"/>
            <a:ext cx="39502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Basic push only; no in-app notification centre, no typed 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8" y="4965192"/>
            <a:ext cx="45171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Rich notification centre: reminders, coin-earned, rank-up, cert-ready alerts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586983"/>
            <a:ext cx="11155680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537960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App  ·  Product &amp; UX Assessment  ·  October 2026  ·  Feature Gap Matrix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52A"/>
                </a:solidFill>
                <a:latin typeface="Arial"/>
              </a:rPr>
              <a:t>UX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670"/>
                </a:solidFill>
                <a:latin typeface="Arial"/>
              </a:rPr>
              <a:t>Prototype strengths · Current-app gaps · Design system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83112" cy="36576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3638338" cy="5138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24128"/>
            <a:ext cx="3638338" cy="347472"/>
          </a:xfrm>
          <a:prstGeom prst="roundRect">
            <a:avLst>
              <a:gd name="adj" fmla="val 5000"/>
            </a:avLst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51560"/>
            <a:ext cx="345545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PROTOTYPE STRENGTHS</a:t>
            </a:r>
          </a:p>
        </p:txBody>
      </p:sp>
      <p:sp>
        <p:nvSpPr>
          <p:cNvPr id="9" name="Right Triangle 8"/>
          <p:cNvSpPr/>
          <p:nvPr/>
        </p:nvSpPr>
        <p:spPr>
          <a:xfrm rot="5400000">
            <a:off x="685800" y="1508760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4813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Clear visual hierarchy</a:t>
            </a:r>
          </a:p>
        </p:txBody>
      </p:sp>
      <p:sp>
        <p:nvSpPr>
          <p:cNvPr id="11" name="Right Triangle 10"/>
          <p:cNvSpPr/>
          <p:nvPr/>
        </p:nvSpPr>
        <p:spPr>
          <a:xfrm rot="5400000">
            <a:off x="850392" y="1865376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18379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Green brand colour applied consistently</a:t>
            </a:r>
          </a:p>
        </p:txBody>
      </p:sp>
      <p:sp>
        <p:nvSpPr>
          <p:cNvPr id="13" name="Right Triangle 12"/>
          <p:cNvSpPr/>
          <p:nvPr/>
        </p:nvSpPr>
        <p:spPr>
          <a:xfrm rot="5400000">
            <a:off x="685800" y="2194560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1671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iOS-native interaction patterns</a:t>
            </a:r>
          </a:p>
        </p:txBody>
      </p:sp>
      <p:sp>
        <p:nvSpPr>
          <p:cNvPr id="15" name="Right Triangle 14"/>
          <p:cNvSpPr/>
          <p:nvPr/>
        </p:nvSpPr>
        <p:spPr>
          <a:xfrm rot="5400000">
            <a:off x="850392" y="2551176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25237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Haptic-ready FAB for QR scan</a:t>
            </a:r>
          </a:p>
        </p:txBody>
      </p:sp>
      <p:sp>
        <p:nvSpPr>
          <p:cNvPr id="17" name="Right Triangle 16"/>
          <p:cNvSpPr/>
          <p:nvPr/>
        </p:nvSpPr>
        <p:spPr>
          <a:xfrm rot="5400000">
            <a:off x="685800" y="2880360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28529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Gamification incentive loop</a:t>
            </a:r>
          </a:p>
        </p:txBody>
      </p:sp>
      <p:sp>
        <p:nvSpPr>
          <p:cNvPr id="19" name="Right Triangle 18"/>
          <p:cNvSpPr/>
          <p:nvPr/>
        </p:nvSpPr>
        <p:spPr>
          <a:xfrm rot="5400000">
            <a:off x="850392" y="3236976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32095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Coins earned → visible balance → redeemable</a:t>
            </a:r>
          </a:p>
        </p:txBody>
      </p:sp>
      <p:sp>
        <p:nvSpPr>
          <p:cNvPr id="21" name="Right Triangle 20"/>
          <p:cNvSpPr/>
          <p:nvPr/>
        </p:nvSpPr>
        <p:spPr>
          <a:xfrm rot="5400000">
            <a:off x="685800" y="3566160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5387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Rich content variety</a:t>
            </a:r>
          </a:p>
        </p:txBody>
      </p:sp>
      <p:sp>
        <p:nvSpPr>
          <p:cNvPr id="23" name="Right Triangle 22"/>
          <p:cNvSpPr/>
          <p:nvPr/>
        </p:nvSpPr>
        <p:spPr>
          <a:xfrm rot="5400000">
            <a:off x="850392" y="3922776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38953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Video, audio, text, live events</a:t>
            </a:r>
          </a:p>
        </p:txBody>
      </p:sp>
      <p:sp>
        <p:nvSpPr>
          <p:cNvPr id="25" name="Right Triangle 24"/>
          <p:cNvSpPr/>
          <p:nvPr/>
        </p:nvSpPr>
        <p:spPr>
          <a:xfrm rot="5400000">
            <a:off x="685800" y="4251960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42245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Emotional engagement design</a:t>
            </a:r>
          </a:p>
        </p:txBody>
      </p:sp>
      <p:sp>
        <p:nvSpPr>
          <p:cNvPr id="27" name="Right Triangle 26"/>
          <p:cNvSpPr/>
          <p:nvPr/>
        </p:nvSpPr>
        <p:spPr>
          <a:xfrm rot="5400000">
            <a:off x="850392" y="4608576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45811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Reactions, confetti, leaderboard podium</a:t>
            </a:r>
          </a:p>
        </p:txBody>
      </p:sp>
      <p:sp>
        <p:nvSpPr>
          <p:cNvPr id="29" name="Right Triangle 28"/>
          <p:cNvSpPr/>
          <p:nvPr/>
        </p:nvSpPr>
        <p:spPr>
          <a:xfrm rot="5400000">
            <a:off x="685800" y="4937760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49103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Onboarding-ready architecture</a:t>
            </a:r>
          </a:p>
        </p:txBody>
      </p:sp>
      <p:sp>
        <p:nvSpPr>
          <p:cNvPr id="31" name="Right Triangle 30"/>
          <p:cNvSpPr/>
          <p:nvPr/>
        </p:nvSpPr>
        <p:spPr>
          <a:xfrm rot="5400000">
            <a:off x="850392" y="5294376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" y="52669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Category selection implied on home screen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8418" y="1024128"/>
            <a:ext cx="3638338" cy="5138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78418" y="1024128"/>
            <a:ext cx="3638338" cy="347472"/>
          </a:xfrm>
          <a:prstGeom prst="roundRect">
            <a:avLst>
              <a:gd name="adj" fmla="val 5000"/>
            </a:avLst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6434" y="1051560"/>
            <a:ext cx="345545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CURRENT APP GAPS</a:t>
            </a:r>
          </a:p>
        </p:txBody>
      </p:sp>
      <p:sp>
        <p:nvSpPr>
          <p:cNvPr id="36" name="Right Triangle 35"/>
          <p:cNvSpPr/>
          <p:nvPr/>
        </p:nvSpPr>
        <p:spPr>
          <a:xfrm rot="5400000">
            <a:off x="4461298" y="1508760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9042" y="14813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No engagement loop</a:t>
            </a:r>
          </a:p>
        </p:txBody>
      </p:sp>
      <p:sp>
        <p:nvSpPr>
          <p:cNvPr id="38" name="Right Triangle 37"/>
          <p:cNvSpPr/>
          <p:nvPr/>
        </p:nvSpPr>
        <p:spPr>
          <a:xfrm rot="5400000">
            <a:off x="4625890" y="1865376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63634" y="18379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83.8 % Android uninstall rate (2,018 of 2,408 installs); iOS active users fell from 121 peak to 14; all growth is promotion-driven with no organic return flywheel</a:t>
            </a:r>
          </a:p>
        </p:txBody>
      </p:sp>
      <p:sp>
        <p:nvSpPr>
          <p:cNvPr id="40" name="Right Triangle 39"/>
          <p:cNvSpPr/>
          <p:nvPr/>
        </p:nvSpPr>
        <p:spPr>
          <a:xfrm rot="5400000">
            <a:off x="4461298" y="2194560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99042" y="21671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Fragmented content experience</a:t>
            </a:r>
          </a:p>
        </p:txBody>
      </p:sp>
      <p:sp>
        <p:nvSpPr>
          <p:cNvPr id="42" name="Right Triangle 41"/>
          <p:cNvSpPr/>
          <p:nvPr/>
        </p:nvSpPr>
        <p:spPr>
          <a:xfrm rot="5400000">
            <a:off x="4625890" y="2551176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63634" y="25237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"The app is pretty absent — there's nothing in it. Quite grey, not bright, doesn't attract users' attention." — Aksana (UX Designer). Interface unchanged for 12+ months.</a:t>
            </a:r>
          </a:p>
        </p:txBody>
      </p:sp>
      <p:sp>
        <p:nvSpPr>
          <p:cNvPr id="44" name="Right Triangle 43"/>
          <p:cNvSpPr/>
          <p:nvPr/>
        </p:nvSpPr>
        <p:spPr>
          <a:xfrm rot="5400000">
            <a:off x="4461298" y="2880360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99042" y="28529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Absent personalisation</a:t>
            </a:r>
          </a:p>
        </p:txBody>
      </p:sp>
      <p:sp>
        <p:nvSpPr>
          <p:cNvPr id="46" name="Right Triangle 45"/>
          <p:cNvSpPr/>
          <p:nvPr/>
        </p:nvSpPr>
        <p:spPr>
          <a:xfrm rot="5400000">
            <a:off x="4625890" y="3236976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63634" y="32095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Same grey UI for all users; no interest model; no onboarding. UX Designer cannot iterate — needs file access from developer (Azam) to make any changes.</a:t>
            </a:r>
          </a:p>
        </p:txBody>
      </p:sp>
      <p:sp>
        <p:nvSpPr>
          <p:cNvPr id="48" name="Right Triangle 47"/>
          <p:cNvSpPr/>
          <p:nvPr/>
        </p:nvSpPr>
        <p:spPr>
          <a:xfrm rot="5400000">
            <a:off x="4461298" y="3566160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99042" y="35387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Shallow social proof</a:t>
            </a:r>
          </a:p>
        </p:txBody>
      </p:sp>
      <p:sp>
        <p:nvSpPr>
          <p:cNvPr id="50" name="Right Triangle 49"/>
          <p:cNvSpPr/>
          <p:nvPr/>
        </p:nvSpPr>
        <p:spPr>
          <a:xfrm rot="5400000">
            <a:off x="4625890" y="3922776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63634" y="38953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Event registration via Telegram bot + QR → Google Docs, not in-app. No attendee counts, reactions, or post-event feedback loop visible to users.</a:t>
            </a:r>
          </a:p>
        </p:txBody>
      </p:sp>
      <p:sp>
        <p:nvSpPr>
          <p:cNvPr id="52" name="Right Triangle 51"/>
          <p:cNvSpPr/>
          <p:nvPr/>
        </p:nvSpPr>
        <p:spPr>
          <a:xfrm rot="5400000">
            <a:off x="4461298" y="4251960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99042" y="42245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Missing achievement system</a:t>
            </a:r>
          </a:p>
        </p:txBody>
      </p:sp>
      <p:sp>
        <p:nvSpPr>
          <p:cNvPr id="54" name="Right Triangle 53"/>
          <p:cNvSpPr/>
          <p:nvPr/>
        </p:nvSpPr>
        <p:spPr>
          <a:xfrm rot="5400000">
            <a:off x="4625890" y="4608576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63634" y="45811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No certificates in profile; no Skills &amp; CV; no Jobs/Grants applied tracking. 5 unanswered 1-star app-store reviews — critical signal left without response.</a:t>
            </a:r>
          </a:p>
        </p:txBody>
      </p:sp>
      <p:sp>
        <p:nvSpPr>
          <p:cNvPr id="56" name="Right Triangle 55"/>
          <p:cNvSpPr/>
          <p:nvPr/>
        </p:nvSpPr>
        <p:spPr>
          <a:xfrm rot="5400000">
            <a:off x="4461298" y="4937760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99042" y="49103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No quick-consume content</a:t>
            </a:r>
          </a:p>
        </p:txBody>
      </p:sp>
      <p:sp>
        <p:nvSpPr>
          <p:cNvPr id="58" name="Right Triangle 57"/>
          <p:cNvSpPr/>
          <p:nvPr/>
        </p:nvSpPr>
        <p:spPr>
          <a:xfrm rot="5400000">
            <a:off x="4625890" y="5294376"/>
            <a:ext cx="164592" cy="109728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63634" y="52669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No shorts, no audio for commute use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53916" y="1024128"/>
            <a:ext cx="3638338" cy="5138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053916" y="1024128"/>
            <a:ext cx="3638338" cy="347472"/>
          </a:xfrm>
          <a:prstGeom prst="roundRect">
            <a:avLst>
              <a:gd name="adj" fmla="val 5000"/>
            </a:avLst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81932" y="1051560"/>
            <a:ext cx="345545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DESIGN SYSTEM NOTES</a:t>
            </a:r>
          </a:p>
        </p:txBody>
      </p:sp>
      <p:sp>
        <p:nvSpPr>
          <p:cNvPr id="63" name="Right Triangle 62"/>
          <p:cNvSpPr/>
          <p:nvPr/>
        </p:nvSpPr>
        <p:spPr>
          <a:xfrm rot="5400000">
            <a:off x="8236796" y="1508760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74540" y="14813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Font: Inter (prototype) vs system font</a:t>
            </a:r>
          </a:p>
        </p:txBody>
      </p:sp>
      <p:sp>
        <p:nvSpPr>
          <p:cNvPr id="65" name="Right Triangle 64"/>
          <p:cNvSpPr/>
          <p:nvPr/>
        </p:nvSpPr>
        <p:spPr>
          <a:xfrm rot="5400000">
            <a:off x="8401388" y="1865376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39132" y="18379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Recommend standardise on Inter or Geist</a:t>
            </a:r>
          </a:p>
        </p:txBody>
      </p:sp>
      <p:sp>
        <p:nvSpPr>
          <p:cNvPr id="67" name="Right Triangle 66"/>
          <p:cNvSpPr/>
          <p:nvPr/>
        </p:nvSpPr>
        <p:spPr>
          <a:xfrm rot="5400000">
            <a:off x="8236796" y="2194560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74540" y="21671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Primary green: #17C41E (prototype)</a:t>
            </a:r>
          </a:p>
        </p:txBody>
      </p:sp>
      <p:sp>
        <p:nvSpPr>
          <p:cNvPr id="69" name="Right Triangle 68"/>
          <p:cNvSpPr/>
          <p:nvPr/>
        </p:nvSpPr>
        <p:spPr>
          <a:xfrm rot="5400000">
            <a:off x="8401388" y="2551176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39132" y="25237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Template uses #45BC0D — harmonise tokens</a:t>
            </a:r>
          </a:p>
        </p:txBody>
      </p:sp>
      <p:sp>
        <p:nvSpPr>
          <p:cNvPr id="71" name="Right Triangle 70"/>
          <p:cNvSpPr/>
          <p:nvPr/>
        </p:nvSpPr>
        <p:spPr>
          <a:xfrm rot="5400000">
            <a:off x="8236796" y="2880360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74540" y="28529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Corner radius: 18px (iOS standard)</a:t>
            </a:r>
          </a:p>
        </p:txBody>
      </p:sp>
      <p:sp>
        <p:nvSpPr>
          <p:cNvPr id="73" name="Right Triangle 72"/>
          <p:cNvSpPr/>
          <p:nvPr/>
        </p:nvSpPr>
        <p:spPr>
          <a:xfrm rot="5400000">
            <a:off x="8401388" y="3236976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39132" y="32095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Ensure parity with Android Material You</a:t>
            </a:r>
          </a:p>
        </p:txBody>
      </p:sp>
      <p:sp>
        <p:nvSpPr>
          <p:cNvPr id="75" name="Right Triangle 74"/>
          <p:cNvSpPr/>
          <p:nvPr/>
        </p:nvSpPr>
        <p:spPr>
          <a:xfrm rot="5400000">
            <a:off x="8236796" y="3566160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74540" y="35387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Tab bar: 5 items + FAB centre</a:t>
            </a:r>
          </a:p>
        </p:txBody>
      </p:sp>
      <p:sp>
        <p:nvSpPr>
          <p:cNvPr id="77" name="Right Triangle 76"/>
          <p:cNvSpPr/>
          <p:nvPr/>
        </p:nvSpPr>
        <p:spPr>
          <a:xfrm rot="5400000">
            <a:off x="8401388" y="3922776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39132" y="38953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QR scanner as FAB is distinctive UX</a:t>
            </a:r>
          </a:p>
        </p:txBody>
      </p:sp>
      <p:sp>
        <p:nvSpPr>
          <p:cNvPr id="79" name="Right Triangle 78"/>
          <p:cNvSpPr/>
          <p:nvPr/>
        </p:nvSpPr>
        <p:spPr>
          <a:xfrm rot="5400000">
            <a:off x="8236796" y="4251960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74540" y="42245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Dark/light theming not yet designed</a:t>
            </a:r>
          </a:p>
        </p:txBody>
      </p:sp>
      <p:sp>
        <p:nvSpPr>
          <p:cNvPr id="81" name="Right Triangle 80"/>
          <p:cNvSpPr/>
          <p:nvPr/>
        </p:nvSpPr>
        <p:spPr>
          <a:xfrm rot="5400000">
            <a:off x="8401388" y="4608576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39132" y="45811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Leaderboard dark bg is isolated instance</a:t>
            </a:r>
          </a:p>
        </p:txBody>
      </p:sp>
      <p:sp>
        <p:nvSpPr>
          <p:cNvPr id="83" name="Right Triangle 82"/>
          <p:cNvSpPr/>
          <p:nvPr/>
        </p:nvSpPr>
        <p:spPr>
          <a:xfrm rot="5400000">
            <a:off x="8236796" y="4937760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74540" y="4910328"/>
            <a:ext cx="332744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52A"/>
                </a:solidFill>
                <a:latin typeface="Arial"/>
              </a:rPr>
              <a:t>Accessibility</a:t>
            </a:r>
          </a:p>
        </p:txBody>
      </p:sp>
      <p:sp>
        <p:nvSpPr>
          <p:cNvPr id="85" name="Right Triangle 84"/>
          <p:cNvSpPr/>
          <p:nvPr/>
        </p:nvSpPr>
        <p:spPr>
          <a:xfrm rot="5400000">
            <a:off x="8401388" y="5294376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39132" y="5266944"/>
            <a:ext cx="31628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Arial"/>
              </a:rPr>
              <a:t>Verify WCAG AA contrast on green CTAs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6537960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App  ·  Product &amp; UX Assessment  ·  October 2026  ·  UX Assessment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52A"/>
                </a:solidFill>
                <a:latin typeface="Arial"/>
              </a:rPr>
              <a:t>Priority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670"/>
                </a:solidFill>
                <a:latin typeface="Arial"/>
              </a:rPr>
              <a:t>Three-phase roadmap to close the gap between current app and prototype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83112" cy="36576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3607858" cy="512064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24128"/>
            <a:ext cx="3607858" cy="512064"/>
          </a:xfrm>
          <a:prstGeom prst="roundRect">
            <a:avLst>
              <a:gd name="adj" fmla="val 5000"/>
            </a:avLst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60704"/>
            <a:ext cx="34066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PHASE 1  —  QUICK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316736"/>
            <a:ext cx="340669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E8F6FF"/>
                </a:solidFill>
                <a:latin typeface="Arial"/>
              </a:rPr>
              <a:t>0–8 weeks</a:t>
            </a:r>
          </a:p>
        </p:txBody>
      </p:sp>
      <p:sp>
        <p:nvSpPr>
          <p:cNvPr id="10" name="Right Triangle 9"/>
          <p:cNvSpPr/>
          <p:nvPr/>
        </p:nvSpPr>
        <p:spPr>
          <a:xfrm rot="5400000">
            <a:off x="667512" y="1691640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664208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Coin Balance on Home screen</a:t>
            </a:r>
          </a:p>
        </p:txBody>
      </p:sp>
      <p:sp>
        <p:nvSpPr>
          <p:cNvPr id="12" name="Right Triangle 11"/>
          <p:cNvSpPr/>
          <p:nvPr/>
        </p:nvSpPr>
        <p:spPr>
          <a:xfrm rot="5400000">
            <a:off x="832104" y="2020824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93392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Show earned / available coins prominently</a:t>
            </a:r>
          </a:p>
        </p:txBody>
      </p:sp>
      <p:sp>
        <p:nvSpPr>
          <p:cNvPr id="14" name="Right Triangle 13"/>
          <p:cNvSpPr/>
          <p:nvPr/>
        </p:nvSpPr>
        <p:spPr>
          <a:xfrm rot="5400000">
            <a:off x="667512" y="2322576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295144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Fix Android image distortion</a:t>
            </a:r>
          </a:p>
        </p:txBody>
      </p:sp>
      <p:sp>
        <p:nvSpPr>
          <p:cNvPr id="16" name="Right Triangle 15"/>
          <p:cNvSpPr/>
          <p:nvPr/>
        </p:nvSpPr>
        <p:spPr>
          <a:xfrm rot="5400000">
            <a:off x="832104" y="2651760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624328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Images appear 'smashed' on Android — reported for months, still unfixed. Affects all 297 active Android users; critical for retention.</a:t>
            </a:r>
          </a:p>
        </p:txBody>
      </p:sp>
      <p:sp>
        <p:nvSpPr>
          <p:cNvPr id="18" name="Right Triangle 17"/>
          <p:cNvSpPr/>
          <p:nvPr/>
        </p:nvSpPr>
        <p:spPr>
          <a:xfrm rot="5400000">
            <a:off x="667512" y="2953512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926080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Reply to 5 unanswered 1-star app-store reviews</a:t>
            </a:r>
          </a:p>
        </p:txBody>
      </p:sp>
      <p:sp>
        <p:nvSpPr>
          <p:cNvPr id="20" name="Right Triangle 19"/>
          <p:cNvSpPr/>
          <p:nvPr/>
        </p:nvSpPr>
        <p:spPr>
          <a:xfrm rot="5400000">
            <a:off x="832104" y="3282696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255264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Public response with V2 timeline commitment improves store ranking, rebuild trust, and signals active development.</a:t>
            </a:r>
          </a:p>
        </p:txBody>
      </p:sp>
      <p:sp>
        <p:nvSpPr>
          <p:cNvPr id="22" name="Right Triangle 21"/>
          <p:cNvSpPr/>
          <p:nvPr/>
        </p:nvSpPr>
        <p:spPr>
          <a:xfrm rot="5400000">
            <a:off x="667512" y="3584448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557016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In-app event registration</a:t>
            </a:r>
          </a:p>
        </p:txBody>
      </p:sp>
      <p:sp>
        <p:nvSpPr>
          <p:cNvPr id="24" name="Right Triangle 23"/>
          <p:cNvSpPr/>
          <p:nvPr/>
        </p:nvSpPr>
        <p:spPr>
          <a:xfrm rot="5400000">
            <a:off x="832104" y="3913632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886200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Replace Telegram bot + QR → Google Docs flow with native registration. Top request from Events Head (Sirojiddin) — enables proper attendee tracking.</a:t>
            </a:r>
          </a:p>
        </p:txBody>
      </p:sp>
      <p:sp>
        <p:nvSpPr>
          <p:cNvPr id="26" name="Right Triangle 25"/>
          <p:cNvSpPr/>
          <p:nvPr/>
        </p:nvSpPr>
        <p:spPr>
          <a:xfrm rot="5400000">
            <a:off x="667512" y="4215384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4187952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Content category chips on Home</a:t>
            </a:r>
          </a:p>
        </p:txBody>
      </p:sp>
      <p:sp>
        <p:nvSpPr>
          <p:cNvPr id="28" name="Right Triangle 27"/>
          <p:cNvSpPr/>
          <p:nvPr/>
        </p:nvSpPr>
        <p:spPr>
          <a:xfrm rot="5400000">
            <a:off x="832104" y="4544568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517136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Allow filtering by Events/Courses/Grants</a:t>
            </a:r>
          </a:p>
        </p:txBody>
      </p:sp>
      <p:sp>
        <p:nvSpPr>
          <p:cNvPr id="30" name="Right Triangle 29"/>
          <p:cNvSpPr/>
          <p:nvPr/>
        </p:nvSpPr>
        <p:spPr>
          <a:xfrm rot="5400000">
            <a:off x="667512" y="4846320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818888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QR ticket scanner</a:t>
            </a:r>
          </a:p>
        </p:txBody>
      </p:sp>
      <p:sp>
        <p:nvSpPr>
          <p:cNvPr id="32" name="Right Triangle 31"/>
          <p:cNvSpPr/>
          <p:nvPr/>
        </p:nvSpPr>
        <p:spPr>
          <a:xfrm rot="5400000">
            <a:off x="832104" y="5175504"/>
            <a:ext cx="164592" cy="109728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148072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Camera-based check-in at events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3658" y="1024128"/>
            <a:ext cx="3607858" cy="512064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93658" y="1024128"/>
            <a:ext cx="3607858" cy="512064"/>
          </a:xfrm>
          <a:prstGeom prst="roundRect">
            <a:avLst>
              <a:gd name="adj" fmla="val 5000"/>
            </a:avLst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21674" y="1060704"/>
            <a:ext cx="34066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PHASE 2  —  MEDIUM TERM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21674" y="1316736"/>
            <a:ext cx="340669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E8F6FF"/>
                </a:solidFill>
                <a:latin typeface="Arial"/>
              </a:rPr>
              <a:t>2–5 months</a:t>
            </a:r>
          </a:p>
        </p:txBody>
      </p:sp>
      <p:sp>
        <p:nvSpPr>
          <p:cNvPr id="38" name="Right Triangle 37"/>
          <p:cNvSpPr/>
          <p:nvPr/>
        </p:nvSpPr>
        <p:spPr>
          <a:xfrm rot="5400000">
            <a:off x="4458250" y="1691640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77706" y="1664208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ZiyoCoin Shop (MVP)</a:t>
            </a:r>
          </a:p>
        </p:txBody>
      </p:sp>
      <p:sp>
        <p:nvSpPr>
          <p:cNvPr id="40" name="Right Triangle 39"/>
          <p:cNvSpPr/>
          <p:nvPr/>
        </p:nvSpPr>
        <p:spPr>
          <a:xfrm rot="5400000">
            <a:off x="4622842" y="2020824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2298" y="1993392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3–5 redeemable merch items</a:t>
            </a:r>
          </a:p>
        </p:txBody>
      </p:sp>
      <p:sp>
        <p:nvSpPr>
          <p:cNvPr id="42" name="Right Triangle 41"/>
          <p:cNvSpPr/>
          <p:nvPr/>
        </p:nvSpPr>
        <p:spPr>
          <a:xfrm rot="5400000">
            <a:off x="4458250" y="2322576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7706" y="2295144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Quick Bytes short-form content</a:t>
            </a:r>
          </a:p>
        </p:txBody>
      </p:sp>
      <p:sp>
        <p:nvSpPr>
          <p:cNvPr id="44" name="Right Triangle 43"/>
          <p:cNvSpPr/>
          <p:nvPr/>
        </p:nvSpPr>
        <p:spPr>
          <a:xfrm rot="5400000">
            <a:off x="4622842" y="2651760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2298" y="2624328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TikTok-style vertical scroll feed</a:t>
            </a:r>
          </a:p>
        </p:txBody>
      </p:sp>
      <p:sp>
        <p:nvSpPr>
          <p:cNvPr id="46" name="Right Triangle 45"/>
          <p:cNvSpPr/>
          <p:nvPr/>
        </p:nvSpPr>
        <p:spPr>
          <a:xfrm rot="5400000">
            <a:off x="4458250" y="2953512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77706" y="2926080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Podcast player integration</a:t>
            </a:r>
          </a:p>
        </p:txBody>
      </p:sp>
      <p:sp>
        <p:nvSpPr>
          <p:cNvPr id="48" name="Right Triangle 47"/>
          <p:cNvSpPr/>
          <p:nvPr/>
        </p:nvSpPr>
        <p:spPr>
          <a:xfrm rot="5400000">
            <a:off x="4622842" y="3282696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2298" y="3255264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Native audio with progress + transcript</a:t>
            </a:r>
          </a:p>
        </p:txBody>
      </p:sp>
      <p:sp>
        <p:nvSpPr>
          <p:cNvPr id="50" name="Right Triangle 49"/>
          <p:cNvSpPr/>
          <p:nvPr/>
        </p:nvSpPr>
        <p:spPr>
          <a:xfrm rot="5400000">
            <a:off x="4458250" y="3584448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77706" y="3557016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Leaderboard</a:t>
            </a:r>
          </a:p>
        </p:txBody>
      </p:sp>
      <p:sp>
        <p:nvSpPr>
          <p:cNvPr id="52" name="Right Triangle 51"/>
          <p:cNvSpPr/>
          <p:nvPr/>
        </p:nvSpPr>
        <p:spPr>
          <a:xfrm rot="5400000">
            <a:off x="4622842" y="3913632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2298" y="3886200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Weekly/monthly rankings with podium</a:t>
            </a:r>
          </a:p>
        </p:txBody>
      </p:sp>
      <p:sp>
        <p:nvSpPr>
          <p:cNvPr id="54" name="Right Triangle 53"/>
          <p:cNvSpPr/>
          <p:nvPr/>
        </p:nvSpPr>
        <p:spPr>
          <a:xfrm rot="5400000">
            <a:off x="4458250" y="4215384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77706" y="4187952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Event chatroom</a:t>
            </a:r>
          </a:p>
        </p:txBody>
      </p:sp>
      <p:sp>
        <p:nvSpPr>
          <p:cNvPr id="56" name="Right Triangle 55"/>
          <p:cNvSpPr/>
          <p:nvPr/>
        </p:nvSpPr>
        <p:spPr>
          <a:xfrm rot="5400000">
            <a:off x="4622842" y="4544568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42298" y="4517136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Group chat linked to registered events</a:t>
            </a:r>
          </a:p>
        </p:txBody>
      </p:sp>
      <p:sp>
        <p:nvSpPr>
          <p:cNvPr id="58" name="Right Triangle 57"/>
          <p:cNvSpPr/>
          <p:nvPr/>
        </p:nvSpPr>
        <p:spPr>
          <a:xfrm rot="5400000">
            <a:off x="4458250" y="4846320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77706" y="4818888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Personalisation onboarding</a:t>
            </a:r>
          </a:p>
        </p:txBody>
      </p:sp>
      <p:sp>
        <p:nvSpPr>
          <p:cNvPr id="60" name="Right Triangle 59"/>
          <p:cNvSpPr/>
          <p:nvPr/>
        </p:nvSpPr>
        <p:spPr>
          <a:xfrm rot="5400000">
            <a:off x="4622842" y="5175504"/>
            <a:ext cx="164592" cy="109728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42298" y="5148072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Interest selection at first launch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84396" y="1024128"/>
            <a:ext cx="3607858" cy="512064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084396" y="1024128"/>
            <a:ext cx="3607858" cy="512064"/>
          </a:xfrm>
          <a:prstGeom prst="roundRect">
            <a:avLst>
              <a:gd name="adj" fmla="val 5000"/>
            </a:avLst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12412" y="1060704"/>
            <a:ext cx="34066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PHASE 3  —  STRATEGIC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12412" y="1316736"/>
            <a:ext cx="340669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E8F6FF"/>
                </a:solidFill>
                <a:latin typeface="Arial"/>
              </a:rPr>
              <a:t>6–12 months</a:t>
            </a:r>
          </a:p>
        </p:txBody>
      </p:sp>
      <p:sp>
        <p:nvSpPr>
          <p:cNvPr id="66" name="Right Triangle 65"/>
          <p:cNvSpPr/>
          <p:nvPr/>
        </p:nvSpPr>
        <p:spPr>
          <a:xfrm rot="5400000">
            <a:off x="8248988" y="1691640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68444" y="1664208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Full gamification engine</a:t>
            </a:r>
          </a:p>
        </p:txBody>
      </p:sp>
      <p:sp>
        <p:nvSpPr>
          <p:cNvPr id="68" name="Right Triangle 67"/>
          <p:cNvSpPr/>
          <p:nvPr/>
        </p:nvSpPr>
        <p:spPr>
          <a:xfrm rot="5400000">
            <a:off x="8413580" y="2020824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33036" y="1993392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Streaks, badges, challenges, coin multipliers</a:t>
            </a:r>
          </a:p>
        </p:txBody>
      </p:sp>
      <p:sp>
        <p:nvSpPr>
          <p:cNvPr id="70" name="Right Triangle 69"/>
          <p:cNvSpPr/>
          <p:nvPr/>
        </p:nvSpPr>
        <p:spPr>
          <a:xfrm rot="5400000">
            <a:off x="8248988" y="2322576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68444" y="2295144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Recommendation algorithm</a:t>
            </a:r>
          </a:p>
        </p:txBody>
      </p:sp>
      <p:sp>
        <p:nvSpPr>
          <p:cNvPr id="72" name="Right Triangle 71"/>
          <p:cNvSpPr/>
          <p:nvPr/>
        </p:nvSpPr>
        <p:spPr>
          <a:xfrm rot="5400000">
            <a:off x="8413580" y="2651760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33036" y="2624328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ML-based content ranking per user</a:t>
            </a:r>
          </a:p>
        </p:txBody>
      </p:sp>
      <p:sp>
        <p:nvSpPr>
          <p:cNvPr id="74" name="Right Triangle 73"/>
          <p:cNvSpPr/>
          <p:nvPr/>
        </p:nvSpPr>
        <p:spPr>
          <a:xfrm rot="5400000">
            <a:off x="8248988" y="2953512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68444" y="2926080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Partner / organiser dashboard</a:t>
            </a:r>
          </a:p>
        </p:txBody>
      </p:sp>
      <p:sp>
        <p:nvSpPr>
          <p:cNvPr id="76" name="Right Triangle 75"/>
          <p:cNvSpPr/>
          <p:nvPr/>
        </p:nvSpPr>
        <p:spPr>
          <a:xfrm rot="5400000">
            <a:off x="8413580" y="3282696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33036" y="3255264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Self-service event publishing</a:t>
            </a:r>
          </a:p>
        </p:txBody>
      </p:sp>
      <p:sp>
        <p:nvSpPr>
          <p:cNvPr id="78" name="Right Triangle 77"/>
          <p:cNvSpPr/>
          <p:nvPr/>
        </p:nvSpPr>
        <p:spPr>
          <a:xfrm rot="5400000">
            <a:off x="8248988" y="3584448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68444" y="3557016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Emoji reactions everywhere</a:t>
            </a:r>
          </a:p>
        </p:txBody>
      </p:sp>
      <p:sp>
        <p:nvSpPr>
          <p:cNvPr id="80" name="Right Triangle 79"/>
          <p:cNvSpPr/>
          <p:nvPr/>
        </p:nvSpPr>
        <p:spPr>
          <a:xfrm rot="5400000">
            <a:off x="8413580" y="3913632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33036" y="3886200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Content, events, podcast episodes</a:t>
            </a:r>
          </a:p>
        </p:txBody>
      </p:sp>
      <p:sp>
        <p:nvSpPr>
          <p:cNvPr id="82" name="Right Triangle 81"/>
          <p:cNvSpPr/>
          <p:nvPr/>
        </p:nvSpPr>
        <p:spPr>
          <a:xfrm rot="5400000">
            <a:off x="8248988" y="4215384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68444" y="4187952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Internship &amp; grant applications</a:t>
            </a:r>
          </a:p>
        </p:txBody>
      </p:sp>
      <p:sp>
        <p:nvSpPr>
          <p:cNvPr id="84" name="Right Triangle 83"/>
          <p:cNvSpPr/>
          <p:nvPr/>
        </p:nvSpPr>
        <p:spPr>
          <a:xfrm rot="5400000">
            <a:off x="8413580" y="4544568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33036" y="4517136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In-app apply flow with CV upload</a:t>
            </a:r>
          </a:p>
        </p:txBody>
      </p:sp>
      <p:sp>
        <p:nvSpPr>
          <p:cNvPr id="86" name="Right Triangle 85"/>
          <p:cNvSpPr/>
          <p:nvPr/>
        </p:nvSpPr>
        <p:spPr>
          <a:xfrm rot="5400000">
            <a:off x="8248988" y="4846320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68444" y="4818888"/>
            <a:ext cx="3333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252A"/>
                </a:solidFill>
                <a:latin typeface="Arial"/>
              </a:rPr>
              <a:t>Alumni &amp; mentoring network</a:t>
            </a:r>
          </a:p>
        </p:txBody>
      </p:sp>
      <p:sp>
        <p:nvSpPr>
          <p:cNvPr id="88" name="Right Triangle 87"/>
          <p:cNvSpPr/>
          <p:nvPr/>
        </p:nvSpPr>
        <p:spPr>
          <a:xfrm rot="5400000">
            <a:off x="8413580" y="5175504"/>
            <a:ext cx="164592" cy="109728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33036" y="5148072"/>
            <a:ext cx="3168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Peer-to-peer coaching, success stories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6537960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App  ·  Product &amp; UX Assessment  ·  October 2026  ·  Priority Recommendations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382BC52CB2D4794C5FE8ABF2F1E6D" ma:contentTypeVersion="7" ma:contentTypeDescription="Create a new document." ma:contentTypeScope="" ma:versionID="348c84fe305dc118b090b2fbf42a30b0">
  <xsd:schema xmlns:xsd="http://www.w3.org/2001/XMLSchema" xmlns:xs="http://www.w3.org/2001/XMLSchema" xmlns:p="http://schemas.microsoft.com/office/2006/metadata/properties" xmlns:ns2="c76864f1-b314-4248-9b56-a31ecd826e67" targetNamespace="http://schemas.microsoft.com/office/2006/metadata/properties" ma:root="true" ma:fieldsID="b98b9a66e785a54d941ab51fa03976ea" ns2:_="">
    <xsd:import namespace="c76864f1-b314-4248-9b56-a31ecd826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864f1-b314-4248-9b56-a31ecd826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49FFC8-2FF3-4057-96F0-3BCD1A4F0351}">
  <ds:schemaRefs/>
</ds:datastoreItem>
</file>

<file path=customXml/itemProps2.xml><?xml version="1.0" encoding="utf-8"?>
<ds:datastoreItem xmlns:ds="http://schemas.openxmlformats.org/officeDocument/2006/customXml" ds:itemID="{C1422F45-04DB-421D-8796-270006657806}">
  <ds:schemaRefs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c76864f1-b314-4248-9b56-a31ecd826e67"/>
  </ds:schemaRefs>
</ds:datastoreItem>
</file>

<file path=customXml/itemProps3.xml><?xml version="1.0" encoding="utf-8"?>
<ds:datastoreItem xmlns:ds="http://schemas.openxmlformats.org/officeDocument/2006/customXml" ds:itemID="{7CA587DF-D838-4809-A700-CA6DEAEB6C44}">
  <ds:schemaRefs>
    <ds:schemaRef ds:uri="c76864f1-b314-4248-9b56-a31ecd826e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626BBCBB-1894-4E66-BA48-9E91CE3ACBA0}">
  <ds:schemaRefs/>
</ds:datastoreItem>
</file>

<file path=customXml/itemProps5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1</TotalTime>
  <Words>329</Words>
  <Application>Microsoft Macintosh PowerPoint</Application>
  <PresentationFormat>Custom</PresentationFormat>
  <Paragraphs>84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Symbol</vt:lpstr>
      <vt:lpstr>72 Brand</vt:lpstr>
      <vt:lpstr>Wingdings</vt:lpstr>
      <vt:lpstr>72 Brand Medium</vt:lpstr>
      <vt:lpstr>Wingdings</vt:lpstr>
      <vt:lpstr>SAP Template</vt:lpstr>
      <vt:lpstr>Ziyo App Content, Growth and Partner Strategy </vt:lpstr>
      <vt:lpstr>Welcome!  Xush kelibsiz!</vt:lpstr>
      <vt:lpstr>PowerPoint Presentation</vt:lpstr>
      <vt:lpstr>PowerPoint Presentation</vt:lpstr>
      <vt:lpstr>PowerPoint Presentation</vt:lpstr>
      <vt:lpstr>Common Ground Umumiy fikr</vt:lpstr>
      <vt:lpstr>Thank you!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Headline</vt:lpstr>
      <vt:lpstr>Headline Sub-Headline</vt:lpstr>
      <vt:lpstr>Headline Sub-Headline</vt:lpstr>
      <vt:lpstr>Agenda</vt:lpstr>
      <vt:lpstr>Logos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Fehlau, Anja</dc:creator>
  <dc:description/>
  <cp:lastModifiedBy>Bisht, Pankaj</cp:lastModifiedBy>
  <cp:revision>2</cp:revision>
  <dcterms:created xsi:type="dcterms:W3CDTF">2026-09-25T13:39:56Z</dcterms:created>
  <dcterms:modified xsi:type="dcterms:W3CDTF">2026-10-14T06:06:57Z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0x01010038A382BC52CB2D4794C5FE8ABF2F1E6D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