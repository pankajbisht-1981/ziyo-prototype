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Chocolates" charset="1" panose="02000503020000020003"/>
      <p:regular r:id="rId17"/>
    </p:embeddedFont>
    <p:embeddedFont>
      <p:font typeface="TT Chocolates Bold" charset="1" panose="020008030200000200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98333" y="-1944177"/>
            <a:ext cx="14034670" cy="4771788"/>
          </a:xfrm>
          <a:custGeom>
            <a:avLst/>
            <a:gdLst/>
            <a:ahLst/>
            <a:cxnLst/>
            <a:rect r="r" b="b" t="t" l="l"/>
            <a:pathLst>
              <a:path h="4771788" w="14034670">
                <a:moveTo>
                  <a:pt x="0" y="0"/>
                </a:moveTo>
                <a:lnTo>
                  <a:pt x="14034670" y="0"/>
                </a:lnTo>
                <a:lnTo>
                  <a:pt x="14034670" y="4771788"/>
                </a:lnTo>
                <a:lnTo>
                  <a:pt x="0" y="4771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5283407" y="2827611"/>
            <a:ext cx="11102518" cy="10977615"/>
          </a:xfrm>
          <a:custGeom>
            <a:avLst/>
            <a:gdLst/>
            <a:ahLst/>
            <a:cxnLst/>
            <a:rect r="r" b="b" t="t" l="l"/>
            <a:pathLst>
              <a:path h="10977615" w="11102518">
                <a:moveTo>
                  <a:pt x="0" y="0"/>
                </a:moveTo>
                <a:lnTo>
                  <a:pt x="11102518" y="0"/>
                </a:lnTo>
                <a:lnTo>
                  <a:pt x="11102518" y="10977615"/>
                </a:lnTo>
                <a:lnTo>
                  <a:pt x="0" y="10977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2672031"/>
            <a:ext cx="47625" cy="3802747"/>
            <a:chOff x="0" y="0"/>
            <a:chExt cx="12543" cy="10015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43" cy="1001547"/>
            </a:xfrm>
            <a:custGeom>
              <a:avLst/>
              <a:gdLst/>
              <a:ahLst/>
              <a:cxnLst/>
              <a:rect r="r" b="b" t="t" l="l"/>
              <a:pathLst>
                <a:path h="1001547" w="12543">
                  <a:moveTo>
                    <a:pt x="0" y="0"/>
                  </a:moveTo>
                  <a:lnTo>
                    <a:pt x="12543" y="0"/>
                  </a:lnTo>
                  <a:lnTo>
                    <a:pt x="12543" y="1001547"/>
                  </a:lnTo>
                  <a:lnTo>
                    <a:pt x="0" y="1001547"/>
                  </a:lnTo>
                  <a:close/>
                </a:path>
              </a:pathLst>
            </a:custGeom>
            <a:solidFill>
              <a:srgbClr val="17C41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543" cy="1039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43325" y="112642"/>
            <a:ext cx="2400426" cy="2407292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58835" y="3665002"/>
            <a:ext cx="9787805" cy="186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10"/>
              </a:lnSpc>
            </a:pPr>
            <a:r>
              <a:rPr lang="en-US" sz="6555" spc="707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ПРЕЗЕНТАЦИЯ ПРОЕКТА </a:t>
            </a:r>
            <a:r>
              <a:rPr lang="en-US" b="true" sz="6555" spc="707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ZIYO APP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128803" y="2248143"/>
            <a:ext cx="9991852" cy="7643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50751" y="-2824344"/>
            <a:ext cx="7793769" cy="7706089"/>
          </a:xfrm>
          <a:custGeom>
            <a:avLst/>
            <a:gdLst/>
            <a:ahLst/>
            <a:cxnLst/>
            <a:rect r="r" b="b" t="t" l="l"/>
            <a:pathLst>
              <a:path h="7706089" w="7793769">
                <a:moveTo>
                  <a:pt x="0" y="0"/>
                </a:moveTo>
                <a:lnTo>
                  <a:pt x="7793769" y="0"/>
                </a:lnTo>
                <a:lnTo>
                  <a:pt x="7793769" y="7706088"/>
                </a:lnTo>
                <a:lnTo>
                  <a:pt x="0" y="770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6424243" y="3952924"/>
            <a:ext cx="11102518" cy="10977615"/>
          </a:xfrm>
          <a:custGeom>
            <a:avLst/>
            <a:gdLst/>
            <a:ahLst/>
            <a:cxnLst/>
            <a:rect r="r" b="b" t="t" l="l"/>
            <a:pathLst>
              <a:path h="10977615" w="11102518">
                <a:moveTo>
                  <a:pt x="0" y="0"/>
                </a:moveTo>
                <a:lnTo>
                  <a:pt x="11102519" y="0"/>
                </a:lnTo>
                <a:lnTo>
                  <a:pt x="11102519" y="10977615"/>
                </a:lnTo>
                <a:lnTo>
                  <a:pt x="0" y="109776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9613639" y="0"/>
            <a:ext cx="8603573" cy="10287000"/>
            <a:chOff x="0" y="0"/>
            <a:chExt cx="8603361" cy="10286746"/>
          </a:xfrm>
        </p:grpSpPr>
        <p:sp>
          <p:nvSpPr>
            <p:cNvPr name="Freeform 5" id="5"/>
            <p:cNvSpPr/>
            <p:nvPr/>
          </p:nvSpPr>
          <p:spPr>
            <a:xfrm flipH="false" flipV="false" rot="578311">
              <a:off x="919590" y="-643328"/>
              <a:ext cx="8479752" cy="11576862"/>
            </a:xfrm>
            <a:custGeom>
              <a:avLst/>
              <a:gdLst/>
              <a:ahLst/>
              <a:cxnLst/>
              <a:rect r="r" b="b" t="t" l="l"/>
              <a:pathLst>
                <a:path h="11576862" w="8479752">
                  <a:moveTo>
                    <a:pt x="8478288" y="10102294"/>
                  </a:moveTo>
                  <a:cubicBezTo>
                    <a:pt x="8483837" y="10134973"/>
                    <a:pt x="8473702" y="10139013"/>
                    <a:pt x="8446282" y="10143669"/>
                  </a:cubicBezTo>
                  <a:cubicBezTo>
                    <a:pt x="5631893" y="10620990"/>
                    <a:pt x="2817736" y="11098915"/>
                    <a:pt x="3453" y="11576862"/>
                  </a:cubicBezTo>
                  <a:cubicBezTo>
                    <a:pt x="-2872" y="11563895"/>
                    <a:pt x="1284" y="11550436"/>
                    <a:pt x="2016" y="11537301"/>
                  </a:cubicBezTo>
                  <a:cubicBezTo>
                    <a:pt x="31692" y="10962626"/>
                    <a:pt x="61515" y="10388055"/>
                    <a:pt x="91588" y="9813441"/>
                  </a:cubicBezTo>
                  <a:cubicBezTo>
                    <a:pt x="134480" y="8994214"/>
                    <a:pt x="177769" y="8175049"/>
                    <a:pt x="220536" y="7355843"/>
                  </a:cubicBezTo>
                  <a:cubicBezTo>
                    <a:pt x="273380" y="6344146"/>
                    <a:pt x="325723" y="5332534"/>
                    <a:pt x="378463" y="4320983"/>
                  </a:cubicBezTo>
                  <a:cubicBezTo>
                    <a:pt x="432072" y="3293312"/>
                    <a:pt x="485827" y="2265744"/>
                    <a:pt x="540084" y="1238091"/>
                  </a:cubicBezTo>
                  <a:cubicBezTo>
                    <a:pt x="543378" y="1175570"/>
                    <a:pt x="541556" y="1112501"/>
                    <a:pt x="553579" y="1050558"/>
                  </a:cubicBezTo>
                  <a:cubicBezTo>
                    <a:pt x="2610484" y="701236"/>
                    <a:pt x="4667388" y="351914"/>
                    <a:pt x="6724186" y="1967"/>
                  </a:cubicBezTo>
                  <a:cubicBezTo>
                    <a:pt x="6752108" y="-2775"/>
                    <a:pt x="6762197" y="-1011"/>
                    <a:pt x="6767619" y="30917"/>
                  </a:cubicBezTo>
                  <a:cubicBezTo>
                    <a:pt x="7337014" y="3388226"/>
                    <a:pt x="7907161" y="6745408"/>
                    <a:pt x="8478288" y="10102294"/>
                  </a:cubicBezTo>
                  <a:close/>
                </a:path>
              </a:pathLst>
            </a:custGeom>
            <a:blipFill>
              <a:blip r:embed="rId4"/>
              <a:stretch>
                <a:fillRect l="0" t="-9611" r="-8244" b="-6228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6115771">
            <a:off x="2113806" y="4768167"/>
            <a:ext cx="16230600" cy="750665"/>
          </a:xfrm>
          <a:custGeom>
            <a:avLst/>
            <a:gdLst/>
            <a:ahLst/>
            <a:cxnLst/>
            <a:rect r="r" b="b" t="t" l="l"/>
            <a:pathLst>
              <a:path h="750665" w="16230600">
                <a:moveTo>
                  <a:pt x="0" y="0"/>
                </a:moveTo>
                <a:lnTo>
                  <a:pt x="16230600" y="0"/>
                </a:lnTo>
                <a:lnTo>
                  <a:pt x="16230600" y="750666"/>
                </a:lnTo>
                <a:lnTo>
                  <a:pt x="0" y="750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2097" y="933450"/>
            <a:ext cx="6913614" cy="78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35"/>
              </a:lnSpc>
              <a:spcBef>
                <a:spcPct val="0"/>
              </a:spcBef>
            </a:pPr>
            <a:r>
              <a:rPr lang="en-US" b="true" sz="4596" spc="29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Что такое Ziyo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2097" y="2564262"/>
            <a:ext cx="9141542" cy="149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47" spc="195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Ziyo App – </a:t>
            </a:r>
            <a:r>
              <a:rPr lang="en-US" sz="2747" spc="195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это цифровая платформа, помогающая молодежи находить полезные события, образовательные программы </a:t>
            </a:r>
          </a:p>
          <a:p>
            <a:pPr algn="l">
              <a:lnSpc>
                <a:spcPts val="2967"/>
              </a:lnSpc>
            </a:pPr>
            <a:r>
              <a:rPr lang="en-US" sz="2747" spc="195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и профессиональные возможности.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2097" y="4514522"/>
            <a:ext cx="8610673" cy="484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47" spc="195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Основная цель приложения:</a:t>
            </a:r>
          </a:p>
          <a:p>
            <a:pPr algn="l">
              <a:lnSpc>
                <a:spcPts val="2967"/>
              </a:lnSpc>
            </a:pPr>
            <a:r>
              <a:rPr lang="en-US" sz="2747" spc="195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Создать удобную экосистему для саморазвития, где пользователи могут узнавать о возможностях, проходить обучение и взаимодействовать с сообществом.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47" spc="195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Целевая аудитория:</a:t>
            </a:r>
          </a:p>
          <a:p>
            <a:pPr algn="l">
              <a:lnSpc>
                <a:spcPts val="2967"/>
              </a:lnSpc>
            </a:pPr>
            <a:r>
              <a:rPr lang="en-US" sz="2747" spc="195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Студенты, молодые специалисты, школьники старших классов, активная молодежь, интересующаяся образованием, карьерным ростом и культурными мероприятиями.</a:t>
            </a:r>
          </a:p>
          <a:p>
            <a:pPr algn="l">
              <a:lnSpc>
                <a:spcPts val="296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4320" y="2616362"/>
            <a:ext cx="12798371" cy="258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577" indent="-317788" lvl="1">
              <a:lnSpc>
                <a:spcPts val="3444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Базовая версия мобильного приложения</a:t>
            </a:r>
          </a:p>
          <a:p>
            <a:pPr algn="l" marL="635577" indent="-317788" lvl="1">
              <a:lnSpc>
                <a:spcPts val="3444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А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нонсы мероприятий, новости и гранты</a:t>
            </a:r>
          </a:p>
          <a:p>
            <a:pPr algn="l" marL="635577" indent="-317788" lvl="1">
              <a:lnSpc>
                <a:spcPts val="3444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Система баллов и обм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ена на призы</a:t>
            </a:r>
          </a:p>
          <a:p>
            <a:pPr algn="l" marL="635577" indent="-317788" lvl="1">
              <a:lnSpc>
                <a:spcPts val="3444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Социальные сети</a:t>
            </a:r>
          </a:p>
          <a:p>
            <a:pPr algn="l" marL="635577" indent="-317788" lvl="1">
              <a:lnSpc>
                <a:spcPts val="3444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Устные соглашения с организациями-партнерами по ивентам</a:t>
            </a:r>
          </a:p>
          <a:p>
            <a:pPr algn="l">
              <a:lnSpc>
                <a:spcPts val="3444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87244" y="3783472"/>
            <a:ext cx="9212958" cy="9109312"/>
          </a:xfrm>
          <a:custGeom>
            <a:avLst/>
            <a:gdLst/>
            <a:ahLst/>
            <a:cxnLst/>
            <a:rect r="r" b="b" t="t" l="l"/>
            <a:pathLst>
              <a:path h="9109312" w="9212958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116921" y="-2234901"/>
            <a:ext cx="9212958" cy="9109312"/>
          </a:xfrm>
          <a:custGeom>
            <a:avLst/>
            <a:gdLst/>
            <a:ahLst/>
            <a:cxnLst/>
            <a:rect r="r" b="b" t="t" l="l"/>
            <a:pathLst>
              <a:path h="9109312" w="9212958">
                <a:moveTo>
                  <a:pt x="0" y="0"/>
                </a:moveTo>
                <a:lnTo>
                  <a:pt x="9212957" y="0"/>
                </a:lnTo>
                <a:lnTo>
                  <a:pt x="9212957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4050100" y="2616362"/>
            <a:ext cx="102679" cy="2017174"/>
            <a:chOff x="0" y="0"/>
            <a:chExt cx="22114" cy="4344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14" cy="434434"/>
            </a:xfrm>
            <a:custGeom>
              <a:avLst/>
              <a:gdLst/>
              <a:ahLst/>
              <a:cxnLst/>
              <a:rect r="r" b="b" t="t" l="l"/>
              <a:pathLst>
                <a:path h="434434" w="22114">
                  <a:moveTo>
                    <a:pt x="0" y="0"/>
                  </a:moveTo>
                  <a:lnTo>
                    <a:pt x="22114" y="0"/>
                  </a:lnTo>
                  <a:lnTo>
                    <a:pt x="22114" y="434434"/>
                  </a:lnTo>
                  <a:lnTo>
                    <a:pt x="0" y="434434"/>
                  </a:lnTo>
                  <a:close/>
                </a:path>
              </a:pathLst>
            </a:custGeom>
            <a:solidFill>
              <a:srgbClr val="17C41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14" cy="472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5309" y="933450"/>
            <a:ext cx="9299256" cy="83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7"/>
              </a:lnSpc>
              <a:spcBef>
                <a:spcPct val="0"/>
              </a:spcBef>
            </a:pPr>
            <a:r>
              <a:rPr lang="en-US" b="true" sz="4897" spc="31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Текущий статус проекта: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0731" y="2681597"/>
            <a:ext cx="2472987" cy="85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64"/>
              </a:lnSpc>
            </a:pPr>
            <a:r>
              <a:rPr lang="en-US" sz="3235" spc="21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Что уже готово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050100" y="5181001"/>
            <a:ext cx="102679" cy="3874185"/>
            <a:chOff x="0" y="0"/>
            <a:chExt cx="22114" cy="8343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14" cy="834373"/>
            </a:xfrm>
            <a:custGeom>
              <a:avLst/>
              <a:gdLst/>
              <a:ahLst/>
              <a:cxnLst/>
              <a:rect r="r" b="b" t="t" l="l"/>
              <a:pathLst>
                <a:path h="834373" w="22114">
                  <a:moveTo>
                    <a:pt x="0" y="0"/>
                  </a:moveTo>
                  <a:lnTo>
                    <a:pt x="22114" y="0"/>
                  </a:lnTo>
                  <a:lnTo>
                    <a:pt x="22114" y="834373"/>
                  </a:lnTo>
                  <a:lnTo>
                    <a:pt x="0" y="834373"/>
                  </a:lnTo>
                  <a:close/>
                </a:path>
              </a:pathLst>
            </a:custGeom>
            <a:solidFill>
              <a:srgbClr val="17C41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114" cy="872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95309" y="5233970"/>
            <a:ext cx="2748410" cy="87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82"/>
              </a:lnSpc>
            </a:pPr>
            <a:r>
              <a:rPr lang="en-US" sz="3252" spc="211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Основные вызовы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61070" y="5186345"/>
            <a:ext cx="10655851" cy="3868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577" indent="-317788" lvl="1">
              <a:lnSpc>
                <a:spcPts val="3444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Масштабирование серверной инфраструктуры (увеличение числа пользователей)</a:t>
            </a:r>
          </a:p>
          <a:p>
            <a:pPr algn="l" marL="635577" indent="-317788" lvl="1">
              <a:lnSpc>
                <a:spcPts val="3444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Работа над багами и оптимизация работы приложения</a:t>
            </a:r>
          </a:p>
          <a:p>
            <a:pPr algn="l" marL="635577" indent="-317788" lvl="1">
              <a:lnSpc>
                <a:spcPts val="3444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Разработка новых модулей: образовательные курсы, стажировки в местных организациях, конкурсы и розыгрыши для пользователей </a:t>
            </a:r>
          </a:p>
          <a:p>
            <a:pPr algn="l" marL="635577" indent="-317788" lvl="1">
              <a:lnSpc>
                <a:spcPts val="3444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Маркетинг и продвижение (SMM, коллаборации, реклама)</a:t>
            </a:r>
          </a:p>
          <a:p>
            <a:pPr algn="l" marL="635577" indent="-317788" lvl="1">
              <a:lnSpc>
                <a:spcPts val="3444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Аналитика и статистика, создание общей базы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87244" y="3783472"/>
            <a:ext cx="9212958" cy="9109312"/>
          </a:xfrm>
          <a:custGeom>
            <a:avLst/>
            <a:gdLst/>
            <a:ahLst/>
            <a:cxnLst/>
            <a:rect r="r" b="b" t="t" l="l"/>
            <a:pathLst>
              <a:path h="9109312" w="9212958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681521" y="-2308503"/>
            <a:ext cx="9212958" cy="9109312"/>
          </a:xfrm>
          <a:custGeom>
            <a:avLst/>
            <a:gdLst/>
            <a:ahLst/>
            <a:cxnLst/>
            <a:rect r="r" b="b" t="t" l="l"/>
            <a:pathLst>
              <a:path h="9109312" w="9212958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3578" y="0"/>
            <a:ext cx="8355729" cy="12316993"/>
          </a:xfrm>
          <a:custGeom>
            <a:avLst/>
            <a:gdLst/>
            <a:ahLst/>
            <a:cxnLst/>
            <a:rect r="r" b="b" t="t" l="l"/>
            <a:pathLst>
              <a:path h="12316993" w="8355729">
                <a:moveTo>
                  <a:pt x="0" y="0"/>
                </a:moveTo>
                <a:lnTo>
                  <a:pt x="8355730" y="0"/>
                </a:lnTo>
                <a:lnTo>
                  <a:pt x="8355730" y="12316993"/>
                </a:lnTo>
                <a:lnTo>
                  <a:pt x="0" y="12316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188" t="-10315" r="-8290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08173" y="-76200"/>
            <a:ext cx="9764412" cy="10141951"/>
          </a:xfrm>
          <a:custGeom>
            <a:avLst/>
            <a:gdLst/>
            <a:ahLst/>
            <a:cxnLst/>
            <a:rect r="r" b="b" t="t" l="l"/>
            <a:pathLst>
              <a:path h="10141951" w="9764412">
                <a:moveTo>
                  <a:pt x="0" y="0"/>
                </a:moveTo>
                <a:lnTo>
                  <a:pt x="9764412" y="0"/>
                </a:lnTo>
                <a:lnTo>
                  <a:pt x="9764412" y="10141951"/>
                </a:lnTo>
                <a:lnTo>
                  <a:pt x="0" y="10141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998" t="-3332" r="-54156" b="-1697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56004" y="0"/>
            <a:ext cx="12635924" cy="10287000"/>
          </a:xfrm>
          <a:custGeom>
            <a:avLst/>
            <a:gdLst/>
            <a:ahLst/>
            <a:cxnLst/>
            <a:rect r="r" b="b" t="t" l="l"/>
            <a:pathLst>
              <a:path h="10287000" w="12635924">
                <a:moveTo>
                  <a:pt x="0" y="0"/>
                </a:moveTo>
                <a:lnTo>
                  <a:pt x="12635924" y="0"/>
                </a:lnTo>
                <a:lnTo>
                  <a:pt x="126359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000" t="-12206" r="-55588" b="-374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11002" y="-1342104"/>
            <a:ext cx="9212958" cy="9109312"/>
          </a:xfrm>
          <a:custGeom>
            <a:avLst/>
            <a:gdLst/>
            <a:ahLst/>
            <a:cxnLst/>
            <a:rect r="r" b="b" t="t" l="l"/>
            <a:pathLst>
              <a:path h="9109312" w="9212958">
                <a:moveTo>
                  <a:pt x="0" y="0"/>
                </a:moveTo>
                <a:lnTo>
                  <a:pt x="9212957" y="0"/>
                </a:lnTo>
                <a:lnTo>
                  <a:pt x="9212957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31776" y="-332971"/>
            <a:ext cx="8256224" cy="10952942"/>
          </a:xfrm>
          <a:custGeom>
            <a:avLst/>
            <a:gdLst/>
            <a:ahLst/>
            <a:cxnLst/>
            <a:rect r="r" b="b" t="t" l="l"/>
            <a:pathLst>
              <a:path h="10952942" w="8256224">
                <a:moveTo>
                  <a:pt x="0" y="0"/>
                </a:moveTo>
                <a:lnTo>
                  <a:pt x="8256224" y="0"/>
                </a:lnTo>
                <a:lnTo>
                  <a:pt x="8256224" y="10952942"/>
                </a:lnTo>
                <a:lnTo>
                  <a:pt x="0" y="10952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849" t="-43773" r="-131518" b="-1962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876339"/>
            <a:ext cx="18288000" cy="9343505"/>
          </a:xfrm>
          <a:custGeom>
            <a:avLst/>
            <a:gdLst/>
            <a:ahLst/>
            <a:cxnLst/>
            <a:rect r="r" b="b" t="t" l="l"/>
            <a:pathLst>
              <a:path h="9343505" w="18288000">
                <a:moveTo>
                  <a:pt x="18288000" y="0"/>
                </a:moveTo>
                <a:lnTo>
                  <a:pt x="0" y="0"/>
                </a:lnTo>
                <a:lnTo>
                  <a:pt x="0" y="9343505"/>
                </a:lnTo>
                <a:lnTo>
                  <a:pt x="18288000" y="9343505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66628" y="1710737"/>
            <a:ext cx="6171764" cy="202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264" indent="-240632" lvl="1">
              <a:lnSpc>
                <a:spcPts val="3299"/>
              </a:lnSpc>
              <a:buFont typeface="Arial"/>
              <a:buChar char="•"/>
            </a:pPr>
            <a:r>
              <a:rPr lang="en-US" sz="2229" spc="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Завершение баннеров и адаптация под соцсети</a:t>
            </a:r>
          </a:p>
          <a:p>
            <a:pPr algn="l" marL="481264" indent="-240632" lvl="1">
              <a:lnSpc>
                <a:spcPts val="3299"/>
              </a:lnSpc>
              <a:buFont typeface="Arial"/>
              <a:buChar char="•"/>
            </a:pPr>
            <a:r>
              <a:rPr lang="en-US" sz="2229" spc="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Проверка лендинга</a:t>
            </a:r>
          </a:p>
          <a:p>
            <a:pPr algn="l" marL="481264" indent="-240632" lvl="1">
              <a:lnSpc>
                <a:spcPts val="3299"/>
              </a:lnSpc>
              <a:buFont typeface="Arial"/>
              <a:buChar char="•"/>
            </a:pPr>
            <a:r>
              <a:rPr lang="en-US" sz="2229" spc="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Подготовка рилсов, текстов и сторис</a:t>
            </a:r>
          </a:p>
          <a:p>
            <a:pPr algn="l" marL="0" indent="0" lvl="0">
              <a:lnSpc>
                <a:spcPts val="32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80614"/>
            <a:ext cx="10109959" cy="98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19"/>
              </a:lnSpc>
              <a:spcBef>
                <a:spcPct val="0"/>
              </a:spcBef>
            </a:pPr>
            <a:r>
              <a:rPr lang="en-US" sz="5728" spc="372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Финализация контента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628" y="3756772"/>
            <a:ext cx="6171764" cy="202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264" indent="-240632" lvl="1">
              <a:lnSpc>
                <a:spcPts val="3299"/>
              </a:lnSpc>
              <a:buFont typeface="Arial"/>
              <a:buChar char="•"/>
            </a:pPr>
            <a:r>
              <a:rPr lang="en-US" sz="2229" spc="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Завершение баннеров и адаптация под соцсети</a:t>
            </a:r>
          </a:p>
          <a:p>
            <a:pPr algn="l" marL="481264" indent="-240632" lvl="1">
              <a:lnSpc>
                <a:spcPts val="3299"/>
              </a:lnSpc>
              <a:buFont typeface="Arial"/>
              <a:buChar char="•"/>
            </a:pPr>
            <a:r>
              <a:rPr lang="en-US" sz="2229" spc="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Проверка лендинга</a:t>
            </a:r>
          </a:p>
          <a:p>
            <a:pPr algn="l" marL="481264" indent="-240632" lvl="1">
              <a:lnSpc>
                <a:spcPts val="3299"/>
              </a:lnSpc>
              <a:buFont typeface="Arial"/>
              <a:buChar char="•"/>
            </a:pPr>
            <a:r>
              <a:rPr lang="en-US" sz="2229" spc="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Подготовка рилсов, текстов и сторис</a:t>
            </a:r>
          </a:p>
          <a:p>
            <a:pPr algn="l" marL="0" indent="0" lvl="0">
              <a:lnSpc>
                <a:spcPts val="32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60225">
            <a:off x="5812801" y="-3273677"/>
            <a:ext cx="5813961" cy="5748554"/>
          </a:xfrm>
          <a:custGeom>
            <a:avLst/>
            <a:gdLst/>
            <a:ahLst/>
            <a:cxnLst/>
            <a:rect r="r" b="b" t="t" l="l"/>
            <a:pathLst>
              <a:path h="5748554" w="5813961">
                <a:moveTo>
                  <a:pt x="0" y="0"/>
                </a:moveTo>
                <a:lnTo>
                  <a:pt x="5813962" y="0"/>
                </a:lnTo>
                <a:lnTo>
                  <a:pt x="5813962" y="5748555"/>
                </a:lnTo>
                <a:lnTo>
                  <a:pt x="0" y="5748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025014" y="2059317"/>
            <a:ext cx="5513319" cy="657137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48797" y="1245509"/>
            <a:ext cx="13486921" cy="785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Поддержка молодежных инициатив через гранты</a:t>
            </a:r>
          </a:p>
          <a:p>
            <a:pPr algn="l">
              <a:lnSpc>
                <a:spcPts val="2541"/>
              </a:lnSpc>
            </a:pP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Если коротко</a:t>
            </a: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:</a:t>
            </a:r>
          </a:p>
          <a:p>
            <a:pPr algn="l" marL="391871" indent="-195936" lvl="1">
              <a:lnSpc>
                <a:spcPts val="2541"/>
              </a:lnSpc>
              <a:buFont typeface="Arial"/>
              <a:buChar char="•"/>
            </a:pP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В рамках Ziyo App запускаем три грантовых конкурса, направленных на развитие образовательных проектов и поддержку активной молодежи.</a:t>
            </a:r>
          </a:p>
          <a:p>
            <a:pPr algn="l" marL="391871" indent="-195936" lvl="1">
              <a:lnSpc>
                <a:spcPts val="2541"/>
              </a:lnSpc>
              <a:buFont typeface="Arial"/>
              <a:buChar char="•"/>
            </a:pP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Участники смогут получить финансирование на проведение мероприятий и реализацию своих идей.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П</a:t>
            </a: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редстоящие гранты: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Youth Leadership Grant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Анонс:</a:t>
            </a: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март 2025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Цель:</a:t>
            </a: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Поддержка студенческих инициатив – конкурс на проведение образовательного ивента в ВУЗе.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Бюджет:</a:t>
            </a: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10 млн UZS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Youth Leadership Event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Анонс:</a:t>
            </a: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10 февраля 2025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Цель:</a:t>
            </a: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Конкурс на проведение образовательного мероприятия с приглашенным спикером.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Период отбора:</a:t>
            </a: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10–23 февраля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Бюджет: </a:t>
            </a: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5 млн UZS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TBA – Конкурс на написание статьи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Анонс:</a:t>
            </a: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TBA (после утверждения положения)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Цель:</a:t>
            </a: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Создание аналитического материала в Avlod Media.</a:t>
            </a: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Бюджет</a:t>
            </a: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: 1 млн UZS</a:t>
            </a:r>
          </a:p>
          <a:p>
            <a:pPr algn="l">
              <a:lnSpc>
                <a:spcPts val="2541"/>
              </a:lnSpc>
            </a:pPr>
          </a:p>
          <a:p>
            <a:pPr algn="l">
              <a:lnSpc>
                <a:spcPts val="2541"/>
              </a:lnSpc>
            </a:pPr>
            <a:r>
              <a:rPr lang="en-US" sz="1815" spc="128" b="true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Что дальше?</a:t>
            </a:r>
          </a:p>
          <a:p>
            <a:pPr algn="l" marL="391871" indent="-195936" lvl="1">
              <a:lnSpc>
                <a:spcPts val="2541"/>
              </a:lnSpc>
              <a:buFont typeface="Arial"/>
              <a:buChar char="•"/>
            </a:pP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Запуск заявок через Ziyo App</a:t>
            </a:r>
          </a:p>
          <a:p>
            <a:pPr algn="l" marL="391871" indent="-195936" lvl="1">
              <a:lnSpc>
                <a:spcPts val="2541"/>
              </a:lnSpc>
              <a:buFont typeface="Arial"/>
              <a:buChar char="•"/>
            </a:pP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Промо-кампания среди студентов и молодых специалистов</a:t>
            </a:r>
          </a:p>
          <a:p>
            <a:pPr algn="l" marL="391871" indent="-195936" lvl="1">
              <a:lnSpc>
                <a:spcPts val="2541"/>
              </a:lnSpc>
              <a:buFont typeface="Arial"/>
              <a:buChar char="•"/>
            </a:pPr>
            <a:r>
              <a:rPr lang="en-US" sz="1815" spc="12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Поддержка победителей и публикация отчетов о реализованных проектах</a:t>
            </a:r>
          </a:p>
          <a:p>
            <a:pPr algn="l">
              <a:lnSpc>
                <a:spcPts val="254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95435" y="319318"/>
            <a:ext cx="10737124" cy="66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91"/>
              </a:lnSpc>
              <a:spcBef>
                <a:spcPct val="0"/>
              </a:spcBef>
            </a:pPr>
            <a:r>
              <a:rPr lang="en-US" sz="3851" spc="415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ГРАНТОВЫЕ ПРОГРАММЫ ZIYO APP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90332" y="4575429"/>
            <a:ext cx="9379701" cy="9274179"/>
          </a:xfrm>
          <a:custGeom>
            <a:avLst/>
            <a:gdLst/>
            <a:ahLst/>
            <a:cxnLst/>
            <a:rect r="r" b="b" t="t" l="l"/>
            <a:pathLst>
              <a:path h="9274179" w="9379701">
                <a:moveTo>
                  <a:pt x="0" y="0"/>
                </a:moveTo>
                <a:lnTo>
                  <a:pt x="9379701" y="0"/>
                </a:lnTo>
                <a:lnTo>
                  <a:pt x="9379701" y="9274179"/>
                </a:lnTo>
                <a:lnTo>
                  <a:pt x="0" y="9274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3860225">
            <a:off x="5812801" y="-3273677"/>
            <a:ext cx="5813961" cy="5748554"/>
          </a:xfrm>
          <a:custGeom>
            <a:avLst/>
            <a:gdLst/>
            <a:ahLst/>
            <a:cxnLst/>
            <a:rect r="r" b="b" t="t" l="l"/>
            <a:pathLst>
              <a:path h="5748554" w="5813961">
                <a:moveTo>
                  <a:pt x="0" y="0"/>
                </a:moveTo>
                <a:lnTo>
                  <a:pt x="5813962" y="0"/>
                </a:lnTo>
                <a:lnTo>
                  <a:pt x="5813962" y="5748555"/>
                </a:lnTo>
                <a:lnTo>
                  <a:pt x="0" y="5748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734376" y="1787752"/>
            <a:ext cx="9355079" cy="7470548"/>
            <a:chOff x="0" y="0"/>
            <a:chExt cx="3177177" cy="25371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7177" cy="2537152"/>
            </a:xfrm>
            <a:custGeom>
              <a:avLst/>
              <a:gdLst/>
              <a:ahLst/>
              <a:cxnLst/>
              <a:rect r="r" b="b" t="t" l="l"/>
              <a:pathLst>
                <a:path h="2537152" w="3177177">
                  <a:moveTo>
                    <a:pt x="9103" y="0"/>
                  </a:moveTo>
                  <a:lnTo>
                    <a:pt x="3168074" y="0"/>
                  </a:lnTo>
                  <a:cubicBezTo>
                    <a:pt x="3170488" y="0"/>
                    <a:pt x="3172804" y="959"/>
                    <a:pt x="3174511" y="2666"/>
                  </a:cubicBezTo>
                  <a:cubicBezTo>
                    <a:pt x="3176218" y="4373"/>
                    <a:pt x="3177177" y="6689"/>
                    <a:pt x="3177177" y="9103"/>
                  </a:cubicBezTo>
                  <a:lnTo>
                    <a:pt x="3177177" y="2528049"/>
                  </a:lnTo>
                  <a:cubicBezTo>
                    <a:pt x="3177177" y="2533076"/>
                    <a:pt x="3173101" y="2537152"/>
                    <a:pt x="3168074" y="2537152"/>
                  </a:cubicBezTo>
                  <a:lnTo>
                    <a:pt x="9103" y="2537152"/>
                  </a:lnTo>
                  <a:cubicBezTo>
                    <a:pt x="4076" y="2537152"/>
                    <a:pt x="0" y="2533076"/>
                    <a:pt x="0" y="2528049"/>
                  </a:cubicBezTo>
                  <a:lnTo>
                    <a:pt x="0" y="9103"/>
                  </a:lnTo>
                  <a:cubicBezTo>
                    <a:pt x="0" y="4076"/>
                    <a:pt x="4076" y="0"/>
                    <a:pt x="9103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77177" cy="2575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695004" y="-15694"/>
            <a:ext cx="8657031" cy="10318387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99519" y="1998858"/>
            <a:ext cx="9060755" cy="533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  <a:spcBef>
                <a:spcPct val="0"/>
              </a:spcBef>
            </a:pPr>
            <a:r>
              <a:rPr lang="en-US" b="true" sz="1881" spc="13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Если коротко :</a:t>
            </a:r>
          </a:p>
          <a:p>
            <a:pPr algn="l" marL="406212" indent="-203106" lvl="1">
              <a:lnSpc>
                <a:spcPts val="2634"/>
              </a:lnSpc>
              <a:spcBef>
                <a:spcPct val="0"/>
              </a:spcBef>
              <a:buFont typeface="Arial"/>
              <a:buChar char="•"/>
            </a:pPr>
            <a:r>
              <a:rPr lang="en-US" sz="1881" spc="13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У нас есть полноценный календарь событий.</a:t>
            </a:r>
          </a:p>
          <a:p>
            <a:pPr algn="l" marL="406212" indent="-203106" lvl="1">
              <a:lnSpc>
                <a:spcPts val="2634"/>
              </a:lnSpc>
              <a:spcBef>
                <a:spcPct val="0"/>
              </a:spcBef>
              <a:buFont typeface="Arial"/>
              <a:buChar char="•"/>
            </a:pPr>
            <a:r>
              <a:rPr lang="en-US" sz="1881" spc="13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Пользователи могут узнавать о предстоящих мероприятиях и планировать участие.</a:t>
            </a:r>
          </a:p>
          <a:p>
            <a:pPr algn="l" marL="406212" indent="-203106" lvl="1">
              <a:lnSpc>
                <a:spcPts val="2634"/>
              </a:lnSpc>
              <a:spcBef>
                <a:spcPct val="0"/>
              </a:spcBef>
              <a:buFont typeface="Arial"/>
              <a:buChar char="•"/>
            </a:pPr>
            <a:r>
              <a:rPr lang="en-US" sz="1881" spc="13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Все анонсы уже публикуются в приложении.</a:t>
            </a:r>
          </a:p>
          <a:p>
            <a:pPr algn="l">
              <a:lnSpc>
                <a:spcPts val="2634"/>
              </a:lnSpc>
              <a:spcBef>
                <a:spcPct val="0"/>
              </a:spcBef>
            </a:pPr>
            <a:r>
              <a:rPr lang="en-US" b="true" sz="1881" spc="13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Статус:</a:t>
            </a:r>
          </a:p>
          <a:p>
            <a:pPr algn="l">
              <a:lnSpc>
                <a:spcPts val="2634"/>
              </a:lnSpc>
              <a:spcBef>
                <a:spcPct val="0"/>
              </a:spcBef>
            </a:pPr>
            <a:r>
              <a:rPr lang="en-US" sz="1881" spc="13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Раздел полностью работает</a:t>
            </a:r>
          </a:p>
          <a:p>
            <a:pPr algn="l">
              <a:lnSpc>
                <a:spcPts val="2634"/>
              </a:lnSpc>
              <a:spcBef>
                <a:spcPct val="0"/>
              </a:spcBef>
            </a:pPr>
            <a:r>
              <a:rPr lang="en-US" sz="1881" spc="13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Календарь ивентов на февраль готов</a:t>
            </a:r>
          </a:p>
          <a:p>
            <a:pPr algn="l">
              <a:lnSpc>
                <a:spcPts val="2634"/>
              </a:lnSpc>
              <a:spcBef>
                <a:spcPct val="0"/>
              </a:spcBef>
            </a:pPr>
            <a:r>
              <a:rPr lang="en-US" sz="1881" spc="13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Остается согласовать со спикерами и опубликовать</a:t>
            </a:r>
          </a:p>
          <a:p>
            <a:pPr algn="l">
              <a:lnSpc>
                <a:spcPts val="2634"/>
              </a:lnSpc>
              <a:spcBef>
                <a:spcPct val="0"/>
              </a:spcBef>
            </a:pPr>
            <a:r>
              <a:rPr lang="en-US" b="true" sz="1881" spc="13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Ключевые функции:</a:t>
            </a:r>
          </a:p>
          <a:p>
            <a:pPr algn="l" marL="406212" indent="-203106" lvl="1">
              <a:lnSpc>
                <a:spcPts val="2634"/>
              </a:lnSpc>
              <a:spcBef>
                <a:spcPct val="0"/>
              </a:spcBef>
              <a:buFont typeface="Arial"/>
              <a:buChar char="•"/>
            </a:pPr>
            <a:r>
              <a:rPr lang="en-US" sz="1881" spc="13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Календарь событий – удобный список предстоящих мероприятий</a:t>
            </a:r>
          </a:p>
          <a:p>
            <a:pPr algn="l" marL="406212" indent="-203106" lvl="1">
              <a:lnSpc>
                <a:spcPts val="2634"/>
              </a:lnSpc>
              <a:spcBef>
                <a:spcPct val="0"/>
              </a:spcBef>
              <a:buFont typeface="Arial"/>
              <a:buChar char="•"/>
            </a:pPr>
            <a:r>
              <a:rPr lang="en-US" sz="1881" spc="13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Напоминания – push-уведомления о ближайших ивентах</a:t>
            </a:r>
          </a:p>
          <a:p>
            <a:pPr algn="l" marL="406212" indent="-203106" lvl="1">
              <a:lnSpc>
                <a:spcPts val="2634"/>
              </a:lnSpc>
              <a:spcBef>
                <a:spcPct val="0"/>
              </a:spcBef>
              <a:buFont typeface="Arial"/>
              <a:buChar char="•"/>
            </a:pPr>
            <a:r>
              <a:rPr lang="en-US" sz="1881" spc="13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Информация об ивенте – описание тем и профилей выступающих</a:t>
            </a:r>
          </a:p>
          <a:p>
            <a:pPr algn="l">
              <a:lnSpc>
                <a:spcPts val="2634"/>
              </a:lnSpc>
              <a:spcBef>
                <a:spcPct val="0"/>
              </a:spcBef>
            </a:pPr>
            <a:r>
              <a:rPr lang="en-US" b="true" sz="1881" spc="13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Планы по развитию:</a:t>
            </a:r>
          </a:p>
          <a:p>
            <a:pPr algn="l" marL="406212" indent="-203106" lvl="1">
              <a:lnSpc>
                <a:spcPts val="2634"/>
              </a:lnSpc>
              <a:spcBef>
                <a:spcPct val="0"/>
              </a:spcBef>
              <a:buFont typeface="Arial"/>
              <a:buChar char="•"/>
            </a:pPr>
            <a:r>
              <a:rPr lang="en-US" sz="1881" spc="13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Размещение отчетов и записей прошедших мероприятий</a:t>
            </a:r>
          </a:p>
          <a:p>
            <a:pPr algn="l">
              <a:lnSpc>
                <a:spcPts val="263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95435" y="412561"/>
            <a:ext cx="5884610" cy="11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4"/>
              </a:lnSpc>
              <a:spcBef>
                <a:spcPct val="0"/>
              </a:spcBef>
            </a:pPr>
            <a:r>
              <a:rPr lang="en-US" sz="6853" spc="74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ИВЕНТЫ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67103" y="0"/>
            <a:ext cx="15120897" cy="10379122"/>
          </a:xfrm>
          <a:custGeom>
            <a:avLst/>
            <a:gdLst/>
            <a:ahLst/>
            <a:cxnLst/>
            <a:rect r="r" b="b" t="t" l="l"/>
            <a:pathLst>
              <a:path h="10379122" w="15120897">
                <a:moveTo>
                  <a:pt x="0" y="0"/>
                </a:moveTo>
                <a:lnTo>
                  <a:pt x="15120897" y="0"/>
                </a:lnTo>
                <a:lnTo>
                  <a:pt x="15120897" y="10379122"/>
                </a:lnTo>
                <a:lnTo>
                  <a:pt x="0" y="10379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36" t="-383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5916"/>
            <a:ext cx="3153447" cy="108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83"/>
              </a:lnSpc>
              <a:spcBef>
                <a:spcPct val="0"/>
              </a:spcBef>
            </a:pPr>
            <a:r>
              <a:rPr lang="en-US" sz="3130" spc="338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КАЛЕНДАРЬ ИВЕНТОВ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90332" y="4575429"/>
            <a:ext cx="9379701" cy="9274179"/>
          </a:xfrm>
          <a:custGeom>
            <a:avLst/>
            <a:gdLst/>
            <a:ahLst/>
            <a:cxnLst/>
            <a:rect r="r" b="b" t="t" l="l"/>
            <a:pathLst>
              <a:path h="9274179" w="9379701">
                <a:moveTo>
                  <a:pt x="0" y="0"/>
                </a:moveTo>
                <a:lnTo>
                  <a:pt x="9379701" y="0"/>
                </a:lnTo>
                <a:lnTo>
                  <a:pt x="9379701" y="9274179"/>
                </a:lnTo>
                <a:lnTo>
                  <a:pt x="0" y="9274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3860225">
            <a:off x="5812801" y="-3273677"/>
            <a:ext cx="5813961" cy="5748554"/>
          </a:xfrm>
          <a:custGeom>
            <a:avLst/>
            <a:gdLst/>
            <a:ahLst/>
            <a:cxnLst/>
            <a:rect r="r" b="b" t="t" l="l"/>
            <a:pathLst>
              <a:path h="5748554" w="5813961">
                <a:moveTo>
                  <a:pt x="0" y="0"/>
                </a:moveTo>
                <a:lnTo>
                  <a:pt x="5813962" y="0"/>
                </a:lnTo>
                <a:lnTo>
                  <a:pt x="5813962" y="5748555"/>
                </a:lnTo>
                <a:lnTo>
                  <a:pt x="0" y="5748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495435" y="2128261"/>
            <a:ext cx="12805253" cy="4256406"/>
            <a:chOff x="0" y="0"/>
            <a:chExt cx="3629915" cy="1206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29915" cy="1206567"/>
            </a:xfrm>
            <a:custGeom>
              <a:avLst/>
              <a:gdLst/>
              <a:ahLst/>
              <a:cxnLst/>
              <a:rect r="r" b="b" t="t" l="l"/>
              <a:pathLst>
                <a:path h="1206567" w="3629915">
                  <a:moveTo>
                    <a:pt x="6650" y="0"/>
                  </a:moveTo>
                  <a:lnTo>
                    <a:pt x="3623264" y="0"/>
                  </a:lnTo>
                  <a:cubicBezTo>
                    <a:pt x="3625028" y="0"/>
                    <a:pt x="3626720" y="701"/>
                    <a:pt x="3627967" y="1948"/>
                  </a:cubicBezTo>
                  <a:cubicBezTo>
                    <a:pt x="3629214" y="3195"/>
                    <a:pt x="3629915" y="4887"/>
                    <a:pt x="3629915" y="6650"/>
                  </a:cubicBezTo>
                  <a:lnTo>
                    <a:pt x="3629915" y="1199916"/>
                  </a:lnTo>
                  <a:cubicBezTo>
                    <a:pt x="3629915" y="1203589"/>
                    <a:pt x="3626938" y="1206567"/>
                    <a:pt x="3623264" y="1206567"/>
                  </a:cubicBezTo>
                  <a:lnTo>
                    <a:pt x="6650" y="1206567"/>
                  </a:lnTo>
                  <a:cubicBezTo>
                    <a:pt x="4887" y="1206567"/>
                    <a:pt x="3195" y="1205866"/>
                    <a:pt x="1948" y="1204619"/>
                  </a:cubicBezTo>
                  <a:cubicBezTo>
                    <a:pt x="701" y="1203372"/>
                    <a:pt x="0" y="1201680"/>
                    <a:pt x="0" y="1199916"/>
                  </a:cubicBezTo>
                  <a:lnTo>
                    <a:pt x="0" y="6650"/>
                  </a:lnTo>
                  <a:cubicBezTo>
                    <a:pt x="0" y="4887"/>
                    <a:pt x="701" y="3195"/>
                    <a:pt x="1948" y="1948"/>
                  </a:cubicBezTo>
                  <a:cubicBezTo>
                    <a:pt x="3195" y="701"/>
                    <a:pt x="4887" y="0"/>
                    <a:pt x="6650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29915" cy="1244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3211" y="229550"/>
            <a:ext cx="8045750" cy="9589796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48058" y="2239310"/>
            <a:ext cx="12656108" cy="478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b="true" sz="2254" spc="160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Если коротко </a:t>
            </a:r>
            <a:r>
              <a:rPr lang="en-US" b="true" sz="2254" spc="160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:</a:t>
            </a:r>
          </a:p>
          <a:p>
            <a:pPr algn="l" marL="486674" indent="-243337" lvl="1">
              <a:lnSpc>
                <a:spcPts val="3155"/>
              </a:lnSpc>
              <a:spcBef>
                <a:spcPct val="0"/>
              </a:spcBef>
              <a:buFont typeface="Arial"/>
              <a:buChar char="•"/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Раздел "Новости" уже полностью работает.</a:t>
            </a:r>
          </a:p>
          <a:p>
            <a:pPr algn="l" marL="486674" indent="-243337" lvl="1">
              <a:lnSpc>
                <a:spcPts val="3155"/>
              </a:lnSpc>
              <a:spcBef>
                <a:spcPct val="0"/>
              </a:spcBef>
              <a:buFont typeface="Arial"/>
              <a:buChar char="•"/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Мы публикуем свежие материалы от Avlod Media.</a:t>
            </a:r>
          </a:p>
          <a:p>
            <a:pPr algn="l" marL="486674" indent="-243337" lvl="1">
              <a:lnSpc>
                <a:spcPts val="3155"/>
              </a:lnSpc>
              <a:spcBef>
                <a:spcPct val="0"/>
              </a:spcBef>
              <a:buFont typeface="Arial"/>
              <a:buChar char="•"/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Это увеличивает вовлеченность пользователей и делает приложение полезным информационным ресурсом.</a:t>
            </a:r>
          </a:p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b="true" sz="2254" spc="160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Планы по развитию (возможно):</a:t>
            </a:r>
          </a:p>
          <a:p>
            <a:pPr algn="l" marL="486674" indent="-243337" lvl="1">
              <a:lnSpc>
                <a:spcPts val="3155"/>
              </a:lnSpc>
              <a:spcBef>
                <a:spcPct val="0"/>
              </a:spcBef>
              <a:buFont typeface="Arial"/>
              <a:buChar char="•"/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Добавление push-уведомлений о новых публикациях</a:t>
            </a:r>
          </a:p>
          <a:p>
            <a:pPr algn="l" marL="486674" indent="-243337" lvl="1">
              <a:lnSpc>
                <a:spcPts val="3155"/>
              </a:lnSpc>
              <a:spcBef>
                <a:spcPct val="0"/>
              </a:spcBef>
              <a:buFont typeface="Arial"/>
              <a:buChar char="•"/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Интеграция комментариев или реакции пользователей</a:t>
            </a:r>
          </a:p>
          <a:p>
            <a:pPr algn="l" marL="486674" indent="-243337" lvl="1">
              <a:lnSpc>
                <a:spcPts val="3155"/>
              </a:lnSpc>
              <a:spcBef>
                <a:spcPct val="0"/>
              </a:spcBef>
              <a:buFont typeface="Arial"/>
              <a:buChar char="•"/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Взаимодействие с другими медиа для расширения контента</a:t>
            </a:r>
          </a:p>
          <a:p>
            <a:pPr algn="l">
              <a:lnSpc>
                <a:spcPts val="3155"/>
              </a:lnSpc>
              <a:spcBef>
                <a:spcPct val="0"/>
              </a:spcBef>
            </a:pPr>
          </a:p>
          <a:p>
            <a:pPr algn="l">
              <a:lnSpc>
                <a:spcPts val="3155"/>
              </a:lnSpc>
              <a:spcBef>
                <a:spcPct val="0"/>
              </a:spcBef>
            </a:pPr>
          </a:p>
          <a:p>
            <a:pPr algn="l">
              <a:lnSpc>
                <a:spcPts val="315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95435" y="412561"/>
            <a:ext cx="5884610" cy="11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4"/>
              </a:lnSpc>
              <a:spcBef>
                <a:spcPct val="0"/>
              </a:spcBef>
            </a:pPr>
            <a:r>
              <a:rPr lang="en-US" sz="6853" spc="74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НОВОСТИ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90332" y="4575429"/>
            <a:ext cx="9379701" cy="9274179"/>
          </a:xfrm>
          <a:custGeom>
            <a:avLst/>
            <a:gdLst/>
            <a:ahLst/>
            <a:cxnLst/>
            <a:rect r="r" b="b" t="t" l="l"/>
            <a:pathLst>
              <a:path h="9274179" w="9379701">
                <a:moveTo>
                  <a:pt x="0" y="0"/>
                </a:moveTo>
                <a:lnTo>
                  <a:pt x="9379701" y="0"/>
                </a:lnTo>
                <a:lnTo>
                  <a:pt x="9379701" y="9274179"/>
                </a:lnTo>
                <a:lnTo>
                  <a:pt x="0" y="9274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3860225">
            <a:off x="5812801" y="-3273677"/>
            <a:ext cx="5813961" cy="5748554"/>
          </a:xfrm>
          <a:custGeom>
            <a:avLst/>
            <a:gdLst/>
            <a:ahLst/>
            <a:cxnLst/>
            <a:rect r="r" b="b" t="t" l="l"/>
            <a:pathLst>
              <a:path h="5748554" w="5813961">
                <a:moveTo>
                  <a:pt x="0" y="0"/>
                </a:moveTo>
                <a:lnTo>
                  <a:pt x="5813962" y="0"/>
                </a:lnTo>
                <a:lnTo>
                  <a:pt x="5813962" y="5748555"/>
                </a:lnTo>
                <a:lnTo>
                  <a:pt x="0" y="5748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495435" y="2128261"/>
            <a:ext cx="10528418" cy="4256406"/>
            <a:chOff x="0" y="0"/>
            <a:chExt cx="2984499" cy="1206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84499" cy="1206567"/>
            </a:xfrm>
            <a:custGeom>
              <a:avLst/>
              <a:gdLst/>
              <a:ahLst/>
              <a:cxnLst/>
              <a:rect r="r" b="b" t="t" l="l"/>
              <a:pathLst>
                <a:path h="1206567" w="2984499">
                  <a:moveTo>
                    <a:pt x="8089" y="0"/>
                  </a:moveTo>
                  <a:lnTo>
                    <a:pt x="2976410" y="0"/>
                  </a:lnTo>
                  <a:cubicBezTo>
                    <a:pt x="2978555" y="0"/>
                    <a:pt x="2980613" y="852"/>
                    <a:pt x="2982130" y="2369"/>
                  </a:cubicBezTo>
                  <a:cubicBezTo>
                    <a:pt x="2983646" y="3886"/>
                    <a:pt x="2984499" y="5943"/>
                    <a:pt x="2984499" y="8089"/>
                  </a:cubicBezTo>
                  <a:lnTo>
                    <a:pt x="2984499" y="1198478"/>
                  </a:lnTo>
                  <a:cubicBezTo>
                    <a:pt x="2984499" y="1202945"/>
                    <a:pt x="2980877" y="1206567"/>
                    <a:pt x="2976410" y="1206567"/>
                  </a:cubicBezTo>
                  <a:lnTo>
                    <a:pt x="8089" y="1206567"/>
                  </a:lnTo>
                  <a:cubicBezTo>
                    <a:pt x="5943" y="1206567"/>
                    <a:pt x="3886" y="1205715"/>
                    <a:pt x="2369" y="1204198"/>
                  </a:cubicBezTo>
                  <a:cubicBezTo>
                    <a:pt x="852" y="1202681"/>
                    <a:pt x="0" y="1200623"/>
                    <a:pt x="0" y="1198478"/>
                  </a:cubicBezTo>
                  <a:lnTo>
                    <a:pt x="0" y="8089"/>
                  </a:lnTo>
                  <a:cubicBezTo>
                    <a:pt x="0" y="5943"/>
                    <a:pt x="852" y="3886"/>
                    <a:pt x="2369" y="2369"/>
                  </a:cubicBezTo>
                  <a:cubicBezTo>
                    <a:pt x="3886" y="852"/>
                    <a:pt x="5943" y="0"/>
                    <a:pt x="808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84499" cy="1244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44580" y="2274701"/>
            <a:ext cx="10839359" cy="3990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b="true" sz="2254" spc="160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Если коротко </a:t>
            </a:r>
            <a:r>
              <a:rPr lang="en-US" b="true" sz="2254" spc="160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:</a:t>
            </a:r>
          </a:p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Мы добавили ограниченное количество мерча, чтобы по мере </a:t>
            </a:r>
          </a:p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роста пользователей пополнять раздел новым мерчем и эесклюзивными ивентами.</a:t>
            </a:r>
          </a:p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b="true" sz="2254" spc="160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Текущий статус:</a:t>
            </a:r>
          </a:p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Раздел уже работает в тестовом режиме</a:t>
            </a:r>
          </a:p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В продаже ограниченный набор товаров</a:t>
            </a:r>
          </a:p>
          <a:p>
            <a:pPr algn="l">
              <a:lnSpc>
                <a:spcPts val="3155"/>
              </a:lnSpc>
              <a:spcBef>
                <a:spcPct val="0"/>
              </a:spcBef>
            </a:pPr>
            <a:r>
              <a:rPr lang="en-US" sz="2254" spc="160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Оплата возможна только баллами</a:t>
            </a:r>
          </a:p>
          <a:p>
            <a:pPr algn="l">
              <a:lnSpc>
                <a:spcPts val="3155"/>
              </a:lnSpc>
              <a:spcBef>
                <a:spcPct val="0"/>
              </a:spcBef>
            </a:pPr>
          </a:p>
          <a:p>
            <a:pPr algn="l">
              <a:lnSpc>
                <a:spcPts val="3155"/>
              </a:lnSpc>
              <a:spcBef>
                <a:spcPct val="0"/>
              </a:spcBef>
            </a:pP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59635" y="182764"/>
            <a:ext cx="8516789" cy="10151231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89812" y="375479"/>
            <a:ext cx="5884610" cy="117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4"/>
              </a:lnSpc>
              <a:spcBef>
                <a:spcPct val="0"/>
              </a:spcBef>
            </a:pPr>
            <a:r>
              <a:rPr lang="en-US" sz="6853" spc="740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МАГАЗИН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DAGdvRUXqN8</dc:identifier>
  <dcterms:modified xsi:type="dcterms:W3CDTF">2011-08-01T06:04:30Z</dcterms:modified>
  <cp:revision>1</cp:revision>
  <dc:title>Ziyo App проект презентация </dc:title>
</cp:coreProperties>
</file>